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4E1ED"/>
                </a:solidFill>
                <a:latin typeface="Calibri"/>
              </a:defRPr>
            </a:pPr>
            <a:r>
              <a:rPr sz="1400" b="0" i="0" u="none" strike="noStrike">
                <a:solidFill>
                  <a:srgbClr val="E4E1ED"/>
                </a:solidFill>
                <a:latin typeface="Calibri"/>
              </a:rPr>
              <a:t>Held-out forecast error (Brier)</a:t>
            </a:r>
          </a:p>
        </c:rich>
      </c:tx>
      <c:layout/>
      <c:overlay val="0"/>
    </c:title>
    <c:autoTitleDeleted val="0"/>
    <c:plotArea>
      <c:layout/>
      <c:barChart>
        <c:barDir val="col"/>
        <c:grouping val="clustered"/>
        <c:varyColors val="0"/>
        <c:ser>
          <c:idx val="0"/>
          <c:order val="0"/>
          <c:tx>
            <c:strRef>
              <c:f>Sheet1!$B$1</c:f>
              <c:strCache>
                <c:ptCount val="1"/>
                <c:pt idx="0">
                  <c:v>Brier score, lower is better</c:v>
                </c:pt>
              </c:strCache>
            </c:strRef>
          </c:tx>
          <c:spPr>
            <a:solidFill>
              <a:srgbClr val="4A4A66"/>
            </a:solidFill>
            <a:effectLst/>
          </c:spPr>
          <c:invertIfNegative val="0"/>
          <c:dLbls>
            <c:numFmt formatCode="0.0000" sourceLinked="0"/>
            <c:txPr>
              <a:bodyPr/>
              <a:lstStyle/>
              <a:p>
                <a:pPr>
                  <a:defRPr b="0" i="0" strike="noStrike" sz="1200" u="none">
                    <a:solidFill>
                      <a:srgbClr val="E4E1ED"/>
                    </a:solidFill>
                    <a:latin typeface="Calibri"/>
                  </a:defRPr>
                </a:pPr>
              </a:p>
            </c:txPr>
            <c:showLegendKey val="0"/>
            <c:showVal val="1"/>
            <c:showCatName val="0"/>
            <c:showSerName val="0"/>
            <c:showPercent val="0"/>
            <c:showBubbleSize val="0"/>
            <c:showLeaderLines val="0"/>
          </c:dLbls>
          <c:dPt>
            <c:idx val="0"/>
            <c:invertIfNegative val="0"/>
            <c:bubble3D val="0"/>
            <c:spPr>
              <a:solidFill>
                <a:srgbClr val="4A4A66"/>
              </a:solidFill>
              <a:effectLst/>
            </c:spPr>
          </c:dPt>
          <c:dPt>
            <c:idx val="1"/>
            <c:invertIfNegative val="0"/>
            <c:bubble3D val="0"/>
            <c:spPr>
              <a:solidFill>
                <a:srgbClr val="2DD4BF"/>
              </a:solidFill>
              <a:effectLst/>
            </c:spPr>
          </c:dPt>
          <c:dPt>
            <c:idx val="2"/>
            <c:invertIfNegative val="0"/>
            <c:bubble3D val="0"/>
            <c:spPr>
              <a:solidFill>
                <a:srgbClr val="F0B25C"/>
              </a:solidFill>
              <a:effectLst/>
            </c:spPr>
          </c:dPt>
          <c:cat>
            <c:multiLvlStrRef>
              <c:f>Sheet1!$A$2:$A$4</c:f>
              <c:multiLvlStrCache>
                <c:ptCount val="3"/>
                <c:lvl>
                  <c:pt idx="0">
                    <c:v>Base-rate
baseline</c:v>
                  </c:pt>
                  <c:pt idx="1">
                    <c:v>Fixed priors
(shipped)</c:v>
                  </c:pt>
                  <c:pt idx="2">
                    <c:v>Fitted per
learner</c:v>
                  </c:pt>
                </c:lvl>
              </c:multiLvlStrCache>
            </c:multiLvlStrRef>
          </c:cat>
          <c:val>
            <c:numRef>
              <c:f>Sheet1!$B$2:$B$4</c:f>
              <c:numCache>
                <c:formatCode>General</c:formatCode>
                <c:ptCount val="3"/>
                <c:pt idx="0">
                  <c:v>0.109</c:v>
                </c:pt>
                <c:pt idx="1">
                  <c:v>0.0994</c:v>
                </c:pt>
                <c:pt idx="2">
                  <c:v>0.1011</c:v>
                </c:pt>
              </c:numCache>
            </c:numRef>
          </c:val>
        </c:ser>
        <c:dLbls>
          <c:numFmt formatCode="0.0000" sourceLinked="0"/>
          <c:txPr>
            <a:bodyPr/>
            <a:lstStyle/>
            <a:p>
              <a:pPr>
                <a:defRPr b="0" i="0" strike="noStrike" sz="1200" u="none">
                  <a:solidFill>
                    <a:srgbClr val="E4E1ED"/>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A9AB4"/>
                </a:solidFill>
                <a:latin typeface="Calibri"/>
              </a:defRPr>
            </a:pPr>
            <a:endParaRPr lang="en-US"/>
          </a:p>
        </c:txPr>
        <c:crossAx val="2094734552"/>
        <c:crosses val="autoZero"/>
        <c:auto val="1"/>
        <c:lblAlgn val="ctr"/>
        <c:noMultiLvlLbl val="1"/>
      </c:catAx>
      <c:valAx>
        <c:axId val="2094734552"/>
        <c:scaling>
          <c:orientation val="minMax"/>
          <c:max val="0.115"/>
          <c:min val="0.09"/>
        </c:scaling>
        <c:delete val="0"/>
        <c:axPos val="l"/>
        <c:majorGridlines>
          <c:spPr>
            <a:ln w="12700" cap="flat">
              <a:solidFill>
                <a:srgbClr val="2626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9AB4"/>
                </a:solidFill>
                <a:latin typeface="Calibri"/>
              </a:defRPr>
            </a:pPr>
            <a:endParaRPr lang="en-US"/>
          </a:p>
        </c:txPr>
        <c:crossAx val="2094734554"/>
        <c:crosses val="autoZero"/>
        <c:crossBetween val="between"/>
      </c:valAx>
      <c:spPr>
        <a:solidFill>
          <a:srgbClr val="14141E"/>
        </a:solidFill>
        <a:ln>
          <a:noFill/>
        </a:ln>
        <a:effectLst/>
      </c:spPr>
    </c:plotArea>
    <c:plotVisOnly val="1"/>
    <c:dispBlanksAs val="span"/>
  </c:chart>
  <c:spPr>
    <a:solidFill>
      <a:srgbClr val="14141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4E1ED"/>
                </a:solidFill>
                <a:latin typeface="Calibri"/>
              </a:defRPr>
            </a:pPr>
            <a:r>
              <a:rPr sz="1400" b="0" i="0" u="none" strike="noStrike">
                <a:solidFill>
                  <a:srgbClr val="E4E1ED"/>
                </a:solidFill>
                <a:latin typeface="Calibri"/>
              </a:rPr>
              <a:t>Items spent to get there (budget of 160)</a:t>
            </a:r>
          </a:p>
        </c:rich>
      </c:tx>
      <c:layout/>
      <c:overlay val="0"/>
    </c:title>
    <c:autoTitleDeleted val="0"/>
    <c:plotArea>
      <c:layout/>
      <c:barChart>
        <c:barDir val="col"/>
        <c:grouping val="clustered"/>
        <c:varyColors val="0"/>
        <c:ser>
          <c:idx val="0"/>
          <c:order val="0"/>
          <c:tx>
            <c:strRef>
              <c:f>Sheet1!$B$1</c:f>
              <c:strCache>
                <c:ptCount val="1"/>
                <c:pt idx="0">
                  <c:v>Items used</c:v>
                </c:pt>
              </c:strCache>
            </c:strRef>
          </c:tx>
          <c:spPr>
            <a:solidFill>
              <a:srgbClr val="2DD4BF"/>
            </a:solidFill>
            <a:effectLst/>
          </c:spPr>
          <c:invertIfNegative val="0"/>
          <c:dLbls>
            <c:numFmt formatCode="0.0" sourceLinked="0"/>
            <c:txPr>
              <a:bodyPr/>
              <a:lstStyle/>
              <a:p>
                <a:pPr>
                  <a:defRPr b="0" i="0" strike="noStrike" sz="1200" u="none">
                    <a:solidFill>
                      <a:srgbClr val="E4E1ED"/>
                    </a:solidFill>
                    <a:latin typeface="Calibri"/>
                  </a:defRPr>
                </a:pPr>
              </a:p>
            </c:txPr>
            <c:showLegendKey val="0"/>
            <c:showVal val="1"/>
            <c:showCatName val="0"/>
            <c:showSerName val="0"/>
            <c:showPercent val="0"/>
            <c:showBubbleSize val="0"/>
            <c:showLeaderLines val="0"/>
          </c:dLbls>
          <c:dPt>
            <c:idx val="0"/>
            <c:invertIfNegative val="0"/>
            <c:bubble3D val="0"/>
            <c:spPr>
              <a:solidFill>
                <a:srgbClr val="2DD4BF"/>
              </a:solidFill>
              <a:effectLst/>
            </c:spPr>
          </c:dPt>
          <c:dPt>
            <c:idx val="1"/>
            <c:invertIfNegative val="0"/>
            <c:bubble3D val="0"/>
            <c:spPr>
              <a:solidFill>
                <a:srgbClr val="4A4A66"/>
              </a:solidFill>
              <a:effectLst/>
            </c:spPr>
          </c:dPt>
          <c:dPt>
            <c:idx val="2"/>
            <c:invertIfNegative val="0"/>
            <c:bubble3D val="0"/>
            <c:spPr>
              <a:solidFill>
                <a:srgbClr val="4A4A66"/>
              </a:solidFill>
              <a:effectLst/>
            </c:spPr>
          </c:dPt>
          <c:cat>
            <c:multiLvlStrRef>
              <c:f>Sheet1!$A$2:$A$4</c:f>
              <c:multiLvlStrCache>
                <c:ptCount val="3"/>
                <c:lvl>
                  <c:pt idx="0">
                    <c:v>Adaptive
(the engine)</c:v>
                  </c:pt>
                  <c:pt idx="1">
                    <c:v>Fixed
syllabus</c:v>
                  </c:pt>
                  <c:pt idx="2">
                    <c:v>Random
unlocked</c:v>
                  </c:pt>
                </c:lvl>
              </c:multiLvlStrCache>
            </c:multiLvlStrRef>
          </c:cat>
          <c:val>
            <c:numRef>
              <c:f>Sheet1!$B$2:$B$4</c:f>
              <c:numCache>
                <c:formatCode>General</c:formatCode>
                <c:ptCount val="3"/>
                <c:pt idx="0">
                  <c:v>73.6</c:v>
                </c:pt>
                <c:pt idx="1">
                  <c:v>160</c:v>
                </c:pt>
                <c:pt idx="2">
                  <c:v>160</c:v>
                </c:pt>
              </c:numCache>
            </c:numRef>
          </c:val>
        </c:ser>
        <c:dLbls>
          <c:numFmt formatCode="0.0" sourceLinked="0"/>
          <c:txPr>
            <a:bodyPr/>
            <a:lstStyle/>
            <a:p>
              <a:pPr>
                <a:defRPr b="0" i="0" strike="noStrike" sz="1200" u="none">
                  <a:solidFill>
                    <a:srgbClr val="E4E1ED"/>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A9AB4"/>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2626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9AB4"/>
                </a:solidFill>
                <a:latin typeface="Calibri"/>
              </a:defRPr>
            </a:pPr>
            <a:endParaRPr lang="en-US"/>
          </a:p>
        </c:txPr>
        <c:crossAx val="2094734554"/>
        <c:crosses val="autoZero"/>
        <c:crossBetween val="between"/>
      </c:valAx>
      <c:spPr>
        <a:solidFill>
          <a:srgbClr val="14141E"/>
        </a:solidFill>
        <a:ln>
          <a:noFill/>
        </a:ln>
        <a:effectLst/>
      </c:spPr>
    </c:plotArea>
    <c:plotVisOnly val="1"/>
    <c:dispBlanksAs val="span"/>
  </c:chart>
  <c:spPr>
    <a:solidFill>
      <a:srgbClr val="14141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name's Ogechukwu Adama, and what I want to show you is TradeMind Academy. It's an intelligent tutoring system for trading education, and it's the artefact behind my dissertation. I'll start with why it exists, because that decides everything that comes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go looking for trading education online right now, what you get is a pile of videos. Same videos, same order, for everybody. And the evidence on retail trading is pretty bleak. Most day traders lose money, and one large study found no sign that traders get better with experience at all. Which tells you something useful. The market is a terrible teacher. It pays you late, it buries the signal in noise, and quite often it rewards the wrong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trading courses don't fix this. Same content, same order, no model of the student. Intelligent tutoring systems were built for exactly this shape of problem and they have a mature evidence base. But the knowledge tracing literature is built almost entirely on mathematics, language and programming. I could find no published tutoring system applying a formal student model to trading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my question was whether a Bayesian Knowledge Tracing model can run a real adaptive loop in this domain. And then, separately, whether the system can produce evidence good enough to say if that adaptation is worth anything. That second half is the part I'd ask you to hold on to. Building something that feels adaptive is easy. Showing it does something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TradeMind Academy is a deployed web application. Sixteen modules in a strict prerequisite chain, sixty-six lessons, a hundred and sixteen assessment items across six question types, a pure BKT engine, a rule-based router, and an append-only response log that records the model's estimate before and after every single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components and one loop. A content layer, an assessment engine, a student model, a control layer of routing rules, a progress interface, and the data layer holding accounts and the research log. Two boundaries I treated as inviolable. The engine and the routing are pure TypeScript with no framework or database imports. And the logger is the only path by which an answer reaches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BKT comes from Corbett and Anderson in 1994. Each concept is a two-state hidden Markov model. Four parameters: the prior, the chance of learning on any attempt, the chance of guessing right when you don't know, and the chance of slipping when you do. Condition on the evidence, then apply the learning step. About fifteen lines of actual maths, and the tests assert against arithmetic I worked out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is the pedagogical model, and it is deliberately a set of rules a person can read rather than a learned policy. A module unlocks when every prerequisite is at or above 0.8. The target is the weakest unlocked module. If it has never been practised the action is teach. Otherwise the band decides. And item selection follows a difficulty ladder off the same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learner can just ask the system why. And these are the real values the router used. My current estimate, the band, the difficulty it picked because of that band, and how likely the model thought I was to get it right. None of that is written for display. It's the actual decision object the engine handed back. Which means the explanation can't disagree with the behaviour, because there isn't a second version of it to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here. Run the loop live: sign-up and the ethics gate, placement, the model initialising, the dashboard, a practice session with the why-this-question panel, and the session summary. If anything fails, play the backup recording and narrate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Thirty-three of the sixty-six lessons have a recording. The other thirty-three open on a stepped chart walkthrough instead, and having built them I'd argue they're the better thing. The price series is constructed from control points, so the sweep and the break land on exactly the bars the caption says. And sixteen lessons carry a real historical case study, found by code rather than by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this is a research artefact in a regulated space, the constraints shaped the build more than anything else did. Every chart is simulated or a labelled historical case study. No broker connection, no signals, no live prices, eighteen plus. And that's blocked in the database rules, not just the interface, which matters because someone signing in with Google never sees the sign-up form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hundred and thirty-eight unit tests, sixteen on the database rules, and thirty-two end-to-end runs across desktop and mobile profiles. Coverage on the modules the claims actually rest on is a hundred per cent. Across all of lib it's forty-six, because the Firebase adapters are covered by browser journeys instead. I'd rather tell you that than pad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logged answer carries the estimate from just before it. Push that through the emission model and it becomes a forecast. And a calibrated model's forecasts come true at the rate they claim. Across eight thousand simulated answers the expected calibration error is 0.43 of a percentage point. Then a result I genuinely didn't expect. Fitting the parameters per learner, which is the step everyone assumes you should take, makes it slightly worse on held-out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tells you the estimates are honest. It doesn't tell you the adapting is worth doing. So I built a second simulation. Three hundred synthetic learners, three policies, same item budget. And the important bit, answers come from the learner's true state, never from the engine's estimate, so the engine is allowed to be wrong and gets punished when it is. It reaches the same true knowledge as a fixed syllabus on forty-six per cent of the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was a gate from the first phase rather than a final pass. And it's automated now, with axe running over twelve pages including the signed-in ones on two device profiles. It found three real defects a Lighthouse pass had missed. On performance, the finding that mattered was that the animation library was server-rendering every block at opacity zero, so pages were blank until 940 kilobytes of JavaScript had hydrated.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study is built. Not planned, built and tested. A post-test that's placement's twin on form B, so fifteen of the sixteen questions are different. It never touches the learner model, and every answer is logged with the model's current estimate. So the limitation isn't that I couldn't build the study. It's that I haven't recruited anybody yet. Those are two different sentences, and the second one is the true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offered as contributions, each stated at the strength the evidence supports. The application as an existence proof. The open learner model pattern. The routing simulation as a method. And reporting the findings that went the wrong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weaknesses are real. No human participants, so nothing here is about whether anyone learns. The parameters are defaults rather than fitted. The item bank is thin at seven items a module. The model assumes no forgetting. And the curriculum teaches a contested methodology, which limits how far any result would generalise.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priority order, and the first is the one that matters. Run the study, because it's the only thing that turns the artefact into an answered research question. Then fit the learn rate on real responses while leaving the prior to placement. Then deepen the item bank, add a forgetting term, and only then a constrained generative 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close. The loop works end to end. It's tested at four levels with the engine at full coverage. The model is calibrated, and I've reported that calibration honestly, including the result that went against me. The adaptation is measurably more efficient than a syllabus, and I've put its cost next to its benefit. The study instruments exist and they run. And the whole thing is live. What I haven't shown you is that anybody learns from it, because that needs participants and I haven't had any. That's the boundary, and it's the next thing I'd do. Thanks for listening.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5050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img/bg-title.jpg">    </p:cNvPr>
          <p:cNvPicPr>
            <a:picLocks noChangeAspect="1"/>
          </p:cNvPicPr>
          <p:nvPr/>
        </p:nvPicPr>
        <p:blipFill>
          <a:blip r:embed="rId1"/>
          <a:stretch>
            <a:fillRect/>
          </a:stretch>
        </p:blipFill>
        <p:spPr>
          <a:xfrm>
            <a:off x="0" y="-384048"/>
            <a:ext cx="12191695" cy="7619695"/>
          </a:xfrm>
          <a:prstGeom prst="rect">
            <a:avLst/>
          </a:prstGeom>
        </p:spPr>
      </p:pic>
      <p:sp>
        <p:nvSpPr>
          <p:cNvPr id="4" name="Shape 0"/>
          <p:cNvSpPr/>
          <p:nvPr/>
        </p:nvSpPr>
        <p:spPr>
          <a:xfrm>
            <a:off x="822960" y="1051560"/>
            <a:ext cx="457200" cy="457200"/>
          </a:xfrm>
          <a:prstGeom prst="ellipse">
            <a:avLst/>
          </a:prstGeom>
          <a:solidFill>
            <a:srgbClr val="050507"/>
          </a:solidFill>
          <a:ln w="25400">
            <a:solidFill>
              <a:srgbClr val="2DD4BF"/>
            </a:solidFill>
            <a:prstDash val="solid"/>
          </a:ln>
        </p:spPr>
      </p:sp>
      <p:sp>
        <p:nvSpPr>
          <p:cNvPr id="5" name="Shape 1"/>
          <p:cNvSpPr/>
          <p:nvPr/>
        </p:nvSpPr>
        <p:spPr>
          <a:xfrm>
            <a:off x="973836" y="1202436"/>
            <a:ext cx="155448" cy="155448"/>
          </a:xfrm>
          <a:prstGeom prst="ellipse">
            <a:avLst/>
          </a:prstGeom>
          <a:solidFill>
            <a:srgbClr val="2DD4BF"/>
          </a:solidFill>
          <a:ln/>
        </p:spPr>
      </p:sp>
      <p:sp>
        <p:nvSpPr>
          <p:cNvPr id="6" name="Text 2"/>
          <p:cNvSpPr txBox="1"/>
          <p:nvPr/>
        </p:nvSpPr>
        <p:spPr>
          <a:xfrm>
            <a:off x="822960" y="1874520"/>
            <a:ext cx="7498080" cy="1005840"/>
          </a:xfrm>
          <a:prstGeom prst="rect">
            <a:avLst/>
          </a:prstGeom>
          <a:noFill/>
          <a:ln/>
        </p:spPr>
        <p:txBody>
          <a:bodyPr wrap="square" lIns="0" tIns="0" rIns="0" bIns="0" rtlCol="0" anchor="ctr"/>
          <a:lstStyle/>
          <a:p>
            <a:pPr indent="0" marL="0">
              <a:buNone/>
            </a:pPr>
            <a:r>
              <a:rPr lang="en-US" sz="5400" b="1" dirty="0">
                <a:solidFill>
                  <a:srgbClr val="E4E1ED"/>
                </a:solidFill>
                <a:latin typeface="Calibri" pitchFamily="34" charset="0"/>
                <a:ea typeface="Calibri" pitchFamily="34" charset="-122"/>
                <a:cs typeface="Calibri" pitchFamily="34" charset="-120"/>
              </a:rPr>
              <a:t>TradeMind Academy</a:t>
            </a:r>
            <a:endParaRPr lang="en-US" sz="5400" dirty="0"/>
          </a:p>
        </p:txBody>
      </p:sp>
      <p:sp>
        <p:nvSpPr>
          <p:cNvPr id="7" name="Text 3"/>
          <p:cNvSpPr txBox="1"/>
          <p:nvPr/>
        </p:nvSpPr>
        <p:spPr>
          <a:xfrm>
            <a:off x="822960" y="2880360"/>
            <a:ext cx="7863840" cy="457200"/>
          </a:xfrm>
          <a:prstGeom prst="rect">
            <a:avLst/>
          </a:prstGeom>
          <a:noFill/>
          <a:ln/>
        </p:spPr>
        <p:txBody>
          <a:bodyPr wrap="square" lIns="0" tIns="0" rIns="0" bIns="0" rtlCol="0" anchor="ctr"/>
          <a:lstStyle/>
          <a:p>
            <a:pPr indent="0" marL="0">
              <a:buNone/>
            </a:pPr>
            <a:r>
              <a:rPr lang="en-US" sz="2100" dirty="0">
                <a:solidFill>
                  <a:srgbClr val="44E2CD"/>
                </a:solidFill>
                <a:latin typeface="Calibri" pitchFamily="34" charset="0"/>
                <a:ea typeface="Calibri" pitchFamily="34" charset="-122"/>
                <a:cs typeface="Calibri" pitchFamily="34" charset="-120"/>
              </a:rPr>
              <a:t>An intelligent tutoring system for trading education</a:t>
            </a:r>
            <a:endParaRPr lang="en-US" sz="2100" dirty="0"/>
          </a:p>
        </p:txBody>
      </p:sp>
      <p:sp>
        <p:nvSpPr>
          <p:cNvPr id="8" name="Text 4"/>
          <p:cNvSpPr txBox="1"/>
          <p:nvPr/>
        </p:nvSpPr>
        <p:spPr>
          <a:xfrm>
            <a:off x="822960" y="3520440"/>
            <a:ext cx="7223760" cy="731520"/>
          </a:xfrm>
          <a:prstGeom prst="rect">
            <a:avLst/>
          </a:prstGeom>
          <a:noFill/>
          <a:ln/>
        </p:spPr>
        <p:txBody>
          <a:bodyPr wrap="square" lIns="0" tIns="0" rIns="0" bIns="0" rtlCol="0" anchor="ctr"/>
          <a:lstStyle/>
          <a:p>
            <a:pPr indent="0" marL="0">
              <a:buNone/>
            </a:pPr>
            <a:r>
              <a:rPr lang="en-US" sz="1500" i="1" dirty="0">
                <a:solidFill>
                  <a:srgbClr val="9A9AB4"/>
                </a:solidFill>
                <a:latin typeface="Calibri" pitchFamily="34" charset="0"/>
                <a:ea typeface="Calibri" pitchFamily="34" charset="-122"/>
                <a:cs typeface="Calibri" pitchFamily="34" charset="-120"/>
              </a:rPr>
              <a:t>Can a Bayesian student model run a real adaptive loop in a domain where the market itself teaches badly?</a:t>
            </a:r>
            <a:endParaRPr lang="en-US" sz="1500" dirty="0"/>
          </a:p>
        </p:txBody>
      </p:sp>
      <p:sp>
        <p:nvSpPr>
          <p:cNvPr id="9" name="Text 5"/>
          <p:cNvSpPr txBox="1"/>
          <p:nvPr/>
        </p:nvSpPr>
        <p:spPr>
          <a:xfrm>
            <a:off x="822960" y="4709160"/>
            <a:ext cx="5943600" cy="1188720"/>
          </a:xfrm>
          <a:prstGeom prst="rect">
            <a:avLst/>
          </a:prstGeom>
          <a:noFill/>
          <a:ln/>
        </p:spPr>
        <p:txBody>
          <a:bodyPr wrap="square" lIns="0" tIns="0" rIns="0" bIns="0" rtlCol="0" anchor="ctr"/>
          <a:lstStyle/>
          <a:p>
            <a:pPr indent="0" marL="0">
              <a:lnSpc>
                <a:spcPct val="125000"/>
              </a:lnSpc>
              <a:buNone/>
            </a:pPr>
            <a:r>
              <a:rPr lang="en-US" sz="1400" b="1" dirty="0">
                <a:solidFill>
                  <a:srgbClr val="E4E1ED"/>
                </a:solidFill>
                <a:latin typeface="Calibri" pitchFamily="34" charset="0"/>
                <a:ea typeface="Calibri" pitchFamily="34" charset="-122"/>
                <a:cs typeface="Calibri" pitchFamily="34" charset="-120"/>
              </a:rPr>
              <a:t>Ogechukwu Adama</a:t>
            </a:r>
            <a:endParaRPr lang="en-US" sz="1400" dirty="0"/>
          </a:p>
          <a:p>
            <a:pPr indent="0" marL="0">
              <a:lnSpc>
                <a:spcPct val="125000"/>
              </a:lnSpc>
              <a:buNone/>
            </a:pPr>
            <a:r>
              <a:rPr lang="en-US" sz="1400" dirty="0">
                <a:solidFill>
                  <a:srgbClr val="E4E1ED"/>
                </a:solidFill>
                <a:latin typeface="Calibri" pitchFamily="34" charset="0"/>
                <a:ea typeface="Calibri" pitchFamily="34" charset="-122"/>
                <a:cs typeface="Calibri" pitchFamily="34" charset="-120"/>
              </a:rPr>
              <a:t>Student number 10440379</a:t>
            </a:r>
            <a:endParaRPr lang="en-US" sz="1400" dirty="0"/>
          </a:p>
          <a:p>
            <a:pPr indent="0" marL="0">
              <a:lnSpc>
                <a:spcPct val="125000"/>
              </a:lnSpc>
              <a:buNone/>
            </a:pPr>
            <a:r>
              <a:rPr lang="en-US" sz="1400" dirty="0">
                <a:solidFill>
                  <a:srgbClr val="E4E1ED"/>
                </a:solidFill>
                <a:latin typeface="Calibri" pitchFamily="34" charset="0"/>
                <a:ea typeface="Calibri" pitchFamily="34" charset="-122"/>
                <a:cs typeface="Calibri" pitchFamily="34" charset="-120"/>
              </a:rPr>
              <a:t>QHO656 Dissertation Project  ·  Supervisor: Prashant Bikram Shah</a:t>
            </a:r>
            <a:endParaRPr lang="en-US" sz="1400" dirty="0"/>
          </a:p>
          <a:p>
            <a:pPr indent="0" marL="0">
              <a:lnSpc>
                <a:spcPct val="125000"/>
              </a:lnSpc>
              <a:buNone/>
            </a:pPr>
            <a:r>
              <a:rPr lang="en-US" sz="1400" dirty="0">
                <a:solidFill>
                  <a:srgbClr val="E4E1ED"/>
                </a:solidFill>
                <a:latin typeface="Calibri" pitchFamily="34" charset="0"/>
                <a:ea typeface="Calibri" pitchFamily="34" charset="-122"/>
                <a:cs typeface="Calibri" pitchFamily="34" charset="-120"/>
              </a:rPr>
              <a:t>Southampton Solent University  ·  September 2026</a:t>
            </a:r>
            <a:endParaRPr lang="en-US" sz="1400" dirty="0"/>
          </a:p>
        </p:txBody>
      </p:sp>
      <p:sp>
        <p:nvSpPr>
          <p:cNvPr id="10" name="Text 6"/>
          <p:cNvSpPr txBox="1"/>
          <p:nvPr/>
        </p:nvSpPr>
        <p:spPr>
          <a:xfrm>
            <a:off x="7589520" y="5029200"/>
            <a:ext cx="4023360" cy="731520"/>
          </a:xfrm>
          <a:prstGeom prst="rect">
            <a:avLst/>
          </a:prstGeom>
          <a:noFill/>
          <a:ln/>
        </p:spPr>
        <p:txBody>
          <a:bodyPr wrap="square" lIns="0" tIns="0" rIns="0" bIns="0" rtlCol="0" anchor="ctr"/>
          <a:lstStyle/>
          <a:p>
            <a:pPr algn="r" indent="0" marL="0">
              <a:buNone/>
            </a:pPr>
            <a:r>
              <a:rPr lang="en-US" sz="1300" dirty="0">
                <a:solidFill>
                  <a:srgbClr val="44E2CD"/>
                </a:solidFill>
                <a:latin typeface="Calibri" pitchFamily="34" charset="0"/>
                <a:ea typeface="Calibri" pitchFamily="34" charset="-122"/>
                <a:cs typeface="Calibri" pitchFamily="34" charset="-120"/>
              </a:rPr>
              <a:t>Live:  tmacademyuk.vercel.app</a:t>
            </a:r>
            <a:endParaRPr lang="en-US" sz="1300" dirty="0"/>
          </a:p>
          <a:p>
            <a:pPr algn="r" indent="0" marL="0">
              <a:buNone/>
            </a:pPr>
            <a:r>
              <a:rPr lang="en-US" sz="1300" dirty="0">
                <a:solidFill>
                  <a:srgbClr val="44E2CD"/>
                </a:solidFill>
                <a:latin typeface="Calibri" pitchFamily="34" charset="0"/>
                <a:ea typeface="Calibri" pitchFamily="34" charset="-122"/>
                <a:cs typeface="Calibri" pitchFamily="34" charset="-120"/>
              </a:rPr>
              <a:t>Source:  github.com/OGSOLENT/TradeMind_Academy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The market is a terrible teacher</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And that makes this a pedagogy problem, not a finance one</a:t>
            </a:r>
            <a:endParaRPr lang="en-US" sz="1700" dirty="0"/>
          </a:p>
        </p:txBody>
      </p:sp>
      <p:sp>
        <p:nvSpPr>
          <p:cNvPr id="5" name="Shape 2"/>
          <p:cNvSpPr/>
          <p:nvPr/>
        </p:nvSpPr>
        <p:spPr>
          <a:xfrm>
            <a:off x="640080" y="1965960"/>
            <a:ext cx="2651760" cy="2148840"/>
          </a:xfrm>
          <a:prstGeom prst="roundRect">
            <a:avLst>
              <a:gd name="adj" fmla="val 3404"/>
            </a:avLst>
          </a:prstGeom>
          <a:solidFill>
            <a:srgbClr val="14141E"/>
          </a:solidFill>
          <a:ln w="12700">
            <a:solidFill>
              <a:srgbClr val="1C1C29"/>
            </a:solidFill>
            <a:prstDash val="solid"/>
          </a:ln>
        </p:spPr>
      </p:sp>
      <p:sp>
        <p:nvSpPr>
          <p:cNvPr id="6" name="Text 3"/>
          <p:cNvSpPr txBox="1"/>
          <p:nvPr/>
        </p:nvSpPr>
        <p:spPr>
          <a:xfrm>
            <a:off x="914400" y="2148840"/>
            <a:ext cx="2148840" cy="777240"/>
          </a:xfrm>
          <a:prstGeom prst="rect">
            <a:avLst/>
          </a:prstGeom>
          <a:noFill/>
          <a:ln/>
        </p:spPr>
        <p:txBody>
          <a:bodyPr wrap="square" lIns="0" tIns="0" rIns="0" bIns="0" rtlCol="0" anchor="ctr"/>
          <a:lstStyle/>
          <a:p>
            <a:pPr indent="0" marL="0">
              <a:buNone/>
            </a:pPr>
            <a:r>
              <a:rPr lang="en-US" sz="4400" b="1" dirty="0">
                <a:solidFill>
                  <a:srgbClr val="44E2CD"/>
                </a:solidFill>
                <a:latin typeface="Calibri" pitchFamily="34" charset="0"/>
                <a:ea typeface="Calibri" pitchFamily="34" charset="-122"/>
                <a:cs typeface="Calibri" pitchFamily="34" charset="-120"/>
              </a:rPr>
              <a:t>&lt; 1%</a:t>
            </a:r>
            <a:endParaRPr lang="en-US" sz="4400" dirty="0"/>
          </a:p>
        </p:txBody>
      </p:sp>
      <p:sp>
        <p:nvSpPr>
          <p:cNvPr id="7" name="Text 4"/>
          <p:cNvSpPr txBox="1"/>
          <p:nvPr/>
        </p:nvSpPr>
        <p:spPr>
          <a:xfrm>
            <a:off x="914400" y="2971800"/>
            <a:ext cx="2148840" cy="1051560"/>
          </a:xfrm>
          <a:prstGeom prst="rect">
            <a:avLst/>
          </a:prstGeom>
          <a:noFill/>
          <a:ln/>
        </p:spPr>
        <p:txBody>
          <a:bodyPr wrap="square" lIns="0" tIns="0" rIns="0" bIns="0" rtlCol="0" anchor="t"/>
          <a:lstStyle/>
          <a:p>
            <a:pPr indent="0" marL="0">
              <a:buNone/>
            </a:pPr>
            <a:r>
              <a:rPr lang="en-US" sz="1300" dirty="0">
                <a:solidFill>
                  <a:srgbClr val="9A9AB4"/>
                </a:solidFill>
                <a:latin typeface="Calibri" pitchFamily="34" charset="0"/>
                <a:ea typeface="Calibri" pitchFamily="34" charset="-122"/>
                <a:cs typeface="Calibri" pitchFamily="34" charset="-120"/>
              </a:rPr>
              <a:t>of day traders earn reliably positive returns after costs</a:t>
            </a:r>
            <a:endParaRPr lang="en-US" sz="1300" dirty="0"/>
          </a:p>
          <a:p>
            <a:pPr indent="0" marL="0">
              <a:buNone/>
            </a:pPr>
            <a:r>
              <a:rPr lang="en-US" sz="1300" dirty="0">
                <a:solidFill>
                  <a:srgbClr val="9A9AB4"/>
                </a:solidFill>
                <a:latin typeface="Calibri" pitchFamily="34" charset="0"/>
                <a:ea typeface="Calibri" pitchFamily="34" charset="-122"/>
                <a:cs typeface="Calibri" pitchFamily="34" charset="-120"/>
              </a:rPr>
              <a:t>(Barber et al., 2014)</a:t>
            </a:r>
            <a:endParaRPr lang="en-US" sz="1300" dirty="0"/>
          </a:p>
        </p:txBody>
      </p:sp>
      <p:sp>
        <p:nvSpPr>
          <p:cNvPr id="8" name="Shape 5"/>
          <p:cNvSpPr/>
          <p:nvPr/>
        </p:nvSpPr>
        <p:spPr>
          <a:xfrm>
            <a:off x="3520440" y="1965960"/>
            <a:ext cx="2651760" cy="2148840"/>
          </a:xfrm>
          <a:prstGeom prst="roundRect">
            <a:avLst>
              <a:gd name="adj" fmla="val 3404"/>
            </a:avLst>
          </a:prstGeom>
          <a:solidFill>
            <a:srgbClr val="14141E"/>
          </a:solidFill>
          <a:ln w="12700">
            <a:solidFill>
              <a:srgbClr val="1C1C29"/>
            </a:solidFill>
            <a:prstDash val="solid"/>
          </a:ln>
        </p:spPr>
      </p:sp>
      <p:sp>
        <p:nvSpPr>
          <p:cNvPr id="9" name="Text 6"/>
          <p:cNvSpPr txBox="1"/>
          <p:nvPr/>
        </p:nvSpPr>
        <p:spPr>
          <a:xfrm>
            <a:off x="3794760" y="2148840"/>
            <a:ext cx="2148840" cy="777240"/>
          </a:xfrm>
          <a:prstGeom prst="rect">
            <a:avLst/>
          </a:prstGeom>
          <a:noFill/>
          <a:ln/>
        </p:spPr>
        <p:txBody>
          <a:bodyPr wrap="square" lIns="0" tIns="0" rIns="0" bIns="0" rtlCol="0" anchor="ctr"/>
          <a:lstStyle/>
          <a:p>
            <a:pPr indent="0" marL="0">
              <a:buNone/>
            </a:pPr>
            <a:r>
              <a:rPr lang="en-US" sz="4400" b="1" dirty="0">
                <a:solidFill>
                  <a:srgbClr val="44E2CD"/>
                </a:solidFill>
                <a:latin typeface="Calibri" pitchFamily="34" charset="0"/>
                <a:ea typeface="Calibri" pitchFamily="34" charset="-122"/>
                <a:cs typeface="Calibri" pitchFamily="34" charset="-120"/>
              </a:rPr>
              <a:t>97%</a:t>
            </a:r>
            <a:endParaRPr lang="en-US" sz="4400" dirty="0"/>
          </a:p>
        </p:txBody>
      </p:sp>
      <p:sp>
        <p:nvSpPr>
          <p:cNvPr id="10" name="Text 7"/>
          <p:cNvSpPr txBox="1"/>
          <p:nvPr/>
        </p:nvSpPr>
        <p:spPr>
          <a:xfrm>
            <a:off x="3794760" y="2971800"/>
            <a:ext cx="2148840" cy="1051560"/>
          </a:xfrm>
          <a:prstGeom prst="rect">
            <a:avLst/>
          </a:prstGeom>
          <a:noFill/>
          <a:ln/>
        </p:spPr>
        <p:txBody>
          <a:bodyPr wrap="square" lIns="0" tIns="0" rIns="0" bIns="0" rtlCol="0" anchor="t"/>
          <a:lstStyle/>
          <a:p>
            <a:pPr indent="0" marL="0">
              <a:buNone/>
            </a:pPr>
            <a:r>
              <a:rPr lang="en-US" sz="1300" dirty="0">
                <a:solidFill>
                  <a:srgbClr val="9A9AB4"/>
                </a:solidFill>
                <a:latin typeface="Calibri" pitchFamily="34" charset="0"/>
                <a:ea typeface="Calibri" pitchFamily="34" charset="-122"/>
                <a:cs typeface="Calibri" pitchFamily="34" charset="-120"/>
              </a:rPr>
              <a:t>of persistent traders lost money over 300+ days</a:t>
            </a:r>
            <a:endParaRPr lang="en-US" sz="1300" dirty="0"/>
          </a:p>
          <a:p>
            <a:pPr indent="0" marL="0">
              <a:buNone/>
            </a:pPr>
            <a:r>
              <a:rPr lang="en-US" sz="1300" dirty="0">
                <a:solidFill>
                  <a:srgbClr val="9A9AB4"/>
                </a:solidFill>
                <a:latin typeface="Calibri" pitchFamily="34" charset="0"/>
                <a:ea typeface="Calibri" pitchFamily="34" charset="-122"/>
                <a:cs typeface="Calibri" pitchFamily="34" charset="-120"/>
              </a:rPr>
              <a:t>(Chague et al., 2020)</a:t>
            </a:r>
            <a:endParaRPr lang="en-US" sz="1300" dirty="0"/>
          </a:p>
        </p:txBody>
      </p:sp>
      <p:sp>
        <p:nvSpPr>
          <p:cNvPr id="11" name="Shape 8"/>
          <p:cNvSpPr/>
          <p:nvPr/>
        </p:nvSpPr>
        <p:spPr>
          <a:xfrm>
            <a:off x="6400800" y="1965960"/>
            <a:ext cx="2651760" cy="2148840"/>
          </a:xfrm>
          <a:prstGeom prst="roundRect">
            <a:avLst>
              <a:gd name="adj" fmla="val 3404"/>
            </a:avLst>
          </a:prstGeom>
          <a:solidFill>
            <a:srgbClr val="14141E"/>
          </a:solidFill>
          <a:ln w="12700">
            <a:solidFill>
              <a:srgbClr val="1C1C29"/>
            </a:solidFill>
            <a:prstDash val="solid"/>
          </a:ln>
        </p:spPr>
      </p:sp>
      <p:sp>
        <p:nvSpPr>
          <p:cNvPr id="12" name="Text 9"/>
          <p:cNvSpPr txBox="1"/>
          <p:nvPr/>
        </p:nvSpPr>
        <p:spPr>
          <a:xfrm>
            <a:off x="6675120" y="2148840"/>
            <a:ext cx="2148840" cy="777240"/>
          </a:xfrm>
          <a:prstGeom prst="rect">
            <a:avLst/>
          </a:prstGeom>
          <a:noFill/>
          <a:ln/>
        </p:spPr>
        <p:txBody>
          <a:bodyPr wrap="square" lIns="0" tIns="0" rIns="0" bIns="0" rtlCol="0" anchor="ctr"/>
          <a:lstStyle/>
          <a:p>
            <a:pPr indent="0" marL="0">
              <a:buNone/>
            </a:pPr>
            <a:r>
              <a:rPr lang="en-US" sz="4400" b="1" dirty="0">
                <a:solidFill>
                  <a:srgbClr val="44E2CD"/>
                </a:solidFill>
                <a:latin typeface="Calibri" pitchFamily="34" charset="0"/>
                <a:ea typeface="Calibri" pitchFamily="34" charset="-122"/>
                <a:cs typeface="Calibri" pitchFamily="34" charset="-120"/>
              </a:rPr>
              <a:t>0</a:t>
            </a:r>
            <a:endParaRPr lang="en-US" sz="4400" dirty="0"/>
          </a:p>
        </p:txBody>
      </p:sp>
      <p:sp>
        <p:nvSpPr>
          <p:cNvPr id="13" name="Text 10"/>
          <p:cNvSpPr txBox="1"/>
          <p:nvPr/>
        </p:nvSpPr>
        <p:spPr>
          <a:xfrm>
            <a:off x="6675120" y="2971800"/>
            <a:ext cx="2148840" cy="1051560"/>
          </a:xfrm>
          <a:prstGeom prst="rect">
            <a:avLst/>
          </a:prstGeom>
          <a:noFill/>
          <a:ln/>
        </p:spPr>
        <p:txBody>
          <a:bodyPr wrap="square" lIns="0" tIns="0" rIns="0" bIns="0" rtlCol="0" anchor="t"/>
          <a:lstStyle/>
          <a:p>
            <a:pPr indent="0" marL="0">
              <a:buNone/>
            </a:pPr>
            <a:r>
              <a:rPr lang="en-US" sz="1300" dirty="0">
                <a:solidFill>
                  <a:srgbClr val="9A9AB4"/>
                </a:solidFill>
                <a:latin typeface="Calibri" pitchFamily="34" charset="0"/>
                <a:ea typeface="Calibri" pitchFamily="34" charset="-122"/>
                <a:cs typeface="Calibri" pitchFamily="34" charset="-120"/>
              </a:rPr>
              <a:t>measurable improvement with experience</a:t>
            </a:r>
            <a:endParaRPr lang="en-US" sz="1300" dirty="0"/>
          </a:p>
          <a:p>
            <a:pPr indent="0" marL="0">
              <a:buNone/>
            </a:pPr>
            <a:r>
              <a:rPr lang="en-US" sz="1300" dirty="0">
                <a:solidFill>
                  <a:srgbClr val="9A9AB4"/>
                </a:solidFill>
                <a:latin typeface="Calibri" pitchFamily="34" charset="0"/>
                <a:ea typeface="Calibri" pitchFamily="34" charset="-122"/>
                <a:cs typeface="Calibri" pitchFamily="34" charset="-120"/>
              </a:rPr>
              <a:t>(Chague et al., 2020)</a:t>
            </a:r>
            <a:endParaRPr lang="en-US" sz="1300" dirty="0"/>
          </a:p>
        </p:txBody>
      </p:sp>
      <p:sp>
        <p:nvSpPr>
          <p:cNvPr id="14" name="Shape 11"/>
          <p:cNvSpPr/>
          <p:nvPr/>
        </p:nvSpPr>
        <p:spPr>
          <a:xfrm>
            <a:off x="9281160" y="1965960"/>
            <a:ext cx="2651760" cy="2148840"/>
          </a:xfrm>
          <a:prstGeom prst="roundRect">
            <a:avLst>
              <a:gd name="adj" fmla="val 3404"/>
            </a:avLst>
          </a:prstGeom>
          <a:solidFill>
            <a:srgbClr val="14141E"/>
          </a:solidFill>
          <a:ln w="12700">
            <a:solidFill>
              <a:srgbClr val="1C1C29"/>
            </a:solidFill>
            <a:prstDash val="solid"/>
          </a:ln>
        </p:spPr>
      </p:sp>
      <p:sp>
        <p:nvSpPr>
          <p:cNvPr id="15" name="Text 12"/>
          <p:cNvSpPr txBox="1"/>
          <p:nvPr/>
        </p:nvSpPr>
        <p:spPr>
          <a:xfrm>
            <a:off x="9555480" y="2148840"/>
            <a:ext cx="2148840" cy="777240"/>
          </a:xfrm>
          <a:prstGeom prst="rect">
            <a:avLst/>
          </a:prstGeom>
          <a:noFill/>
          <a:ln/>
        </p:spPr>
        <p:txBody>
          <a:bodyPr wrap="square" lIns="0" tIns="0" rIns="0" bIns="0" rtlCol="0" anchor="ctr"/>
          <a:lstStyle/>
          <a:p>
            <a:pPr indent="0" marL="0">
              <a:buNone/>
            </a:pPr>
            <a:r>
              <a:rPr lang="en-US" sz="4400" b="1" dirty="0">
                <a:solidFill>
                  <a:srgbClr val="44E2CD"/>
                </a:solidFill>
                <a:latin typeface="Calibri" pitchFamily="34" charset="0"/>
                <a:ea typeface="Calibri" pitchFamily="34" charset="-122"/>
                <a:cs typeface="Calibri" pitchFamily="34" charset="-120"/>
              </a:rPr>
              <a:t>80%</a:t>
            </a:r>
            <a:endParaRPr lang="en-US" sz="4400" dirty="0"/>
          </a:p>
        </p:txBody>
      </p:sp>
      <p:sp>
        <p:nvSpPr>
          <p:cNvPr id="16" name="Text 13"/>
          <p:cNvSpPr txBox="1"/>
          <p:nvPr/>
        </p:nvSpPr>
        <p:spPr>
          <a:xfrm>
            <a:off x="9555480" y="2971800"/>
            <a:ext cx="2148840" cy="1051560"/>
          </a:xfrm>
          <a:prstGeom prst="rect">
            <a:avLst/>
          </a:prstGeom>
          <a:noFill/>
          <a:ln/>
        </p:spPr>
        <p:txBody>
          <a:bodyPr wrap="square" lIns="0" tIns="0" rIns="0" bIns="0" rtlCol="0" anchor="t"/>
          <a:lstStyle/>
          <a:p>
            <a:pPr indent="0" marL="0">
              <a:buNone/>
            </a:pPr>
            <a:r>
              <a:rPr lang="en-US" sz="1300" dirty="0">
                <a:solidFill>
                  <a:srgbClr val="9A9AB4"/>
                </a:solidFill>
                <a:latin typeface="Calibri" pitchFamily="34" charset="0"/>
                <a:ea typeface="Calibri" pitchFamily="34" charset="-122"/>
                <a:cs typeface="Calibri" pitchFamily="34" charset="-120"/>
              </a:rPr>
              <a:t>of retail CFD customers lose money, says the regulator</a:t>
            </a:r>
            <a:endParaRPr lang="en-US" sz="1300" dirty="0"/>
          </a:p>
          <a:p>
            <a:pPr indent="0" marL="0">
              <a:buNone/>
            </a:pPr>
            <a:r>
              <a:rPr lang="en-US" sz="1300" dirty="0">
                <a:solidFill>
                  <a:srgbClr val="9A9AB4"/>
                </a:solidFill>
                <a:latin typeface="Calibri" pitchFamily="34" charset="0"/>
                <a:ea typeface="Calibri" pitchFamily="34" charset="-122"/>
                <a:cs typeface="Calibri" pitchFamily="34" charset="-120"/>
              </a:rPr>
              <a:t>(FCA, 2022)</a:t>
            </a:r>
            <a:endParaRPr lang="en-US" sz="1300" dirty="0"/>
          </a:p>
        </p:txBody>
      </p:sp>
      <p:sp>
        <p:nvSpPr>
          <p:cNvPr id="17" name="Shape 14"/>
          <p:cNvSpPr/>
          <p:nvPr/>
        </p:nvSpPr>
        <p:spPr>
          <a:xfrm>
            <a:off x="640080" y="4434840"/>
            <a:ext cx="11292840" cy="1600200"/>
          </a:xfrm>
          <a:prstGeom prst="roundRect">
            <a:avLst>
              <a:gd name="adj" fmla="val 4571"/>
            </a:avLst>
          </a:prstGeom>
          <a:solidFill>
            <a:srgbClr val="1C1C29"/>
          </a:solidFill>
          <a:ln w="12700">
            <a:solidFill>
              <a:srgbClr val="1C1C29"/>
            </a:solidFill>
            <a:prstDash val="solid"/>
          </a:ln>
        </p:spPr>
      </p:sp>
      <p:sp>
        <p:nvSpPr>
          <p:cNvPr id="18" name="Shape 15"/>
          <p:cNvSpPr/>
          <p:nvPr/>
        </p:nvSpPr>
        <p:spPr>
          <a:xfrm>
            <a:off x="1005840" y="4983480"/>
            <a:ext cx="347472" cy="347472"/>
          </a:xfrm>
          <a:prstGeom prst="ellipse">
            <a:avLst/>
          </a:prstGeom>
          <a:solidFill>
            <a:srgbClr val="050507"/>
          </a:solidFill>
          <a:ln w="25400">
            <a:solidFill>
              <a:srgbClr val="F0B25C"/>
            </a:solidFill>
            <a:prstDash val="solid"/>
          </a:ln>
        </p:spPr>
      </p:sp>
      <p:sp>
        <p:nvSpPr>
          <p:cNvPr id="19" name="Shape 16"/>
          <p:cNvSpPr/>
          <p:nvPr/>
        </p:nvSpPr>
        <p:spPr>
          <a:xfrm>
            <a:off x="1120506" y="5098146"/>
            <a:ext cx="118140" cy="118140"/>
          </a:xfrm>
          <a:prstGeom prst="ellipse">
            <a:avLst/>
          </a:prstGeom>
          <a:solidFill>
            <a:srgbClr val="F0B25C"/>
          </a:solidFill>
          <a:ln/>
        </p:spPr>
      </p:sp>
      <p:sp>
        <p:nvSpPr>
          <p:cNvPr id="20" name="Text 17"/>
          <p:cNvSpPr txBox="1"/>
          <p:nvPr/>
        </p:nvSpPr>
        <p:spPr>
          <a:xfrm>
            <a:off x="1600200" y="4617720"/>
            <a:ext cx="9966960" cy="1234440"/>
          </a:xfrm>
          <a:prstGeom prst="rect">
            <a:avLst/>
          </a:prstGeom>
          <a:noFill/>
          <a:ln/>
        </p:spPr>
        <p:txBody>
          <a:bodyPr wrap="square" lIns="0" tIns="0" rIns="0" bIns="0" rtlCol="0" anchor="ctr"/>
          <a:lstStyle/>
          <a:p>
            <a:pPr indent="0" marL="0">
              <a:buNone/>
            </a:pPr>
            <a:r>
              <a:rPr lang="en-US" sz="1500" dirty="0">
                <a:solidFill>
                  <a:srgbClr val="E4E1ED"/>
                </a:solidFill>
                <a:latin typeface="Calibri" pitchFamily="34" charset="0"/>
                <a:ea typeface="Calibri" pitchFamily="34" charset="-122"/>
                <a:cs typeface="Calibri" pitchFamily="34" charset="-120"/>
              </a:rPr>
              <a:t>Feedback from a live market arrives late, buried in variance, and often points the wrong way. A sound decision can lose money and a poor one can be paid. Deliberate practice needs structured tasks and immediate diagnostic feedback (Ericsson et al., 1993). Live markets supply neither, so unstructured exposure is a poor way to learn, whatever the content.</a:t>
            </a:r>
            <a:endParaRPr lang="en-US" sz="1500" dirty="0"/>
          </a:p>
        </p:txBody>
      </p:sp>
      <p:sp>
        <p:nvSpPr>
          <p:cNvPr id="21" name="Text 18"/>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22" name="Text 19"/>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Two literatures that never meet</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Where this project sits</a:t>
            </a:r>
            <a:endParaRPr lang="en-US" sz="1700" dirty="0"/>
          </a:p>
        </p:txBody>
      </p:sp>
      <p:sp>
        <p:nvSpPr>
          <p:cNvPr id="5" name="Shape 2"/>
          <p:cNvSpPr/>
          <p:nvPr/>
        </p:nvSpPr>
        <p:spPr>
          <a:xfrm>
            <a:off x="640080" y="1920240"/>
            <a:ext cx="5394960" cy="2240280"/>
          </a:xfrm>
          <a:prstGeom prst="roundRect">
            <a:avLst>
              <a:gd name="adj" fmla="val 3265"/>
            </a:avLst>
          </a:prstGeom>
          <a:solidFill>
            <a:srgbClr val="14141E"/>
          </a:solidFill>
          <a:ln w="12700">
            <a:solidFill>
              <a:srgbClr val="1C1C29"/>
            </a:solidFill>
            <a:prstDash val="solid"/>
          </a:ln>
        </p:spPr>
      </p:sp>
      <p:sp>
        <p:nvSpPr>
          <p:cNvPr id="6" name="Text 3"/>
          <p:cNvSpPr txBox="1"/>
          <p:nvPr/>
        </p:nvSpPr>
        <p:spPr>
          <a:xfrm>
            <a:off x="960120" y="2148840"/>
            <a:ext cx="4754880" cy="365760"/>
          </a:xfrm>
          <a:prstGeom prst="rect">
            <a:avLst/>
          </a:prstGeom>
          <a:noFill/>
          <a:ln/>
        </p:spPr>
        <p:txBody>
          <a:bodyPr wrap="square" lIns="0" tIns="0" rIns="0" bIns="0" rtlCol="0" anchor="ctr"/>
          <a:lstStyle/>
          <a:p>
            <a:pPr indent="0" marL="0">
              <a:buNone/>
            </a:pPr>
            <a:r>
              <a:rPr lang="en-US" sz="1900" b="1" dirty="0">
                <a:solidFill>
                  <a:srgbClr val="44E2CD"/>
                </a:solidFill>
                <a:latin typeface="Calibri" pitchFamily="34" charset="0"/>
                <a:ea typeface="Calibri" pitchFamily="34" charset="-122"/>
                <a:cs typeface="Calibri" pitchFamily="34" charset="-120"/>
              </a:rPr>
              <a:t>Intelligent tutoring works</a:t>
            </a:r>
            <a:endParaRPr lang="en-US" sz="1900" dirty="0"/>
          </a:p>
        </p:txBody>
      </p:sp>
      <p:sp>
        <p:nvSpPr>
          <p:cNvPr id="7" name="Text 4"/>
          <p:cNvSpPr txBox="1"/>
          <p:nvPr/>
        </p:nvSpPr>
        <p:spPr>
          <a:xfrm>
            <a:off x="960120" y="2606040"/>
            <a:ext cx="4846320" cy="164592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E4E1ED"/>
                </a:solidFill>
                <a:latin typeface="Calibri" pitchFamily="34" charset="0"/>
                <a:ea typeface="Calibri" pitchFamily="34" charset="-122"/>
                <a:cs typeface="Calibri" pitchFamily="34" charset="-120"/>
              </a:rPr>
              <a:t>0.76 against 0.79 for human tutors (VanLehn, 2011)</a:t>
            </a:r>
            <a:endParaRPr lang="en-US" sz="1400" dirty="0"/>
          </a:p>
          <a:p>
            <a:pPr marL="342900" indent="-342900">
              <a:spcAft>
                <a:spcPts val="900"/>
              </a:spcAft>
              <a:buSzPct val="100000"/>
              <a:buChar char="•"/>
            </a:pPr>
            <a:r>
              <a:rPr lang="en-US" sz="1400" dirty="0">
                <a:solidFill>
                  <a:srgbClr val="E4E1ED"/>
                </a:solidFill>
                <a:latin typeface="Calibri" pitchFamily="34" charset="0"/>
                <a:ea typeface="Calibri" pitchFamily="34" charset="-122"/>
                <a:cs typeface="Calibri" pitchFamily="34" charset="-120"/>
              </a:rPr>
              <a:t>Median 0.66 across 50 evaluations (Kulik &amp; Fletcher, 2016)</a:t>
            </a:r>
            <a:endParaRPr lang="en-US" sz="1400" dirty="0"/>
          </a:p>
          <a:p>
            <a:pPr marL="342900" indent="-342900">
              <a:spcAft>
                <a:spcPts val="900"/>
              </a:spcAft>
              <a:buSzPct val="100000"/>
              <a:buChar char="•"/>
            </a:pPr>
            <a:r>
              <a:rPr lang="en-US" sz="1400" dirty="0">
                <a:solidFill>
                  <a:srgbClr val="E4E1ED"/>
                </a:solidFill>
                <a:latin typeface="Calibri" pitchFamily="34" charset="0"/>
                <a:ea typeface="Calibri" pitchFamily="34" charset="-122"/>
                <a:cs typeface="Calibri" pitchFamily="34" charset="-120"/>
              </a:rPr>
              <a:t>But 0.20 in the strongest trial (Pane et al., 2014)</a:t>
            </a:r>
            <a:endParaRPr lang="en-US" sz="1400" dirty="0"/>
          </a:p>
        </p:txBody>
      </p:sp>
      <p:sp>
        <p:nvSpPr>
          <p:cNvPr id="8" name="Shape 5"/>
          <p:cNvSpPr/>
          <p:nvPr/>
        </p:nvSpPr>
        <p:spPr>
          <a:xfrm>
            <a:off x="6309360" y="1920240"/>
            <a:ext cx="5394960" cy="2240280"/>
          </a:xfrm>
          <a:prstGeom prst="roundRect">
            <a:avLst>
              <a:gd name="adj" fmla="val 3265"/>
            </a:avLst>
          </a:prstGeom>
          <a:solidFill>
            <a:srgbClr val="14141E"/>
          </a:solidFill>
          <a:ln w="12700">
            <a:solidFill>
              <a:srgbClr val="1C1C29"/>
            </a:solidFill>
            <a:prstDash val="solid"/>
          </a:ln>
        </p:spPr>
      </p:sp>
      <p:sp>
        <p:nvSpPr>
          <p:cNvPr id="9" name="Text 6"/>
          <p:cNvSpPr txBox="1"/>
          <p:nvPr/>
        </p:nvSpPr>
        <p:spPr>
          <a:xfrm>
            <a:off x="6629400" y="2148840"/>
            <a:ext cx="4754880" cy="365760"/>
          </a:xfrm>
          <a:prstGeom prst="rect">
            <a:avLst/>
          </a:prstGeom>
          <a:noFill/>
          <a:ln/>
        </p:spPr>
        <p:txBody>
          <a:bodyPr wrap="square" lIns="0" tIns="0" rIns="0" bIns="0" rtlCol="0" anchor="ctr"/>
          <a:lstStyle/>
          <a:p>
            <a:pPr indent="0" marL="0">
              <a:buNone/>
            </a:pPr>
            <a:r>
              <a:rPr lang="en-US" sz="1900" b="1" dirty="0">
                <a:solidFill>
                  <a:srgbClr val="44E2CD"/>
                </a:solidFill>
                <a:latin typeface="Calibri" pitchFamily="34" charset="0"/>
                <a:ea typeface="Calibri" pitchFamily="34" charset="-122"/>
                <a:cs typeface="Calibri" pitchFamily="34" charset="-120"/>
              </a:rPr>
              <a:t>Financial education works too</a:t>
            </a:r>
            <a:endParaRPr lang="en-US" sz="1900" dirty="0"/>
          </a:p>
        </p:txBody>
      </p:sp>
      <p:sp>
        <p:nvSpPr>
          <p:cNvPr id="10" name="Text 7"/>
          <p:cNvSpPr txBox="1"/>
          <p:nvPr/>
        </p:nvSpPr>
        <p:spPr>
          <a:xfrm>
            <a:off x="6629400" y="2606040"/>
            <a:ext cx="4846320" cy="164592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E4E1ED"/>
                </a:solidFill>
                <a:latin typeface="Calibri" pitchFamily="34" charset="0"/>
                <a:ea typeface="Calibri" pitchFamily="34" charset="-122"/>
                <a:cs typeface="Calibri" pitchFamily="34" charset="-120"/>
              </a:rPr>
              <a:t>76 randomised trials, 160,000 people, real effects (Kaiser et al., 2022)</a:t>
            </a:r>
            <a:endParaRPr lang="en-US" sz="1400" dirty="0"/>
          </a:p>
          <a:p>
            <a:pPr marL="342900" indent="-342900">
              <a:spcAft>
                <a:spcPts val="900"/>
              </a:spcAft>
              <a:buSzPct val="100000"/>
              <a:buChar char="•"/>
            </a:pPr>
            <a:r>
              <a:rPr lang="en-US" sz="1400" dirty="0">
                <a:solidFill>
                  <a:srgbClr val="E4E1ED"/>
                </a:solidFill>
                <a:latin typeface="Calibri" pitchFamily="34" charset="0"/>
                <a:ea typeface="Calibri" pitchFamily="34" charset="-122"/>
                <a:cs typeface="Calibri" pitchFamily="34" charset="-120"/>
              </a:rPr>
              <a:t>Earlier null was about intervention quality, not education</a:t>
            </a:r>
            <a:endParaRPr lang="en-US" sz="1400" dirty="0"/>
          </a:p>
          <a:p>
            <a:pPr marL="342900" indent="-342900">
              <a:spcAft>
                <a:spcPts val="900"/>
              </a:spcAft>
              <a:buSzPct val="100000"/>
              <a:buChar char="•"/>
            </a:pPr>
            <a:r>
              <a:rPr lang="en-US" sz="1400" dirty="0">
                <a:solidFill>
                  <a:srgbClr val="E4E1ED"/>
                </a:solidFill>
                <a:latin typeface="Calibri" pitchFamily="34" charset="0"/>
                <a:ea typeface="Calibri" pitchFamily="34" charset="-122"/>
                <a:cs typeface="Calibri" pitchFamily="34" charset="-120"/>
              </a:rPr>
              <a:t>But every trial measures budgeting, saving and credit</a:t>
            </a:r>
            <a:endParaRPr lang="en-US" sz="1400" dirty="0"/>
          </a:p>
        </p:txBody>
      </p:sp>
      <p:sp>
        <p:nvSpPr>
          <p:cNvPr id="11" name="Shape 8"/>
          <p:cNvSpPr/>
          <p:nvPr/>
        </p:nvSpPr>
        <p:spPr>
          <a:xfrm>
            <a:off x="640080" y="4434840"/>
            <a:ext cx="11064240" cy="1645920"/>
          </a:xfrm>
          <a:prstGeom prst="roundRect">
            <a:avLst>
              <a:gd name="adj" fmla="val 4444"/>
            </a:avLst>
          </a:prstGeom>
          <a:solidFill>
            <a:srgbClr val="1C1C29"/>
          </a:solidFill>
          <a:ln w="12700">
            <a:solidFill>
              <a:srgbClr val="1C1C29"/>
            </a:solidFill>
            <a:prstDash val="solid"/>
          </a:ln>
        </p:spPr>
      </p:sp>
      <p:sp>
        <p:nvSpPr>
          <p:cNvPr id="12" name="Shape 9"/>
          <p:cNvSpPr/>
          <p:nvPr/>
        </p:nvSpPr>
        <p:spPr>
          <a:xfrm>
            <a:off x="1005840" y="5029200"/>
            <a:ext cx="411480" cy="411480"/>
          </a:xfrm>
          <a:prstGeom prst="ellipse">
            <a:avLst/>
          </a:prstGeom>
          <a:solidFill>
            <a:srgbClr val="050507"/>
          </a:solidFill>
          <a:ln w="25400">
            <a:solidFill>
              <a:srgbClr val="2DD4BF"/>
            </a:solidFill>
            <a:prstDash val="solid"/>
          </a:ln>
        </p:spPr>
      </p:sp>
      <p:sp>
        <p:nvSpPr>
          <p:cNvPr id="13" name="Shape 10"/>
          <p:cNvSpPr/>
          <p:nvPr/>
        </p:nvSpPr>
        <p:spPr>
          <a:xfrm>
            <a:off x="1141628" y="5164988"/>
            <a:ext cx="139903" cy="139903"/>
          </a:xfrm>
          <a:prstGeom prst="ellipse">
            <a:avLst/>
          </a:prstGeom>
          <a:solidFill>
            <a:srgbClr val="2DD4BF"/>
          </a:solidFill>
          <a:ln/>
        </p:spPr>
      </p:sp>
      <p:sp>
        <p:nvSpPr>
          <p:cNvPr id="14" name="Text 11"/>
          <p:cNvSpPr txBox="1"/>
          <p:nvPr/>
        </p:nvSpPr>
        <p:spPr>
          <a:xfrm>
            <a:off x="1691640" y="4572000"/>
            <a:ext cx="4572000" cy="365760"/>
          </a:xfrm>
          <a:prstGeom prst="rect">
            <a:avLst/>
          </a:prstGeom>
          <a:noFill/>
          <a:ln/>
        </p:spPr>
        <p:txBody>
          <a:bodyPr wrap="square" lIns="0" tIns="0" rIns="0" bIns="0" rtlCol="0" anchor="ctr"/>
          <a:lstStyle/>
          <a:p>
            <a:pPr indent="0" marL="0">
              <a:buNone/>
            </a:pPr>
            <a:r>
              <a:rPr lang="en-US" sz="2000" b="1" dirty="0">
                <a:solidFill>
                  <a:srgbClr val="E4E1ED"/>
                </a:solidFill>
                <a:latin typeface="Calibri" pitchFamily="34" charset="0"/>
                <a:ea typeface="Calibri" pitchFamily="34" charset="-122"/>
                <a:cs typeface="Calibri" pitchFamily="34" charset="-120"/>
              </a:rPr>
              <a:t>The gap</a:t>
            </a:r>
            <a:endParaRPr lang="en-US" sz="2000" dirty="0"/>
          </a:p>
        </p:txBody>
      </p:sp>
      <p:sp>
        <p:nvSpPr>
          <p:cNvPr id="15" name="Text 12"/>
          <p:cNvSpPr txBox="1"/>
          <p:nvPr/>
        </p:nvSpPr>
        <p:spPr>
          <a:xfrm>
            <a:off x="1691640" y="4956048"/>
            <a:ext cx="9692640" cy="1005840"/>
          </a:xfrm>
          <a:prstGeom prst="rect">
            <a:avLst/>
          </a:prstGeom>
          <a:noFill/>
          <a:ln/>
        </p:spPr>
        <p:txBody>
          <a:bodyPr wrap="square" lIns="0" tIns="0" rIns="0" bIns="0" rtlCol="0" anchor="ctr"/>
          <a:lstStyle/>
          <a:p>
            <a:pPr indent="0" marL="0">
              <a:buNone/>
            </a:pPr>
            <a:r>
              <a:rPr lang="en-US" sz="1400" dirty="0">
                <a:solidFill>
                  <a:srgbClr val="E4E1ED"/>
                </a:solidFill>
                <a:latin typeface="Calibri" pitchFamily="34" charset="0"/>
                <a:ea typeface="Calibri" pitchFamily="34" charset="-122"/>
                <a:cs typeface="Calibri" pitchFamily="34" charset="-120"/>
              </a:rPr>
              <a:t>Knowledge tracing is built on mathematics, language and programming datasets. About 240 records screened across seven databases, and this survey found no tutoring system applying a formal student model to trading education. Peer-reviewed evaluation of instruction in chart-based trading skills is essentially absent, even though a large industry sells it.</a:t>
            </a:r>
            <a:endParaRPr lang="en-US" sz="1400" dirty="0"/>
          </a:p>
        </p:txBody>
      </p:sp>
      <p:sp>
        <p:nvSpPr>
          <p:cNvPr id="16" name="Text 13"/>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17" name="Text 14"/>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Four questions</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Fixed at the progress report and not moved since</a:t>
            </a:r>
            <a:endParaRPr lang="en-US" sz="1700" dirty="0"/>
          </a:p>
        </p:txBody>
      </p:sp>
      <p:sp>
        <p:nvSpPr>
          <p:cNvPr id="5" name="Shape 2"/>
          <p:cNvSpPr/>
          <p:nvPr/>
        </p:nvSpPr>
        <p:spPr>
          <a:xfrm>
            <a:off x="640080" y="1965960"/>
            <a:ext cx="11064240" cy="896112"/>
          </a:xfrm>
          <a:prstGeom prst="roundRect">
            <a:avLst>
              <a:gd name="adj" fmla="val 8163"/>
            </a:avLst>
          </a:prstGeom>
          <a:solidFill>
            <a:srgbClr val="14141E"/>
          </a:solidFill>
          <a:ln w="12700">
            <a:solidFill>
              <a:srgbClr val="1C1C29"/>
            </a:solidFill>
            <a:prstDash val="solid"/>
          </a:ln>
        </p:spPr>
      </p:sp>
      <p:sp>
        <p:nvSpPr>
          <p:cNvPr id="6" name="Text 3"/>
          <p:cNvSpPr txBox="1"/>
          <p:nvPr/>
        </p:nvSpPr>
        <p:spPr>
          <a:xfrm>
            <a:off x="914400" y="1984248"/>
            <a:ext cx="822960" cy="859536"/>
          </a:xfrm>
          <a:prstGeom prst="rect">
            <a:avLst/>
          </a:prstGeom>
          <a:noFill/>
          <a:ln/>
        </p:spPr>
        <p:txBody>
          <a:bodyPr wrap="square" lIns="0" tIns="0" rIns="0" bIns="0" rtlCol="0" anchor="ctr"/>
          <a:lstStyle/>
          <a:p>
            <a:pPr indent="0" marL="0">
              <a:buNone/>
            </a:pPr>
            <a:r>
              <a:rPr lang="en-US" sz="2200" b="1" dirty="0">
                <a:solidFill>
                  <a:srgbClr val="44E2CD"/>
                </a:solidFill>
                <a:latin typeface="Calibri" pitchFamily="34" charset="0"/>
                <a:ea typeface="Calibri" pitchFamily="34" charset="-122"/>
                <a:cs typeface="Calibri" pitchFamily="34" charset="-120"/>
              </a:rPr>
              <a:t>RQ1</a:t>
            </a:r>
            <a:endParaRPr lang="en-US" sz="2200" dirty="0"/>
          </a:p>
        </p:txBody>
      </p:sp>
      <p:sp>
        <p:nvSpPr>
          <p:cNvPr id="7" name="Text 4"/>
          <p:cNvSpPr txBox="1"/>
          <p:nvPr/>
        </p:nvSpPr>
        <p:spPr>
          <a:xfrm>
            <a:off x="1828800" y="1984248"/>
            <a:ext cx="7680960" cy="859536"/>
          </a:xfrm>
          <a:prstGeom prst="rect">
            <a:avLst/>
          </a:prstGeom>
          <a:noFill/>
          <a:ln/>
        </p:spPr>
        <p:txBody>
          <a:bodyPr wrap="square" lIns="0" tIns="0" rIns="0" bIns="0" rtlCol="0" anchor="ctr"/>
          <a:lstStyle/>
          <a:p>
            <a:pPr indent="0" marL="0">
              <a:buNone/>
            </a:pPr>
            <a:r>
              <a:rPr lang="en-US" sz="1450" dirty="0">
                <a:solidFill>
                  <a:srgbClr val="E4E1ED"/>
                </a:solidFill>
                <a:latin typeface="Calibri" pitchFamily="34" charset="0"/>
                <a:ea typeface="Calibri" pitchFamily="34" charset="-122"/>
                <a:cs typeface="Calibri" pitchFamily="34" charset="-120"/>
              </a:rPr>
              <a:t>Can a trading curriculum be decomposed into knowledge components clean enough for BKT to trace, and does the engine behave as the design requires?</a:t>
            </a:r>
            <a:endParaRPr lang="en-US" sz="1450" dirty="0"/>
          </a:p>
        </p:txBody>
      </p:sp>
      <p:sp>
        <p:nvSpPr>
          <p:cNvPr id="8" name="Text 5"/>
          <p:cNvSpPr txBox="1"/>
          <p:nvPr/>
        </p:nvSpPr>
        <p:spPr>
          <a:xfrm>
            <a:off x="9601200" y="1984248"/>
            <a:ext cx="1828800" cy="859536"/>
          </a:xfrm>
          <a:prstGeom prst="rect">
            <a:avLst/>
          </a:prstGeom>
          <a:noFill/>
          <a:ln/>
        </p:spPr>
        <p:txBody>
          <a:bodyPr wrap="square" lIns="0" tIns="0" rIns="0" bIns="0" rtlCol="0" anchor="ctr"/>
          <a:lstStyle/>
          <a:p>
            <a:pPr algn="r" indent="0" marL="0">
              <a:buNone/>
            </a:pPr>
            <a:r>
              <a:rPr lang="en-US" sz="1300" b="1" dirty="0">
                <a:solidFill>
                  <a:srgbClr val="2DD4BF"/>
                </a:solidFill>
                <a:latin typeface="Calibri" pitchFamily="34" charset="0"/>
                <a:ea typeface="Calibri" pitchFamily="34" charset="-122"/>
                <a:cs typeface="Calibri" pitchFamily="34" charset="-120"/>
              </a:rPr>
              <a:t>Answered</a:t>
            </a:r>
            <a:endParaRPr lang="en-US" sz="1300" dirty="0"/>
          </a:p>
        </p:txBody>
      </p:sp>
      <p:sp>
        <p:nvSpPr>
          <p:cNvPr id="9" name="Shape 6"/>
          <p:cNvSpPr/>
          <p:nvPr/>
        </p:nvSpPr>
        <p:spPr>
          <a:xfrm>
            <a:off x="640080" y="2990088"/>
            <a:ext cx="11064240" cy="896112"/>
          </a:xfrm>
          <a:prstGeom prst="roundRect">
            <a:avLst>
              <a:gd name="adj" fmla="val 8163"/>
            </a:avLst>
          </a:prstGeom>
          <a:solidFill>
            <a:srgbClr val="14141E"/>
          </a:solidFill>
          <a:ln w="12700">
            <a:solidFill>
              <a:srgbClr val="1C1C29"/>
            </a:solidFill>
            <a:prstDash val="solid"/>
          </a:ln>
        </p:spPr>
      </p:sp>
      <p:sp>
        <p:nvSpPr>
          <p:cNvPr id="10" name="Text 7"/>
          <p:cNvSpPr txBox="1"/>
          <p:nvPr/>
        </p:nvSpPr>
        <p:spPr>
          <a:xfrm>
            <a:off x="914400" y="3008376"/>
            <a:ext cx="822960" cy="859536"/>
          </a:xfrm>
          <a:prstGeom prst="rect">
            <a:avLst/>
          </a:prstGeom>
          <a:noFill/>
          <a:ln/>
        </p:spPr>
        <p:txBody>
          <a:bodyPr wrap="square" lIns="0" tIns="0" rIns="0" bIns="0" rtlCol="0" anchor="ctr"/>
          <a:lstStyle/>
          <a:p>
            <a:pPr indent="0" marL="0">
              <a:buNone/>
            </a:pPr>
            <a:r>
              <a:rPr lang="en-US" sz="2200" b="1" dirty="0">
                <a:solidFill>
                  <a:srgbClr val="44E2CD"/>
                </a:solidFill>
                <a:latin typeface="Calibri" pitchFamily="34" charset="0"/>
                <a:ea typeface="Calibri" pitchFamily="34" charset="-122"/>
                <a:cs typeface="Calibri" pitchFamily="34" charset="-120"/>
              </a:rPr>
              <a:t>RQ2</a:t>
            </a:r>
            <a:endParaRPr lang="en-US" sz="2200" dirty="0"/>
          </a:p>
        </p:txBody>
      </p:sp>
      <p:sp>
        <p:nvSpPr>
          <p:cNvPr id="11" name="Text 8"/>
          <p:cNvSpPr txBox="1"/>
          <p:nvPr/>
        </p:nvSpPr>
        <p:spPr>
          <a:xfrm>
            <a:off x="1828800" y="3008376"/>
            <a:ext cx="7680960" cy="859536"/>
          </a:xfrm>
          <a:prstGeom prst="rect">
            <a:avLst/>
          </a:prstGeom>
          <a:noFill/>
          <a:ln/>
        </p:spPr>
        <p:txBody>
          <a:bodyPr wrap="square" lIns="0" tIns="0" rIns="0" bIns="0" rtlCol="0" anchor="ctr"/>
          <a:lstStyle/>
          <a:p>
            <a:pPr indent="0" marL="0">
              <a:buNone/>
            </a:pPr>
            <a:r>
              <a:rPr lang="en-US" sz="1450" dirty="0">
                <a:solidFill>
                  <a:srgbClr val="E4E1ED"/>
                </a:solidFill>
                <a:latin typeface="Calibri" pitchFamily="34" charset="0"/>
                <a:ea typeface="Calibri" pitchFamily="34" charset="-122"/>
                <a:cs typeface="Calibri" pitchFamily="34" charset="-120"/>
              </a:rPr>
              <a:t>Can a BKT-driven routing policy run a complete adaptive loop end to end, while recording the data a learning-gain study would need?</a:t>
            </a:r>
            <a:endParaRPr lang="en-US" sz="1450" dirty="0"/>
          </a:p>
        </p:txBody>
      </p:sp>
      <p:sp>
        <p:nvSpPr>
          <p:cNvPr id="12" name="Text 9"/>
          <p:cNvSpPr txBox="1"/>
          <p:nvPr/>
        </p:nvSpPr>
        <p:spPr>
          <a:xfrm>
            <a:off x="9601200" y="3008376"/>
            <a:ext cx="1828800" cy="859536"/>
          </a:xfrm>
          <a:prstGeom prst="rect">
            <a:avLst/>
          </a:prstGeom>
          <a:noFill/>
          <a:ln/>
        </p:spPr>
        <p:txBody>
          <a:bodyPr wrap="square" lIns="0" tIns="0" rIns="0" bIns="0" rtlCol="0" anchor="ctr"/>
          <a:lstStyle/>
          <a:p>
            <a:pPr algn="r" indent="0" marL="0">
              <a:buNone/>
            </a:pPr>
            <a:r>
              <a:rPr lang="en-US" sz="1300" b="1" dirty="0">
                <a:solidFill>
                  <a:srgbClr val="F0B25C"/>
                </a:solidFill>
                <a:latin typeface="Calibri" pitchFamily="34" charset="0"/>
                <a:ea typeface="Calibri" pitchFamily="34" charset="-122"/>
                <a:cs typeface="Calibri" pitchFamily="34" charset="-120"/>
              </a:rPr>
              <a:t>Answered, narrowed</a:t>
            </a:r>
            <a:endParaRPr lang="en-US" sz="1300" dirty="0"/>
          </a:p>
        </p:txBody>
      </p:sp>
      <p:sp>
        <p:nvSpPr>
          <p:cNvPr id="13" name="Shape 10"/>
          <p:cNvSpPr/>
          <p:nvPr/>
        </p:nvSpPr>
        <p:spPr>
          <a:xfrm>
            <a:off x="640080" y="4014216"/>
            <a:ext cx="11064240" cy="896112"/>
          </a:xfrm>
          <a:prstGeom prst="roundRect">
            <a:avLst>
              <a:gd name="adj" fmla="val 8163"/>
            </a:avLst>
          </a:prstGeom>
          <a:solidFill>
            <a:srgbClr val="14141E"/>
          </a:solidFill>
          <a:ln w="12700">
            <a:solidFill>
              <a:srgbClr val="1C1C29"/>
            </a:solidFill>
            <a:prstDash val="solid"/>
          </a:ln>
        </p:spPr>
      </p:sp>
      <p:sp>
        <p:nvSpPr>
          <p:cNvPr id="14" name="Text 11"/>
          <p:cNvSpPr txBox="1"/>
          <p:nvPr/>
        </p:nvSpPr>
        <p:spPr>
          <a:xfrm>
            <a:off x="914400" y="4032504"/>
            <a:ext cx="822960" cy="859536"/>
          </a:xfrm>
          <a:prstGeom prst="rect">
            <a:avLst/>
          </a:prstGeom>
          <a:noFill/>
          <a:ln/>
        </p:spPr>
        <p:txBody>
          <a:bodyPr wrap="square" lIns="0" tIns="0" rIns="0" bIns="0" rtlCol="0" anchor="ctr"/>
          <a:lstStyle/>
          <a:p>
            <a:pPr indent="0" marL="0">
              <a:buNone/>
            </a:pPr>
            <a:r>
              <a:rPr lang="en-US" sz="2200" b="1" dirty="0">
                <a:solidFill>
                  <a:srgbClr val="44E2CD"/>
                </a:solidFill>
                <a:latin typeface="Calibri" pitchFamily="34" charset="0"/>
                <a:ea typeface="Calibri" pitchFamily="34" charset="-122"/>
                <a:cs typeface="Calibri" pitchFamily="34" charset="-120"/>
              </a:rPr>
              <a:t>RQ3</a:t>
            </a:r>
            <a:endParaRPr lang="en-US" sz="2200" dirty="0"/>
          </a:p>
        </p:txBody>
      </p:sp>
      <p:sp>
        <p:nvSpPr>
          <p:cNvPr id="15" name="Text 12"/>
          <p:cNvSpPr txBox="1"/>
          <p:nvPr/>
        </p:nvSpPr>
        <p:spPr>
          <a:xfrm>
            <a:off x="1828800" y="4032504"/>
            <a:ext cx="7680960" cy="859536"/>
          </a:xfrm>
          <a:prstGeom prst="rect">
            <a:avLst/>
          </a:prstGeom>
          <a:noFill/>
          <a:ln/>
        </p:spPr>
        <p:txBody>
          <a:bodyPr wrap="square" lIns="0" tIns="0" rIns="0" bIns="0" rtlCol="0" anchor="ctr"/>
          <a:lstStyle/>
          <a:p>
            <a:pPr indent="0" marL="0">
              <a:buNone/>
            </a:pPr>
            <a:r>
              <a:rPr lang="en-US" sz="1450" dirty="0">
                <a:solidFill>
                  <a:srgbClr val="E4E1ED"/>
                </a:solidFill>
                <a:latin typeface="Calibri" pitchFamily="34" charset="0"/>
                <a:ea typeface="Calibri" pitchFamily="34" charset="-122"/>
                <a:cs typeface="Calibri" pitchFamily="34" charset="-120"/>
              </a:rPr>
              <a:t>Can the learner see and understand the model that is making decisions about them?</a:t>
            </a:r>
            <a:endParaRPr lang="en-US" sz="1450" dirty="0"/>
          </a:p>
        </p:txBody>
      </p:sp>
      <p:sp>
        <p:nvSpPr>
          <p:cNvPr id="16" name="Text 13"/>
          <p:cNvSpPr txBox="1"/>
          <p:nvPr/>
        </p:nvSpPr>
        <p:spPr>
          <a:xfrm>
            <a:off x="9601200" y="4032504"/>
            <a:ext cx="1828800" cy="859536"/>
          </a:xfrm>
          <a:prstGeom prst="rect">
            <a:avLst/>
          </a:prstGeom>
          <a:noFill/>
          <a:ln/>
        </p:spPr>
        <p:txBody>
          <a:bodyPr wrap="square" lIns="0" tIns="0" rIns="0" bIns="0" rtlCol="0" anchor="ctr"/>
          <a:lstStyle/>
          <a:p>
            <a:pPr algn="r" indent="0" marL="0">
              <a:buNone/>
            </a:pPr>
            <a:r>
              <a:rPr lang="en-US" sz="1300" b="1" dirty="0">
                <a:solidFill>
                  <a:srgbClr val="2DD4BF"/>
                </a:solidFill>
                <a:latin typeface="Calibri" pitchFamily="34" charset="0"/>
                <a:ea typeface="Calibri" pitchFamily="34" charset="-122"/>
                <a:cs typeface="Calibri" pitchFamily="34" charset="-120"/>
              </a:rPr>
              <a:t>Answered on design</a:t>
            </a:r>
            <a:endParaRPr lang="en-US" sz="1300" dirty="0"/>
          </a:p>
        </p:txBody>
      </p:sp>
      <p:sp>
        <p:nvSpPr>
          <p:cNvPr id="17" name="Shape 14"/>
          <p:cNvSpPr/>
          <p:nvPr/>
        </p:nvSpPr>
        <p:spPr>
          <a:xfrm>
            <a:off x="640080" y="5038344"/>
            <a:ext cx="11064240" cy="896112"/>
          </a:xfrm>
          <a:prstGeom prst="roundRect">
            <a:avLst>
              <a:gd name="adj" fmla="val 8163"/>
            </a:avLst>
          </a:prstGeom>
          <a:solidFill>
            <a:srgbClr val="14141E"/>
          </a:solidFill>
          <a:ln w="12700">
            <a:solidFill>
              <a:srgbClr val="1C1C29"/>
            </a:solidFill>
            <a:prstDash val="solid"/>
          </a:ln>
        </p:spPr>
      </p:sp>
      <p:sp>
        <p:nvSpPr>
          <p:cNvPr id="18" name="Text 15"/>
          <p:cNvSpPr txBox="1"/>
          <p:nvPr/>
        </p:nvSpPr>
        <p:spPr>
          <a:xfrm>
            <a:off x="914400" y="5056632"/>
            <a:ext cx="822960" cy="859536"/>
          </a:xfrm>
          <a:prstGeom prst="rect">
            <a:avLst/>
          </a:prstGeom>
          <a:noFill/>
          <a:ln/>
        </p:spPr>
        <p:txBody>
          <a:bodyPr wrap="square" lIns="0" tIns="0" rIns="0" bIns="0" rtlCol="0" anchor="ctr"/>
          <a:lstStyle/>
          <a:p>
            <a:pPr indent="0" marL="0">
              <a:buNone/>
            </a:pPr>
            <a:r>
              <a:rPr lang="en-US" sz="2200" b="1" dirty="0">
                <a:solidFill>
                  <a:srgbClr val="44E2CD"/>
                </a:solidFill>
                <a:latin typeface="Calibri" pitchFamily="34" charset="0"/>
                <a:ea typeface="Calibri" pitchFamily="34" charset="-122"/>
                <a:cs typeface="Calibri" pitchFamily="34" charset="-120"/>
              </a:rPr>
              <a:t>RQ4</a:t>
            </a:r>
            <a:endParaRPr lang="en-US" sz="2200" dirty="0"/>
          </a:p>
        </p:txBody>
      </p:sp>
      <p:sp>
        <p:nvSpPr>
          <p:cNvPr id="19" name="Text 16"/>
          <p:cNvSpPr txBox="1"/>
          <p:nvPr/>
        </p:nvSpPr>
        <p:spPr>
          <a:xfrm>
            <a:off x="1828800" y="5056632"/>
            <a:ext cx="7680960" cy="859536"/>
          </a:xfrm>
          <a:prstGeom prst="rect">
            <a:avLst/>
          </a:prstGeom>
          <a:noFill/>
          <a:ln/>
        </p:spPr>
        <p:txBody>
          <a:bodyPr wrap="square" lIns="0" tIns="0" rIns="0" bIns="0" rtlCol="0" anchor="ctr"/>
          <a:lstStyle/>
          <a:p>
            <a:pPr indent="0" marL="0">
              <a:buNone/>
            </a:pPr>
            <a:r>
              <a:rPr lang="en-US" sz="1450" dirty="0">
                <a:solidFill>
                  <a:srgbClr val="E4E1ED"/>
                </a:solidFill>
                <a:latin typeface="Calibri" pitchFamily="34" charset="0"/>
                <a:ea typeface="Calibri" pitchFamily="34" charset="-122"/>
                <a:cs typeface="Calibri" pitchFamily="34" charset="-120"/>
              </a:rPr>
              <a:t>What constraints does the regulatory and ethical context impose, and can they be built in without degrading the experience?</a:t>
            </a:r>
            <a:endParaRPr lang="en-US" sz="1450" dirty="0"/>
          </a:p>
        </p:txBody>
      </p:sp>
      <p:sp>
        <p:nvSpPr>
          <p:cNvPr id="20" name="Text 17"/>
          <p:cNvSpPr txBox="1"/>
          <p:nvPr/>
        </p:nvSpPr>
        <p:spPr>
          <a:xfrm>
            <a:off x="9601200" y="5056632"/>
            <a:ext cx="1828800" cy="859536"/>
          </a:xfrm>
          <a:prstGeom prst="rect">
            <a:avLst/>
          </a:prstGeom>
          <a:noFill/>
          <a:ln/>
        </p:spPr>
        <p:txBody>
          <a:bodyPr wrap="square" lIns="0" tIns="0" rIns="0" bIns="0" rtlCol="0" anchor="ctr"/>
          <a:lstStyle/>
          <a:p>
            <a:pPr algn="r" indent="0" marL="0">
              <a:buNone/>
            </a:pPr>
            <a:r>
              <a:rPr lang="en-US" sz="1300" b="1" dirty="0">
                <a:solidFill>
                  <a:srgbClr val="2DD4BF"/>
                </a:solidFill>
                <a:latin typeface="Calibri" pitchFamily="34" charset="0"/>
                <a:ea typeface="Calibri" pitchFamily="34" charset="-122"/>
                <a:cs typeface="Calibri" pitchFamily="34" charset="-120"/>
              </a:rPr>
              <a:t>Answered</a:t>
            </a:r>
            <a:endParaRPr lang="en-US" sz="1300" dirty="0"/>
          </a:p>
        </p:txBody>
      </p:sp>
      <p:sp>
        <p:nvSpPr>
          <p:cNvPr id="21" name="Text 18"/>
          <p:cNvSpPr txBox="1"/>
          <p:nvPr/>
        </p:nvSpPr>
        <p:spPr>
          <a:xfrm>
            <a:off x="640080" y="6172200"/>
            <a:ext cx="11064240" cy="365760"/>
          </a:xfrm>
          <a:prstGeom prst="rect">
            <a:avLst/>
          </a:prstGeom>
          <a:noFill/>
          <a:ln/>
        </p:spPr>
        <p:txBody>
          <a:bodyPr wrap="square" lIns="0" tIns="0" rIns="0" bIns="0" rtlCol="0" anchor="ctr"/>
          <a:lstStyle/>
          <a:p>
            <a:pPr indent="0" marL="0">
              <a:buNone/>
            </a:pPr>
            <a:r>
              <a:rPr lang="en-US" sz="1300" i="1" dirty="0">
                <a:solidFill>
                  <a:srgbClr val="9A9AB4"/>
                </a:solidFill>
                <a:latin typeface="Calibri" pitchFamily="34" charset="0"/>
                <a:ea typeface="Calibri" pitchFamily="34" charset="-122"/>
                <a:cs typeface="Calibri" pitchFamily="34" charset="-120"/>
              </a:rPr>
              <a:t>The learning-gain half of RQ2 needed participants. It is the one thing this project did not deliver, and slide 17 says exactly why.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What was built</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A deployed web application, not a prototype</a:t>
            </a:r>
            <a:endParaRPr lang="en-US" sz="1700" dirty="0"/>
          </a:p>
        </p:txBody>
      </p:sp>
      <p:sp>
        <p:nvSpPr>
          <p:cNvPr id="5" name="Text 2"/>
          <p:cNvSpPr txBox="1"/>
          <p:nvPr/>
        </p:nvSpPr>
        <p:spPr>
          <a:xfrm>
            <a:off x="640080" y="2011680"/>
            <a:ext cx="2103120" cy="868680"/>
          </a:xfrm>
          <a:prstGeom prst="rect">
            <a:avLst/>
          </a:prstGeom>
          <a:noFill/>
          <a:ln/>
        </p:spPr>
        <p:txBody>
          <a:bodyPr wrap="square" lIns="0" tIns="0" rIns="0" bIns="0" rtlCol="0" anchor="b"/>
          <a:lstStyle/>
          <a:p>
            <a:pPr indent="0" marL="0">
              <a:buNone/>
            </a:pPr>
            <a:r>
              <a:rPr lang="en-US" sz="5200" b="1" dirty="0">
                <a:solidFill>
                  <a:srgbClr val="44E2CD"/>
                </a:solidFill>
                <a:latin typeface="Calibri" pitchFamily="34" charset="0"/>
                <a:ea typeface="Calibri" pitchFamily="34" charset="-122"/>
                <a:cs typeface="Calibri" pitchFamily="34" charset="-120"/>
              </a:rPr>
              <a:t>16</a:t>
            </a:r>
            <a:endParaRPr lang="en-US" sz="5200" dirty="0"/>
          </a:p>
        </p:txBody>
      </p:sp>
      <p:sp>
        <p:nvSpPr>
          <p:cNvPr id="6" name="Text 3"/>
          <p:cNvSpPr txBox="1"/>
          <p:nvPr/>
        </p:nvSpPr>
        <p:spPr>
          <a:xfrm>
            <a:off x="640080" y="2926080"/>
            <a:ext cx="2103120" cy="685800"/>
          </a:xfrm>
          <a:prstGeom prst="rect">
            <a:avLst/>
          </a:prstGeom>
          <a:noFill/>
          <a:ln/>
        </p:spPr>
        <p:txBody>
          <a:bodyPr wrap="square" lIns="0" tIns="0" rIns="0" bIns="0" rtlCol="0" anchor="t"/>
          <a:lstStyle/>
          <a:p>
            <a:pPr indent="0" marL="0">
              <a:buNone/>
            </a:pPr>
            <a:r>
              <a:rPr lang="en-US" sz="1400" dirty="0">
                <a:solidFill>
                  <a:srgbClr val="9A9AB4"/>
                </a:solidFill>
                <a:latin typeface="Calibri" pitchFamily="34" charset="0"/>
                <a:ea typeface="Calibri" pitchFamily="34" charset="-122"/>
                <a:cs typeface="Calibri" pitchFamily="34" charset="-120"/>
              </a:rPr>
              <a:t>modules in a strict</a:t>
            </a:r>
            <a:endParaRPr lang="en-US" sz="1400" dirty="0"/>
          </a:p>
          <a:p>
            <a:pPr indent="0" marL="0">
              <a:buNone/>
            </a:pPr>
            <a:r>
              <a:rPr lang="en-US" sz="1400" dirty="0">
                <a:solidFill>
                  <a:srgbClr val="9A9AB4"/>
                </a:solidFill>
                <a:latin typeface="Calibri" pitchFamily="34" charset="0"/>
                <a:ea typeface="Calibri" pitchFamily="34" charset="-122"/>
                <a:cs typeface="Calibri" pitchFamily="34" charset="-120"/>
              </a:rPr>
              <a:t>prerequisite chain</a:t>
            </a:r>
            <a:endParaRPr lang="en-US" sz="1400" dirty="0"/>
          </a:p>
        </p:txBody>
      </p:sp>
      <p:sp>
        <p:nvSpPr>
          <p:cNvPr id="7" name="Text 4"/>
          <p:cNvSpPr txBox="1"/>
          <p:nvPr/>
        </p:nvSpPr>
        <p:spPr>
          <a:xfrm>
            <a:off x="2880360" y="2011680"/>
            <a:ext cx="2103120" cy="868680"/>
          </a:xfrm>
          <a:prstGeom prst="rect">
            <a:avLst/>
          </a:prstGeom>
          <a:noFill/>
          <a:ln/>
        </p:spPr>
        <p:txBody>
          <a:bodyPr wrap="square" lIns="0" tIns="0" rIns="0" bIns="0" rtlCol="0" anchor="b"/>
          <a:lstStyle/>
          <a:p>
            <a:pPr indent="0" marL="0">
              <a:buNone/>
            </a:pPr>
            <a:r>
              <a:rPr lang="en-US" sz="5200" b="1" dirty="0">
                <a:solidFill>
                  <a:srgbClr val="44E2CD"/>
                </a:solidFill>
                <a:latin typeface="Calibri" pitchFamily="34" charset="0"/>
                <a:ea typeface="Calibri" pitchFamily="34" charset="-122"/>
                <a:cs typeface="Calibri" pitchFamily="34" charset="-120"/>
              </a:rPr>
              <a:t>66</a:t>
            </a:r>
            <a:endParaRPr lang="en-US" sz="5200" dirty="0"/>
          </a:p>
        </p:txBody>
      </p:sp>
      <p:sp>
        <p:nvSpPr>
          <p:cNvPr id="8" name="Text 5"/>
          <p:cNvSpPr txBox="1"/>
          <p:nvPr/>
        </p:nvSpPr>
        <p:spPr>
          <a:xfrm>
            <a:off x="2880360" y="2926080"/>
            <a:ext cx="2103120" cy="685800"/>
          </a:xfrm>
          <a:prstGeom prst="rect">
            <a:avLst/>
          </a:prstGeom>
          <a:noFill/>
          <a:ln/>
        </p:spPr>
        <p:txBody>
          <a:bodyPr wrap="square" lIns="0" tIns="0" rIns="0" bIns="0" rtlCol="0" anchor="t"/>
          <a:lstStyle/>
          <a:p>
            <a:pPr indent="0" marL="0">
              <a:buNone/>
            </a:pPr>
            <a:r>
              <a:rPr lang="en-US" sz="1400" dirty="0">
                <a:solidFill>
                  <a:srgbClr val="9A9AB4"/>
                </a:solidFill>
                <a:latin typeface="Calibri" pitchFamily="34" charset="0"/>
                <a:ea typeface="Calibri" pitchFamily="34" charset="-122"/>
                <a:cs typeface="Calibri" pitchFamily="34" charset="-120"/>
              </a:rPr>
              <a:t>lessons, 33 with a</a:t>
            </a:r>
            <a:endParaRPr lang="en-US" sz="1400" dirty="0"/>
          </a:p>
          <a:p>
            <a:pPr indent="0" marL="0">
              <a:buNone/>
            </a:pPr>
            <a:r>
              <a:rPr lang="en-US" sz="1400" dirty="0">
                <a:solidFill>
                  <a:srgbClr val="9A9AB4"/>
                </a:solidFill>
                <a:latin typeface="Calibri" pitchFamily="34" charset="0"/>
                <a:ea typeface="Calibri" pitchFamily="34" charset="-122"/>
                <a:cs typeface="Calibri" pitchFamily="34" charset="-120"/>
              </a:rPr>
              <a:t>recorded walkthrough</a:t>
            </a:r>
            <a:endParaRPr lang="en-US" sz="1400" dirty="0"/>
          </a:p>
        </p:txBody>
      </p:sp>
      <p:sp>
        <p:nvSpPr>
          <p:cNvPr id="9" name="Text 6"/>
          <p:cNvSpPr txBox="1"/>
          <p:nvPr/>
        </p:nvSpPr>
        <p:spPr>
          <a:xfrm>
            <a:off x="5120640" y="2011680"/>
            <a:ext cx="2103120" cy="868680"/>
          </a:xfrm>
          <a:prstGeom prst="rect">
            <a:avLst/>
          </a:prstGeom>
          <a:noFill/>
          <a:ln/>
        </p:spPr>
        <p:txBody>
          <a:bodyPr wrap="square" lIns="0" tIns="0" rIns="0" bIns="0" rtlCol="0" anchor="b"/>
          <a:lstStyle/>
          <a:p>
            <a:pPr indent="0" marL="0">
              <a:buNone/>
            </a:pPr>
            <a:r>
              <a:rPr lang="en-US" sz="5200" b="1" dirty="0">
                <a:solidFill>
                  <a:srgbClr val="44E2CD"/>
                </a:solidFill>
                <a:latin typeface="Calibri" pitchFamily="34" charset="0"/>
                <a:ea typeface="Calibri" pitchFamily="34" charset="-122"/>
                <a:cs typeface="Calibri" pitchFamily="34" charset="-120"/>
              </a:rPr>
              <a:t>116</a:t>
            </a:r>
            <a:endParaRPr lang="en-US" sz="5200" dirty="0"/>
          </a:p>
        </p:txBody>
      </p:sp>
      <p:sp>
        <p:nvSpPr>
          <p:cNvPr id="10" name="Text 7"/>
          <p:cNvSpPr txBox="1"/>
          <p:nvPr/>
        </p:nvSpPr>
        <p:spPr>
          <a:xfrm>
            <a:off x="5120640" y="2926080"/>
            <a:ext cx="2103120" cy="685800"/>
          </a:xfrm>
          <a:prstGeom prst="rect">
            <a:avLst/>
          </a:prstGeom>
          <a:noFill/>
          <a:ln/>
        </p:spPr>
        <p:txBody>
          <a:bodyPr wrap="square" lIns="0" tIns="0" rIns="0" bIns="0" rtlCol="0" anchor="t"/>
          <a:lstStyle/>
          <a:p>
            <a:pPr indent="0" marL="0">
              <a:buNone/>
            </a:pPr>
            <a:r>
              <a:rPr lang="en-US" sz="1400" dirty="0">
                <a:solidFill>
                  <a:srgbClr val="9A9AB4"/>
                </a:solidFill>
                <a:latin typeface="Calibri" pitchFamily="34" charset="0"/>
                <a:ea typeface="Calibri" pitchFamily="34" charset="-122"/>
                <a:cs typeface="Calibri" pitchFamily="34" charset="-120"/>
              </a:rPr>
              <a:t>assessment items across</a:t>
            </a:r>
            <a:endParaRPr lang="en-US" sz="1400" dirty="0"/>
          </a:p>
          <a:p>
            <a:pPr indent="0" marL="0">
              <a:buNone/>
            </a:pPr>
            <a:r>
              <a:rPr lang="en-US" sz="1400" dirty="0">
                <a:solidFill>
                  <a:srgbClr val="9A9AB4"/>
                </a:solidFill>
                <a:latin typeface="Calibri" pitchFamily="34" charset="0"/>
                <a:ea typeface="Calibri" pitchFamily="34" charset="-122"/>
                <a:cs typeface="Calibri" pitchFamily="34" charset="-120"/>
              </a:rPr>
              <a:t>six question types</a:t>
            </a:r>
            <a:endParaRPr lang="en-US" sz="1400" dirty="0"/>
          </a:p>
        </p:txBody>
      </p:sp>
      <p:sp>
        <p:nvSpPr>
          <p:cNvPr id="11" name="Text 8"/>
          <p:cNvSpPr txBox="1"/>
          <p:nvPr/>
        </p:nvSpPr>
        <p:spPr>
          <a:xfrm>
            <a:off x="640080" y="3794760"/>
            <a:ext cx="2103120" cy="868680"/>
          </a:xfrm>
          <a:prstGeom prst="rect">
            <a:avLst/>
          </a:prstGeom>
          <a:noFill/>
          <a:ln/>
        </p:spPr>
        <p:txBody>
          <a:bodyPr wrap="square" lIns="0" tIns="0" rIns="0" bIns="0" rtlCol="0" anchor="b"/>
          <a:lstStyle/>
          <a:p>
            <a:pPr indent="0" marL="0">
              <a:buNone/>
            </a:pPr>
            <a:r>
              <a:rPr lang="en-US" sz="5200" b="1" dirty="0">
                <a:solidFill>
                  <a:srgbClr val="44E2CD"/>
                </a:solidFill>
                <a:latin typeface="Calibri" pitchFamily="34" charset="0"/>
                <a:ea typeface="Calibri" pitchFamily="34" charset="-122"/>
                <a:cs typeface="Calibri" pitchFamily="34" charset="-120"/>
              </a:rPr>
              <a:t>48</a:t>
            </a:r>
            <a:endParaRPr lang="en-US" sz="5200" dirty="0"/>
          </a:p>
        </p:txBody>
      </p:sp>
      <p:sp>
        <p:nvSpPr>
          <p:cNvPr id="12" name="Text 9"/>
          <p:cNvSpPr txBox="1"/>
          <p:nvPr/>
        </p:nvSpPr>
        <p:spPr>
          <a:xfrm>
            <a:off x="640080" y="4709160"/>
            <a:ext cx="2103120" cy="685800"/>
          </a:xfrm>
          <a:prstGeom prst="rect">
            <a:avLst/>
          </a:prstGeom>
          <a:noFill/>
          <a:ln/>
        </p:spPr>
        <p:txBody>
          <a:bodyPr wrap="square" lIns="0" tIns="0" rIns="0" bIns="0" rtlCol="0" anchor="t"/>
          <a:lstStyle/>
          <a:p>
            <a:pPr indent="0" marL="0">
              <a:buNone/>
            </a:pPr>
            <a:r>
              <a:rPr lang="en-US" sz="1400" dirty="0">
                <a:solidFill>
                  <a:srgbClr val="9A9AB4"/>
                </a:solidFill>
                <a:latin typeface="Calibri" pitchFamily="34" charset="0"/>
                <a:ea typeface="Calibri" pitchFamily="34" charset="-122"/>
                <a:cs typeface="Calibri" pitchFamily="34" charset="-120"/>
              </a:rPr>
              <a:t>stepped chart</a:t>
            </a:r>
            <a:endParaRPr lang="en-US" sz="1400" dirty="0"/>
          </a:p>
          <a:p>
            <a:pPr indent="0" marL="0">
              <a:buNone/>
            </a:pPr>
            <a:r>
              <a:rPr lang="en-US" sz="1400" dirty="0">
                <a:solidFill>
                  <a:srgbClr val="9A9AB4"/>
                </a:solidFill>
                <a:latin typeface="Calibri" pitchFamily="34" charset="0"/>
                <a:ea typeface="Calibri" pitchFamily="34" charset="-122"/>
                <a:cs typeface="Calibri" pitchFamily="34" charset="-120"/>
              </a:rPr>
              <a:t>walkthroughs</a:t>
            </a:r>
            <a:endParaRPr lang="en-US" sz="1400" dirty="0"/>
          </a:p>
        </p:txBody>
      </p:sp>
      <p:sp>
        <p:nvSpPr>
          <p:cNvPr id="13" name="Text 10"/>
          <p:cNvSpPr txBox="1"/>
          <p:nvPr/>
        </p:nvSpPr>
        <p:spPr>
          <a:xfrm>
            <a:off x="2880360" y="3794760"/>
            <a:ext cx="2103120" cy="868680"/>
          </a:xfrm>
          <a:prstGeom prst="rect">
            <a:avLst/>
          </a:prstGeom>
          <a:noFill/>
          <a:ln/>
        </p:spPr>
        <p:txBody>
          <a:bodyPr wrap="square" lIns="0" tIns="0" rIns="0" bIns="0" rtlCol="0" anchor="b"/>
          <a:lstStyle/>
          <a:p>
            <a:pPr indent="0" marL="0">
              <a:buNone/>
            </a:pPr>
            <a:r>
              <a:rPr lang="en-US" sz="5200" b="1" dirty="0">
                <a:solidFill>
                  <a:srgbClr val="44E2CD"/>
                </a:solidFill>
                <a:latin typeface="Calibri" pitchFamily="34" charset="0"/>
                <a:ea typeface="Calibri" pitchFamily="34" charset="-122"/>
                <a:cs typeface="Calibri" pitchFamily="34" charset="-120"/>
              </a:rPr>
              <a:t>16</a:t>
            </a:r>
            <a:endParaRPr lang="en-US" sz="5200" dirty="0"/>
          </a:p>
        </p:txBody>
      </p:sp>
      <p:sp>
        <p:nvSpPr>
          <p:cNvPr id="14" name="Text 11"/>
          <p:cNvSpPr txBox="1"/>
          <p:nvPr/>
        </p:nvSpPr>
        <p:spPr>
          <a:xfrm>
            <a:off x="2880360" y="4709160"/>
            <a:ext cx="2103120" cy="685800"/>
          </a:xfrm>
          <a:prstGeom prst="rect">
            <a:avLst/>
          </a:prstGeom>
          <a:noFill/>
          <a:ln/>
        </p:spPr>
        <p:txBody>
          <a:bodyPr wrap="square" lIns="0" tIns="0" rIns="0" bIns="0" rtlCol="0" anchor="t"/>
          <a:lstStyle/>
          <a:p>
            <a:pPr indent="0" marL="0">
              <a:buNone/>
            </a:pPr>
            <a:r>
              <a:rPr lang="en-US" sz="1400" dirty="0">
                <a:solidFill>
                  <a:srgbClr val="9A9AB4"/>
                </a:solidFill>
                <a:latin typeface="Calibri" pitchFamily="34" charset="0"/>
                <a:ea typeface="Calibri" pitchFamily="34" charset="-122"/>
                <a:cs typeface="Calibri" pitchFamily="34" charset="-120"/>
              </a:rPr>
              <a:t>real historical case</a:t>
            </a:r>
            <a:endParaRPr lang="en-US" sz="1400" dirty="0"/>
          </a:p>
          <a:p>
            <a:pPr indent="0" marL="0">
              <a:buNone/>
            </a:pPr>
            <a:r>
              <a:rPr lang="en-US" sz="1400" dirty="0">
                <a:solidFill>
                  <a:srgbClr val="9A9AB4"/>
                </a:solidFill>
                <a:latin typeface="Calibri" pitchFamily="34" charset="0"/>
                <a:ea typeface="Calibri" pitchFamily="34" charset="-122"/>
                <a:cs typeface="Calibri" pitchFamily="34" charset="-120"/>
              </a:rPr>
              <a:t>studies, found by code</a:t>
            </a:r>
            <a:endParaRPr lang="en-US" sz="1400" dirty="0"/>
          </a:p>
        </p:txBody>
      </p:sp>
      <p:sp>
        <p:nvSpPr>
          <p:cNvPr id="15" name="Text 12"/>
          <p:cNvSpPr txBox="1"/>
          <p:nvPr/>
        </p:nvSpPr>
        <p:spPr>
          <a:xfrm>
            <a:off x="5120640" y="3794760"/>
            <a:ext cx="2103120" cy="868680"/>
          </a:xfrm>
          <a:prstGeom prst="rect">
            <a:avLst/>
          </a:prstGeom>
          <a:noFill/>
          <a:ln/>
        </p:spPr>
        <p:txBody>
          <a:bodyPr wrap="square" lIns="0" tIns="0" rIns="0" bIns="0" rtlCol="0" anchor="b"/>
          <a:lstStyle/>
          <a:p>
            <a:pPr indent="0" marL="0">
              <a:buNone/>
            </a:pPr>
            <a:r>
              <a:rPr lang="en-US" sz="5200" b="1" dirty="0">
                <a:solidFill>
                  <a:srgbClr val="44E2CD"/>
                </a:solidFill>
                <a:latin typeface="Calibri" pitchFamily="34" charset="0"/>
                <a:ea typeface="Calibri" pitchFamily="34" charset="-122"/>
                <a:cs typeface="Calibri" pitchFamily="34" charset="-120"/>
              </a:rPr>
              <a:t>19</a:t>
            </a:r>
            <a:endParaRPr lang="en-US" sz="5200" dirty="0"/>
          </a:p>
        </p:txBody>
      </p:sp>
      <p:sp>
        <p:nvSpPr>
          <p:cNvPr id="16" name="Text 13"/>
          <p:cNvSpPr txBox="1"/>
          <p:nvPr/>
        </p:nvSpPr>
        <p:spPr>
          <a:xfrm>
            <a:off x="5120640" y="4709160"/>
            <a:ext cx="2103120" cy="685800"/>
          </a:xfrm>
          <a:prstGeom prst="rect">
            <a:avLst/>
          </a:prstGeom>
          <a:noFill/>
          <a:ln/>
        </p:spPr>
        <p:txBody>
          <a:bodyPr wrap="square" lIns="0" tIns="0" rIns="0" bIns="0" rtlCol="0" anchor="t"/>
          <a:lstStyle/>
          <a:p>
            <a:pPr indent="0" marL="0">
              <a:buNone/>
            </a:pPr>
            <a:r>
              <a:rPr lang="en-US" sz="1400" dirty="0">
                <a:solidFill>
                  <a:srgbClr val="9A9AB4"/>
                </a:solidFill>
                <a:latin typeface="Calibri" pitchFamily="34" charset="0"/>
                <a:ea typeface="Calibri" pitchFamily="34" charset="-122"/>
                <a:cs typeface="Calibri" pitchFamily="34" charset="-120"/>
              </a:rPr>
              <a:t>routes, 25,700 lines</a:t>
            </a:r>
            <a:endParaRPr lang="en-US" sz="1400" dirty="0"/>
          </a:p>
          <a:p>
            <a:pPr indent="0" marL="0">
              <a:buNone/>
            </a:pPr>
            <a:r>
              <a:rPr lang="en-US" sz="1400" dirty="0">
                <a:solidFill>
                  <a:srgbClr val="9A9AB4"/>
                </a:solidFill>
                <a:latin typeface="Calibri" pitchFamily="34" charset="0"/>
                <a:ea typeface="Calibri" pitchFamily="34" charset="-122"/>
                <a:cs typeface="Calibri" pitchFamily="34" charset="-120"/>
              </a:rPr>
              <a:t>of TypeScript</a:t>
            </a:r>
            <a:endParaRPr lang="en-US" sz="1400" dirty="0"/>
          </a:p>
        </p:txBody>
      </p:sp>
      <p:pic>
        <p:nvPicPr>
          <p:cNvPr id="17" name="Image 0" descr="img/06-dashboard.jpg">    </p:cNvPr>
          <p:cNvPicPr>
            <a:picLocks noChangeAspect="1"/>
          </p:cNvPicPr>
          <p:nvPr/>
        </p:nvPicPr>
        <p:blipFill>
          <a:blip r:embed="rId1"/>
          <a:stretch>
            <a:fillRect/>
          </a:stretch>
        </p:blipFill>
        <p:spPr>
          <a:xfrm>
            <a:off x="7589520" y="1920240"/>
            <a:ext cx="4114800" cy="2572207"/>
          </a:xfrm>
          <a:prstGeom prst="rect">
            <a:avLst/>
          </a:prstGeom>
        </p:spPr>
      </p:pic>
      <p:sp>
        <p:nvSpPr>
          <p:cNvPr id="18" name="Text 14"/>
          <p:cNvSpPr txBox="1"/>
          <p:nvPr/>
        </p:nvSpPr>
        <p:spPr>
          <a:xfrm>
            <a:off x="7589520" y="4572000"/>
            <a:ext cx="4114800" cy="548640"/>
          </a:xfrm>
          <a:prstGeom prst="rect">
            <a:avLst/>
          </a:prstGeom>
          <a:noFill/>
          <a:ln/>
        </p:spPr>
        <p:txBody>
          <a:bodyPr wrap="square" lIns="0" tIns="0" rIns="0" bIns="0" rtlCol="0" anchor="ctr"/>
          <a:lstStyle/>
          <a:p>
            <a:pPr indent="0" marL="0">
              <a:buNone/>
            </a:pPr>
            <a:r>
              <a:rPr lang="en-US" sz="1150" dirty="0">
                <a:solidFill>
                  <a:srgbClr val="9A9AB4"/>
                </a:solidFill>
                <a:latin typeface="Calibri" pitchFamily="34" charset="0"/>
                <a:ea typeface="Calibri" pitchFamily="34" charset="-122"/>
                <a:cs typeface="Calibri" pitchFamily="34" charset="-120"/>
              </a:rPr>
              <a:t>The dashboard: the routed next action, and the learner model as an object you can look at</a:t>
            </a:r>
            <a:endParaRPr lang="en-US" sz="1150" dirty="0"/>
          </a:p>
        </p:txBody>
      </p:sp>
      <p:sp>
        <p:nvSpPr>
          <p:cNvPr id="19" name="Text 15"/>
          <p:cNvSpPr txBox="1"/>
          <p:nvPr/>
        </p:nvSpPr>
        <p:spPr>
          <a:xfrm>
            <a:off x="640080" y="5669280"/>
            <a:ext cx="6766560" cy="365760"/>
          </a:xfrm>
          <a:prstGeom prst="rect">
            <a:avLst/>
          </a:prstGeom>
          <a:noFill/>
          <a:ln/>
        </p:spPr>
        <p:txBody>
          <a:bodyPr wrap="square" lIns="0" tIns="0" rIns="0" bIns="0" rtlCol="0" anchor="ctr"/>
          <a:lstStyle/>
          <a:p>
            <a:pPr indent="0" marL="0">
              <a:buNone/>
            </a:pPr>
            <a:r>
              <a:rPr lang="en-US" sz="1400" dirty="0">
                <a:solidFill>
                  <a:srgbClr val="44E2CD"/>
                </a:solidFill>
                <a:latin typeface="Calibri" pitchFamily="34" charset="0"/>
                <a:ea typeface="Calibri" pitchFamily="34" charset="-122"/>
                <a:cs typeface="Calibri" pitchFamily="34" charset="-120"/>
              </a:rPr>
              <a:t>Live at tmacademyuk.vercel.app, against the real database.</a:t>
            </a:r>
            <a:endParaRPr lang="en-US" sz="1400" dirty="0"/>
          </a:p>
        </p:txBody>
      </p:sp>
      <p:sp>
        <p:nvSpPr>
          <p:cNvPr id="20" name="Text 16"/>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21" name="Text 17"/>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Six components, one loop</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Following the classic ITS architecture, with two hard boundaries</a:t>
            </a:r>
            <a:endParaRPr lang="en-US" sz="1700" dirty="0"/>
          </a:p>
        </p:txBody>
      </p:sp>
      <p:sp>
        <p:nvSpPr>
          <p:cNvPr id="5" name="Shape 2"/>
          <p:cNvSpPr/>
          <p:nvPr/>
        </p:nvSpPr>
        <p:spPr>
          <a:xfrm>
            <a:off x="640080" y="2148840"/>
            <a:ext cx="1965960" cy="1371600"/>
          </a:xfrm>
          <a:prstGeom prst="roundRect">
            <a:avLst>
              <a:gd name="adj" fmla="val 5333"/>
            </a:avLst>
          </a:prstGeom>
          <a:solidFill>
            <a:srgbClr val="14141E"/>
          </a:solidFill>
          <a:ln w="12700">
            <a:solidFill>
              <a:srgbClr val="1C1C29"/>
            </a:solidFill>
            <a:prstDash val="solid"/>
          </a:ln>
        </p:spPr>
      </p:sp>
      <p:sp>
        <p:nvSpPr>
          <p:cNvPr id="6" name="Text 3"/>
          <p:cNvSpPr txBox="1"/>
          <p:nvPr/>
        </p:nvSpPr>
        <p:spPr>
          <a:xfrm>
            <a:off x="777240" y="2331720"/>
            <a:ext cx="1691640" cy="411480"/>
          </a:xfrm>
          <a:prstGeom prst="rect">
            <a:avLst/>
          </a:prstGeom>
          <a:noFill/>
          <a:ln/>
        </p:spPr>
        <p:txBody>
          <a:bodyPr wrap="square" lIns="0" tIns="0" rIns="0" bIns="0" rtlCol="0" anchor="ctr"/>
          <a:lstStyle/>
          <a:p>
            <a:pPr indent="0" marL="0">
              <a:buNone/>
            </a:pPr>
            <a:r>
              <a:rPr lang="en-US" sz="1450" b="1" dirty="0">
                <a:solidFill>
                  <a:srgbClr val="E4E1ED"/>
                </a:solidFill>
                <a:latin typeface="Calibri" pitchFamily="34" charset="0"/>
                <a:ea typeface="Calibri" pitchFamily="34" charset="-122"/>
                <a:cs typeface="Calibri" pitchFamily="34" charset="-120"/>
              </a:rPr>
              <a:t>Content layer</a:t>
            </a:r>
            <a:endParaRPr lang="en-US" sz="1450" dirty="0"/>
          </a:p>
        </p:txBody>
      </p:sp>
      <p:sp>
        <p:nvSpPr>
          <p:cNvPr id="7" name="Text 4"/>
          <p:cNvSpPr txBox="1"/>
          <p:nvPr/>
        </p:nvSpPr>
        <p:spPr>
          <a:xfrm>
            <a:off x="777240" y="2761488"/>
            <a:ext cx="1691640" cy="640080"/>
          </a:xfrm>
          <a:prstGeom prst="rect">
            <a:avLst/>
          </a:prstGeom>
          <a:noFill/>
          <a:ln/>
        </p:spPr>
        <p:txBody>
          <a:bodyPr wrap="square" lIns="0" tIns="0" rIns="0" bIns="0" rtlCol="0" anchor="ctr"/>
          <a:lstStyle/>
          <a:p>
            <a:pPr indent="0" marL="0">
              <a:buNone/>
            </a:pPr>
            <a:r>
              <a:rPr lang="en-US" sz="1200" dirty="0">
                <a:solidFill>
                  <a:srgbClr val="9A9AB4"/>
                </a:solidFill>
                <a:latin typeface="Calibri" pitchFamily="34" charset="0"/>
                <a:ea typeface="Calibri" pitchFamily="34" charset="-122"/>
                <a:cs typeface="Calibri" pitchFamily="34" charset="-120"/>
              </a:rPr>
              <a:t>Lessons and items</a:t>
            </a:r>
            <a:endParaRPr lang="en-US" sz="1200" dirty="0"/>
          </a:p>
        </p:txBody>
      </p:sp>
      <p:sp>
        <p:nvSpPr>
          <p:cNvPr id="8" name="Shape 5"/>
          <p:cNvSpPr/>
          <p:nvPr/>
        </p:nvSpPr>
        <p:spPr>
          <a:xfrm>
            <a:off x="2651760" y="2724912"/>
            <a:ext cx="182880" cy="219456"/>
          </a:xfrm>
          <a:prstGeom prst="rightArrow">
            <a:avLst/>
          </a:prstGeom>
          <a:solidFill>
            <a:srgbClr val="3A3A52"/>
          </a:solidFill>
          <a:ln/>
        </p:spPr>
      </p:sp>
      <p:sp>
        <p:nvSpPr>
          <p:cNvPr id="9" name="Shape 6"/>
          <p:cNvSpPr/>
          <p:nvPr/>
        </p:nvSpPr>
        <p:spPr>
          <a:xfrm>
            <a:off x="2880360" y="2148840"/>
            <a:ext cx="1965960" cy="1371600"/>
          </a:xfrm>
          <a:prstGeom prst="roundRect">
            <a:avLst>
              <a:gd name="adj" fmla="val 5333"/>
            </a:avLst>
          </a:prstGeom>
          <a:solidFill>
            <a:srgbClr val="14141E"/>
          </a:solidFill>
          <a:ln w="12700">
            <a:solidFill>
              <a:srgbClr val="1C1C29"/>
            </a:solidFill>
            <a:prstDash val="solid"/>
          </a:ln>
        </p:spPr>
      </p:sp>
      <p:sp>
        <p:nvSpPr>
          <p:cNvPr id="10" name="Text 7"/>
          <p:cNvSpPr txBox="1"/>
          <p:nvPr/>
        </p:nvSpPr>
        <p:spPr>
          <a:xfrm>
            <a:off x="3017520" y="2331720"/>
            <a:ext cx="1691640" cy="411480"/>
          </a:xfrm>
          <a:prstGeom prst="rect">
            <a:avLst/>
          </a:prstGeom>
          <a:noFill/>
          <a:ln/>
        </p:spPr>
        <p:txBody>
          <a:bodyPr wrap="square" lIns="0" tIns="0" rIns="0" bIns="0" rtlCol="0" anchor="ctr"/>
          <a:lstStyle/>
          <a:p>
            <a:pPr indent="0" marL="0">
              <a:buNone/>
            </a:pPr>
            <a:r>
              <a:rPr lang="en-US" sz="1450" b="1" dirty="0">
                <a:solidFill>
                  <a:srgbClr val="E4E1ED"/>
                </a:solidFill>
                <a:latin typeface="Calibri" pitchFamily="34" charset="0"/>
                <a:ea typeface="Calibri" pitchFamily="34" charset="-122"/>
                <a:cs typeface="Calibri" pitchFamily="34" charset="-120"/>
              </a:rPr>
              <a:t>Assessment engine</a:t>
            </a:r>
            <a:endParaRPr lang="en-US" sz="1450" dirty="0"/>
          </a:p>
        </p:txBody>
      </p:sp>
      <p:sp>
        <p:nvSpPr>
          <p:cNvPr id="11" name="Text 8"/>
          <p:cNvSpPr txBox="1"/>
          <p:nvPr/>
        </p:nvSpPr>
        <p:spPr>
          <a:xfrm>
            <a:off x="3017520" y="2761488"/>
            <a:ext cx="1691640" cy="640080"/>
          </a:xfrm>
          <a:prstGeom prst="rect">
            <a:avLst/>
          </a:prstGeom>
          <a:noFill/>
          <a:ln/>
        </p:spPr>
        <p:txBody>
          <a:bodyPr wrap="square" lIns="0" tIns="0" rIns="0" bIns="0" rtlCol="0" anchor="ctr"/>
          <a:lstStyle/>
          <a:p>
            <a:pPr indent="0" marL="0">
              <a:buNone/>
            </a:pPr>
            <a:r>
              <a:rPr lang="en-US" sz="1200" dirty="0">
                <a:solidFill>
                  <a:srgbClr val="9A9AB4"/>
                </a:solidFill>
                <a:latin typeface="Calibri" pitchFamily="34" charset="0"/>
                <a:ea typeface="Calibri" pitchFamily="34" charset="-122"/>
                <a:cs typeface="Calibri" pitchFamily="34" charset="-120"/>
              </a:rPr>
              <a:t>Serves and grades</a:t>
            </a:r>
            <a:endParaRPr lang="en-US" sz="1200" dirty="0"/>
          </a:p>
        </p:txBody>
      </p:sp>
      <p:sp>
        <p:nvSpPr>
          <p:cNvPr id="12" name="Shape 9"/>
          <p:cNvSpPr/>
          <p:nvPr/>
        </p:nvSpPr>
        <p:spPr>
          <a:xfrm>
            <a:off x="4892040" y="2724912"/>
            <a:ext cx="182880" cy="219456"/>
          </a:xfrm>
          <a:prstGeom prst="rightArrow">
            <a:avLst/>
          </a:prstGeom>
          <a:solidFill>
            <a:srgbClr val="3A3A52"/>
          </a:solidFill>
          <a:ln/>
        </p:spPr>
      </p:sp>
      <p:sp>
        <p:nvSpPr>
          <p:cNvPr id="13" name="Shape 10"/>
          <p:cNvSpPr/>
          <p:nvPr/>
        </p:nvSpPr>
        <p:spPr>
          <a:xfrm>
            <a:off x="5120640" y="2148840"/>
            <a:ext cx="1965960" cy="1371600"/>
          </a:xfrm>
          <a:prstGeom prst="roundRect">
            <a:avLst>
              <a:gd name="adj" fmla="val 5333"/>
            </a:avLst>
          </a:prstGeom>
          <a:solidFill>
            <a:srgbClr val="1C1C29"/>
          </a:solidFill>
          <a:ln w="12700">
            <a:solidFill>
              <a:srgbClr val="1C1C29"/>
            </a:solidFill>
            <a:prstDash val="solid"/>
          </a:ln>
        </p:spPr>
      </p:sp>
      <p:sp>
        <p:nvSpPr>
          <p:cNvPr id="14" name="Text 11"/>
          <p:cNvSpPr txBox="1"/>
          <p:nvPr/>
        </p:nvSpPr>
        <p:spPr>
          <a:xfrm>
            <a:off x="5257800" y="2331720"/>
            <a:ext cx="1691640" cy="411480"/>
          </a:xfrm>
          <a:prstGeom prst="rect">
            <a:avLst/>
          </a:prstGeom>
          <a:noFill/>
          <a:ln/>
        </p:spPr>
        <p:txBody>
          <a:bodyPr wrap="square" lIns="0" tIns="0" rIns="0" bIns="0" rtlCol="0" anchor="ctr"/>
          <a:lstStyle/>
          <a:p>
            <a:pPr indent="0" marL="0">
              <a:buNone/>
            </a:pPr>
            <a:r>
              <a:rPr lang="en-US" sz="1450" b="1" dirty="0">
                <a:solidFill>
                  <a:srgbClr val="44E2CD"/>
                </a:solidFill>
                <a:latin typeface="Calibri" pitchFamily="34" charset="0"/>
                <a:ea typeface="Calibri" pitchFamily="34" charset="-122"/>
                <a:cs typeface="Calibri" pitchFamily="34" charset="-120"/>
              </a:rPr>
              <a:t>Student model</a:t>
            </a:r>
            <a:endParaRPr lang="en-US" sz="1450" dirty="0"/>
          </a:p>
        </p:txBody>
      </p:sp>
      <p:sp>
        <p:nvSpPr>
          <p:cNvPr id="15" name="Text 12"/>
          <p:cNvSpPr txBox="1"/>
          <p:nvPr/>
        </p:nvSpPr>
        <p:spPr>
          <a:xfrm>
            <a:off x="5257800" y="2761488"/>
            <a:ext cx="1691640" cy="640080"/>
          </a:xfrm>
          <a:prstGeom prst="rect">
            <a:avLst/>
          </a:prstGeom>
          <a:noFill/>
          <a:ln/>
        </p:spPr>
        <p:txBody>
          <a:bodyPr wrap="square" lIns="0" tIns="0" rIns="0" bIns="0" rtlCol="0" anchor="ctr"/>
          <a:lstStyle/>
          <a:p>
            <a:pPr indent="0" marL="0">
              <a:buNone/>
            </a:pPr>
            <a:r>
              <a:rPr lang="en-US" sz="1200" dirty="0">
                <a:solidFill>
                  <a:srgbClr val="9A9AB4"/>
                </a:solidFill>
                <a:latin typeface="Calibri" pitchFamily="34" charset="0"/>
                <a:ea typeface="Calibri" pitchFamily="34" charset="-122"/>
                <a:cs typeface="Calibri" pitchFamily="34" charset="-120"/>
              </a:rPr>
              <a:t>BKT, per concept</a:t>
            </a:r>
            <a:endParaRPr lang="en-US" sz="1200" dirty="0"/>
          </a:p>
        </p:txBody>
      </p:sp>
      <p:sp>
        <p:nvSpPr>
          <p:cNvPr id="16" name="Shape 13"/>
          <p:cNvSpPr/>
          <p:nvPr/>
        </p:nvSpPr>
        <p:spPr>
          <a:xfrm>
            <a:off x="7132320" y="2724912"/>
            <a:ext cx="182880" cy="219456"/>
          </a:xfrm>
          <a:prstGeom prst="rightArrow">
            <a:avLst/>
          </a:prstGeom>
          <a:solidFill>
            <a:srgbClr val="3A3A52"/>
          </a:solidFill>
          <a:ln/>
        </p:spPr>
      </p:sp>
      <p:sp>
        <p:nvSpPr>
          <p:cNvPr id="17" name="Shape 14"/>
          <p:cNvSpPr/>
          <p:nvPr/>
        </p:nvSpPr>
        <p:spPr>
          <a:xfrm>
            <a:off x="7360920" y="2148840"/>
            <a:ext cx="1965960" cy="1371600"/>
          </a:xfrm>
          <a:prstGeom prst="roundRect">
            <a:avLst>
              <a:gd name="adj" fmla="val 5333"/>
            </a:avLst>
          </a:prstGeom>
          <a:solidFill>
            <a:srgbClr val="1C1C29"/>
          </a:solidFill>
          <a:ln w="12700">
            <a:solidFill>
              <a:srgbClr val="1C1C29"/>
            </a:solidFill>
            <a:prstDash val="solid"/>
          </a:ln>
        </p:spPr>
      </p:sp>
      <p:sp>
        <p:nvSpPr>
          <p:cNvPr id="18" name="Text 15"/>
          <p:cNvSpPr txBox="1"/>
          <p:nvPr/>
        </p:nvSpPr>
        <p:spPr>
          <a:xfrm>
            <a:off x="7498080" y="2331720"/>
            <a:ext cx="1691640" cy="411480"/>
          </a:xfrm>
          <a:prstGeom prst="rect">
            <a:avLst/>
          </a:prstGeom>
          <a:noFill/>
          <a:ln/>
        </p:spPr>
        <p:txBody>
          <a:bodyPr wrap="square" lIns="0" tIns="0" rIns="0" bIns="0" rtlCol="0" anchor="ctr"/>
          <a:lstStyle/>
          <a:p>
            <a:pPr indent="0" marL="0">
              <a:buNone/>
            </a:pPr>
            <a:r>
              <a:rPr lang="en-US" sz="1450" b="1" dirty="0">
                <a:solidFill>
                  <a:srgbClr val="44E2CD"/>
                </a:solidFill>
                <a:latin typeface="Calibri" pitchFamily="34" charset="0"/>
                <a:ea typeface="Calibri" pitchFamily="34" charset="-122"/>
                <a:cs typeface="Calibri" pitchFamily="34" charset="-120"/>
              </a:rPr>
              <a:t>Control layer</a:t>
            </a:r>
            <a:endParaRPr lang="en-US" sz="1450" dirty="0"/>
          </a:p>
        </p:txBody>
      </p:sp>
      <p:sp>
        <p:nvSpPr>
          <p:cNvPr id="19" name="Text 16"/>
          <p:cNvSpPr txBox="1"/>
          <p:nvPr/>
        </p:nvSpPr>
        <p:spPr>
          <a:xfrm>
            <a:off x="7498080" y="2761488"/>
            <a:ext cx="1691640" cy="640080"/>
          </a:xfrm>
          <a:prstGeom prst="rect">
            <a:avLst/>
          </a:prstGeom>
          <a:noFill/>
          <a:ln/>
        </p:spPr>
        <p:txBody>
          <a:bodyPr wrap="square" lIns="0" tIns="0" rIns="0" bIns="0" rtlCol="0" anchor="ctr"/>
          <a:lstStyle/>
          <a:p>
            <a:pPr indent="0" marL="0">
              <a:buNone/>
            </a:pPr>
            <a:r>
              <a:rPr lang="en-US" sz="1200" dirty="0">
                <a:solidFill>
                  <a:srgbClr val="9A9AB4"/>
                </a:solidFill>
                <a:latin typeface="Calibri" pitchFamily="34" charset="0"/>
                <a:ea typeface="Calibri" pitchFamily="34" charset="-122"/>
                <a:cs typeface="Calibri" pitchFamily="34" charset="-120"/>
              </a:rPr>
              <a:t>Routing rules</a:t>
            </a:r>
            <a:endParaRPr lang="en-US" sz="1200" dirty="0"/>
          </a:p>
        </p:txBody>
      </p:sp>
      <p:sp>
        <p:nvSpPr>
          <p:cNvPr id="20" name="Shape 17"/>
          <p:cNvSpPr/>
          <p:nvPr/>
        </p:nvSpPr>
        <p:spPr>
          <a:xfrm>
            <a:off x="9372600" y="2724912"/>
            <a:ext cx="182880" cy="219456"/>
          </a:xfrm>
          <a:prstGeom prst="rightArrow">
            <a:avLst/>
          </a:prstGeom>
          <a:solidFill>
            <a:srgbClr val="3A3A52"/>
          </a:solidFill>
          <a:ln/>
        </p:spPr>
      </p:sp>
      <p:sp>
        <p:nvSpPr>
          <p:cNvPr id="21" name="Shape 18"/>
          <p:cNvSpPr/>
          <p:nvPr/>
        </p:nvSpPr>
        <p:spPr>
          <a:xfrm>
            <a:off x="9601200" y="2148840"/>
            <a:ext cx="1965960" cy="1371600"/>
          </a:xfrm>
          <a:prstGeom prst="roundRect">
            <a:avLst>
              <a:gd name="adj" fmla="val 5333"/>
            </a:avLst>
          </a:prstGeom>
          <a:solidFill>
            <a:srgbClr val="14141E"/>
          </a:solidFill>
          <a:ln w="12700">
            <a:solidFill>
              <a:srgbClr val="1C1C29"/>
            </a:solidFill>
            <a:prstDash val="solid"/>
          </a:ln>
        </p:spPr>
      </p:sp>
      <p:sp>
        <p:nvSpPr>
          <p:cNvPr id="22" name="Text 19"/>
          <p:cNvSpPr txBox="1"/>
          <p:nvPr/>
        </p:nvSpPr>
        <p:spPr>
          <a:xfrm>
            <a:off x="9738360" y="2331720"/>
            <a:ext cx="1691640" cy="411480"/>
          </a:xfrm>
          <a:prstGeom prst="rect">
            <a:avLst/>
          </a:prstGeom>
          <a:noFill/>
          <a:ln/>
        </p:spPr>
        <p:txBody>
          <a:bodyPr wrap="square" lIns="0" tIns="0" rIns="0" bIns="0" rtlCol="0" anchor="ctr"/>
          <a:lstStyle/>
          <a:p>
            <a:pPr indent="0" marL="0">
              <a:buNone/>
            </a:pPr>
            <a:r>
              <a:rPr lang="en-US" sz="1450" b="1" dirty="0">
                <a:solidFill>
                  <a:srgbClr val="E4E1ED"/>
                </a:solidFill>
                <a:latin typeface="Calibri" pitchFamily="34" charset="0"/>
                <a:ea typeface="Calibri" pitchFamily="34" charset="-122"/>
                <a:cs typeface="Calibri" pitchFamily="34" charset="-120"/>
              </a:rPr>
              <a:t>Progress interface</a:t>
            </a:r>
            <a:endParaRPr lang="en-US" sz="1450" dirty="0"/>
          </a:p>
        </p:txBody>
      </p:sp>
      <p:sp>
        <p:nvSpPr>
          <p:cNvPr id="23" name="Text 20"/>
          <p:cNvSpPr txBox="1"/>
          <p:nvPr/>
        </p:nvSpPr>
        <p:spPr>
          <a:xfrm>
            <a:off x="9738360" y="2761488"/>
            <a:ext cx="1691640" cy="640080"/>
          </a:xfrm>
          <a:prstGeom prst="rect">
            <a:avLst/>
          </a:prstGeom>
          <a:noFill/>
          <a:ln/>
        </p:spPr>
        <p:txBody>
          <a:bodyPr wrap="square" lIns="0" tIns="0" rIns="0" bIns="0" rtlCol="0" anchor="ctr"/>
          <a:lstStyle/>
          <a:p>
            <a:pPr indent="0" marL="0">
              <a:buNone/>
            </a:pPr>
            <a:r>
              <a:rPr lang="en-US" sz="1200" dirty="0">
                <a:solidFill>
                  <a:srgbClr val="9A9AB4"/>
                </a:solidFill>
                <a:latin typeface="Calibri" pitchFamily="34" charset="0"/>
                <a:ea typeface="Calibri" pitchFamily="34" charset="-122"/>
                <a:cs typeface="Calibri" pitchFamily="34" charset="-120"/>
              </a:rPr>
              <a:t>Shows the model</a:t>
            </a:r>
            <a:endParaRPr lang="en-US" sz="1200" dirty="0"/>
          </a:p>
        </p:txBody>
      </p:sp>
      <p:sp>
        <p:nvSpPr>
          <p:cNvPr id="24" name="Shape 21"/>
          <p:cNvSpPr/>
          <p:nvPr/>
        </p:nvSpPr>
        <p:spPr>
          <a:xfrm>
            <a:off x="640080" y="3931920"/>
            <a:ext cx="10972800" cy="777240"/>
          </a:xfrm>
          <a:prstGeom prst="roundRect">
            <a:avLst>
              <a:gd name="adj" fmla="val 9412"/>
            </a:avLst>
          </a:prstGeom>
          <a:solidFill>
            <a:srgbClr val="1C1C29"/>
          </a:solidFill>
          <a:ln w="12700">
            <a:solidFill>
              <a:srgbClr val="1C1C29"/>
            </a:solidFill>
            <a:prstDash val="solid"/>
          </a:ln>
        </p:spPr>
      </p:sp>
      <p:sp>
        <p:nvSpPr>
          <p:cNvPr id="25" name="Text 22"/>
          <p:cNvSpPr txBox="1"/>
          <p:nvPr/>
        </p:nvSpPr>
        <p:spPr>
          <a:xfrm>
            <a:off x="914400" y="3931920"/>
            <a:ext cx="10424160" cy="777240"/>
          </a:xfrm>
          <a:prstGeom prst="rect">
            <a:avLst/>
          </a:prstGeom>
          <a:noFill/>
          <a:ln/>
        </p:spPr>
        <p:txBody>
          <a:bodyPr wrap="square" lIns="0" tIns="0" rIns="0" bIns="0" rtlCol="0" anchor="ctr"/>
          <a:lstStyle/>
          <a:p>
            <a:pPr indent="0" marL="0">
              <a:buNone/>
            </a:pPr>
            <a:r>
              <a:rPr lang="en-US" sz="1450" dirty="0">
                <a:solidFill>
                  <a:srgbClr val="E4E1ED"/>
                </a:solidFill>
                <a:latin typeface="Calibri" pitchFamily="34" charset="0"/>
                <a:ea typeface="Calibri" pitchFamily="34" charset="-122"/>
                <a:cs typeface="Calibri" pitchFamily="34" charset="-120"/>
              </a:rPr>
              <a:t>Authentication and data layer  ·  accounts, mastery, sessions, and the append-only response log</a:t>
            </a:r>
            <a:endParaRPr lang="en-US" sz="1450" dirty="0"/>
          </a:p>
        </p:txBody>
      </p:sp>
      <p:sp>
        <p:nvSpPr>
          <p:cNvPr id="26" name="Shape 23"/>
          <p:cNvSpPr/>
          <p:nvPr/>
        </p:nvSpPr>
        <p:spPr>
          <a:xfrm>
            <a:off x="640080" y="5029200"/>
            <a:ext cx="5394960" cy="1051560"/>
          </a:xfrm>
          <a:prstGeom prst="roundRect">
            <a:avLst>
              <a:gd name="adj" fmla="val 6957"/>
            </a:avLst>
          </a:prstGeom>
          <a:solidFill>
            <a:srgbClr val="14141E"/>
          </a:solidFill>
          <a:ln w="12700">
            <a:solidFill>
              <a:srgbClr val="1C1C29"/>
            </a:solidFill>
            <a:prstDash val="solid"/>
          </a:ln>
        </p:spPr>
      </p:sp>
      <p:sp>
        <p:nvSpPr>
          <p:cNvPr id="27" name="Shape 24"/>
          <p:cNvSpPr/>
          <p:nvPr/>
        </p:nvSpPr>
        <p:spPr>
          <a:xfrm>
            <a:off x="960120" y="5367528"/>
            <a:ext cx="365760" cy="365760"/>
          </a:xfrm>
          <a:prstGeom prst="ellipse">
            <a:avLst/>
          </a:prstGeom>
          <a:solidFill>
            <a:srgbClr val="050507"/>
          </a:solidFill>
          <a:ln w="25400">
            <a:solidFill>
              <a:srgbClr val="2DD4BF"/>
            </a:solidFill>
            <a:prstDash val="solid"/>
          </a:ln>
        </p:spPr>
      </p:sp>
      <p:sp>
        <p:nvSpPr>
          <p:cNvPr id="28" name="Shape 25"/>
          <p:cNvSpPr/>
          <p:nvPr/>
        </p:nvSpPr>
        <p:spPr>
          <a:xfrm>
            <a:off x="1080821" y="5488229"/>
            <a:ext cx="124358" cy="124358"/>
          </a:xfrm>
          <a:prstGeom prst="ellipse">
            <a:avLst/>
          </a:prstGeom>
          <a:solidFill>
            <a:srgbClr val="2DD4BF"/>
          </a:solidFill>
          <a:ln/>
        </p:spPr>
      </p:sp>
      <p:sp>
        <p:nvSpPr>
          <p:cNvPr id="29" name="Text 26"/>
          <p:cNvSpPr txBox="1"/>
          <p:nvPr/>
        </p:nvSpPr>
        <p:spPr>
          <a:xfrm>
            <a:off x="1554480" y="5074920"/>
            <a:ext cx="4251960" cy="960120"/>
          </a:xfrm>
          <a:prstGeom prst="rect">
            <a:avLst/>
          </a:prstGeom>
          <a:noFill/>
          <a:ln/>
        </p:spPr>
        <p:txBody>
          <a:bodyPr wrap="square" lIns="0" tIns="0" rIns="0" bIns="0" rtlCol="0" anchor="ctr"/>
          <a:lstStyle/>
          <a:p>
            <a:pPr indent="0" marL="0">
              <a:buNone/>
            </a:pPr>
            <a:r>
              <a:rPr lang="en-US" sz="1300" dirty="0">
                <a:solidFill>
                  <a:srgbClr val="E4E1ED"/>
                </a:solidFill>
                <a:latin typeface="Calibri" pitchFamily="34" charset="0"/>
                <a:ea typeface="Calibri" pitchFamily="34" charset="-122"/>
                <a:cs typeface="Calibri" pitchFamily="34" charset="-120"/>
              </a:rPr>
              <a:t>The engine and the router import nothing. No framework, no database. Trivially testable, and portable if the platform changes.</a:t>
            </a:r>
            <a:endParaRPr lang="en-US" sz="1300" dirty="0"/>
          </a:p>
        </p:txBody>
      </p:sp>
      <p:sp>
        <p:nvSpPr>
          <p:cNvPr id="30" name="Shape 27"/>
          <p:cNvSpPr/>
          <p:nvPr/>
        </p:nvSpPr>
        <p:spPr>
          <a:xfrm>
            <a:off x="6309360" y="5029200"/>
            <a:ext cx="5303520" cy="1051560"/>
          </a:xfrm>
          <a:prstGeom prst="roundRect">
            <a:avLst>
              <a:gd name="adj" fmla="val 6957"/>
            </a:avLst>
          </a:prstGeom>
          <a:solidFill>
            <a:srgbClr val="14141E"/>
          </a:solidFill>
          <a:ln w="12700">
            <a:solidFill>
              <a:srgbClr val="1C1C29"/>
            </a:solidFill>
            <a:prstDash val="solid"/>
          </a:ln>
        </p:spPr>
      </p:sp>
      <p:sp>
        <p:nvSpPr>
          <p:cNvPr id="31" name="Shape 28"/>
          <p:cNvSpPr/>
          <p:nvPr/>
        </p:nvSpPr>
        <p:spPr>
          <a:xfrm>
            <a:off x="6629400" y="5367528"/>
            <a:ext cx="365760" cy="365760"/>
          </a:xfrm>
          <a:prstGeom prst="ellipse">
            <a:avLst/>
          </a:prstGeom>
          <a:solidFill>
            <a:srgbClr val="050507"/>
          </a:solidFill>
          <a:ln w="25400">
            <a:solidFill>
              <a:srgbClr val="2DD4BF"/>
            </a:solidFill>
            <a:prstDash val="solid"/>
          </a:ln>
        </p:spPr>
      </p:sp>
      <p:sp>
        <p:nvSpPr>
          <p:cNvPr id="32" name="Shape 29"/>
          <p:cNvSpPr/>
          <p:nvPr/>
        </p:nvSpPr>
        <p:spPr>
          <a:xfrm>
            <a:off x="6750101" y="5488229"/>
            <a:ext cx="124358" cy="124358"/>
          </a:xfrm>
          <a:prstGeom prst="ellipse">
            <a:avLst/>
          </a:prstGeom>
          <a:solidFill>
            <a:srgbClr val="2DD4BF"/>
          </a:solidFill>
          <a:ln/>
        </p:spPr>
      </p:sp>
      <p:sp>
        <p:nvSpPr>
          <p:cNvPr id="33" name="Text 30"/>
          <p:cNvSpPr txBox="1"/>
          <p:nvPr/>
        </p:nvSpPr>
        <p:spPr>
          <a:xfrm>
            <a:off x="7223760" y="5074920"/>
            <a:ext cx="4160520" cy="960120"/>
          </a:xfrm>
          <a:prstGeom prst="rect">
            <a:avLst/>
          </a:prstGeom>
          <a:noFill/>
          <a:ln/>
        </p:spPr>
        <p:txBody>
          <a:bodyPr wrap="square" lIns="0" tIns="0" rIns="0" bIns="0" rtlCol="0" anchor="ctr"/>
          <a:lstStyle/>
          <a:p>
            <a:pPr indent="0" marL="0">
              <a:buNone/>
            </a:pPr>
            <a:r>
              <a:rPr lang="en-US" sz="1300" dirty="0">
                <a:solidFill>
                  <a:srgbClr val="E4E1ED"/>
                </a:solidFill>
                <a:latin typeface="Calibri" pitchFamily="34" charset="0"/>
                <a:ea typeface="Calibri" pitchFamily="34" charset="-122"/>
                <a:cs typeface="Calibri" pitchFamily="34" charset="-120"/>
              </a:rPr>
              <a:t>One writer. The logger is the only path an answer takes to the database, so there is exactly one place to get the research log right.</a:t>
            </a:r>
            <a:endParaRPr lang="en-US" sz="1300" dirty="0"/>
          </a:p>
        </p:txBody>
      </p:sp>
      <p:sp>
        <p:nvSpPr>
          <p:cNvPr id="34" name="Text 31"/>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35" name="Text 32"/>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The engine</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Bayesian Knowledge Tracing (Corbett &amp; Anderson, 1994)</a:t>
            </a:r>
            <a:endParaRPr lang="en-US" sz="1700" dirty="0"/>
          </a:p>
        </p:txBody>
      </p:sp>
      <p:sp>
        <p:nvSpPr>
          <p:cNvPr id="5" name="Shape 2"/>
          <p:cNvSpPr/>
          <p:nvPr/>
        </p:nvSpPr>
        <p:spPr>
          <a:xfrm>
            <a:off x="640080" y="1920240"/>
            <a:ext cx="5852160" cy="2286000"/>
          </a:xfrm>
          <a:prstGeom prst="roundRect">
            <a:avLst>
              <a:gd name="adj" fmla="val 3200"/>
            </a:avLst>
          </a:prstGeom>
          <a:solidFill>
            <a:srgbClr val="14141E"/>
          </a:solidFill>
          <a:ln w="12700">
            <a:solidFill>
              <a:srgbClr val="1C1C29"/>
            </a:solidFill>
            <a:prstDash val="solid"/>
          </a:ln>
        </p:spPr>
      </p:sp>
      <p:sp>
        <p:nvSpPr>
          <p:cNvPr id="6" name="Text 3"/>
          <p:cNvSpPr txBox="1"/>
          <p:nvPr/>
        </p:nvSpPr>
        <p:spPr>
          <a:xfrm>
            <a:off x="914400" y="2103120"/>
            <a:ext cx="5303520" cy="320040"/>
          </a:xfrm>
          <a:prstGeom prst="rect">
            <a:avLst/>
          </a:prstGeom>
          <a:noFill/>
          <a:ln/>
        </p:spPr>
        <p:txBody>
          <a:bodyPr wrap="square" lIns="0" tIns="0" rIns="0" bIns="0" rtlCol="0" anchor="ctr"/>
          <a:lstStyle/>
          <a:p>
            <a:pPr indent="0" marL="0">
              <a:buNone/>
            </a:pPr>
            <a:r>
              <a:rPr lang="en-US" sz="1700" b="1" dirty="0">
                <a:solidFill>
                  <a:srgbClr val="44E2CD"/>
                </a:solidFill>
                <a:latin typeface="Calibri" pitchFamily="34" charset="0"/>
                <a:ea typeface="Calibri" pitchFamily="34" charset="-122"/>
                <a:cs typeface="Calibri" pitchFamily="34" charset="-120"/>
              </a:rPr>
              <a:t>The update</a:t>
            </a:r>
            <a:endParaRPr lang="en-US" sz="1700" dirty="0"/>
          </a:p>
        </p:txBody>
      </p:sp>
      <p:sp>
        <p:nvSpPr>
          <p:cNvPr id="7" name="Text 4"/>
          <p:cNvSpPr txBox="1"/>
          <p:nvPr/>
        </p:nvSpPr>
        <p:spPr>
          <a:xfrm>
            <a:off x="914400" y="2514600"/>
            <a:ext cx="5394960" cy="1463040"/>
          </a:xfrm>
          <a:prstGeom prst="rect">
            <a:avLst/>
          </a:prstGeom>
          <a:noFill/>
          <a:ln/>
        </p:spPr>
        <p:txBody>
          <a:bodyPr wrap="square" lIns="0" tIns="0" rIns="0" bIns="0" rtlCol="0" anchor="ctr"/>
          <a:lstStyle/>
          <a:p>
            <a:pPr indent="0" marL="0">
              <a:lnSpc>
                <a:spcPct val="150000"/>
              </a:lnSpc>
              <a:buNone/>
            </a:pPr>
            <a:r>
              <a:rPr lang="en-US" sz="1250" dirty="0">
                <a:solidFill>
                  <a:srgbClr val="E4E1ED"/>
                </a:solidFill>
                <a:latin typeface="Consolas" pitchFamily="34" charset="0"/>
                <a:ea typeface="Consolas" pitchFamily="34" charset="-122"/>
                <a:cs typeface="Consolas" pitchFamily="34" charset="-120"/>
              </a:rPr>
              <a:t>Correct:   P(L)(1 − S) / [ P(L)(1 − S) + (1 − P(L))G ]</a:t>
            </a:r>
            <a:endParaRPr lang="en-US" sz="1250" dirty="0"/>
          </a:p>
          <a:p>
            <a:pPr indent="0" marL="0">
              <a:lnSpc>
                <a:spcPct val="150000"/>
              </a:lnSpc>
              <a:buNone/>
            </a:pPr>
            <a:r>
              <a:rPr lang="en-US" sz="1250" dirty="0">
                <a:solidFill>
                  <a:srgbClr val="E4E1ED"/>
                </a:solidFill>
                <a:latin typeface="Consolas" pitchFamily="34" charset="0"/>
                <a:ea typeface="Consolas" pitchFamily="34" charset="-122"/>
                <a:cs typeface="Consolas" pitchFamily="34" charset="-120"/>
              </a:rPr>
              <a:t>Wrong:     P(L)S / [ P(L)S + (1 − P(L))(1 − G) ]</a:t>
            </a:r>
            <a:endParaRPr lang="en-US" sz="1250" dirty="0"/>
          </a:p>
          <a:p>
            <a:pPr indent="0" marL="0">
              <a:lnSpc>
                <a:spcPct val="150000"/>
              </a:lnSpc>
              <a:buNone/>
            </a:pPr>
            <a:r>
              <a:rPr lang="en-US" sz="1250" dirty="0">
                <a:solidFill>
                  <a:srgbClr val="E4E1ED"/>
                </a:solidFill>
                <a:latin typeface="Consolas" pitchFamily="34" charset="0"/>
                <a:ea typeface="Consolas" pitchFamily="34" charset="-122"/>
                <a:cs typeface="Consolas" pitchFamily="34" charset="-120"/>
              </a:rPr>
              <a:t>Learn:     P(L′) = P(L|evidence) + (1 − P(L|evidence))T</a:t>
            </a:r>
            <a:endParaRPr lang="en-US" sz="1250" dirty="0"/>
          </a:p>
          <a:p>
            <a:pPr indent="0" marL="0">
              <a:lnSpc>
                <a:spcPct val="150000"/>
              </a:lnSpc>
              <a:buNone/>
            </a:pPr>
            <a:r>
              <a:rPr lang="en-US" sz="1250" dirty="0">
                <a:solidFill>
                  <a:srgbClr val="E4E1ED"/>
                </a:solidFill>
                <a:latin typeface="Consolas" pitchFamily="34" charset="0"/>
                <a:ea typeface="Consolas" pitchFamily="34" charset="-122"/>
                <a:cs typeface="Consolas" pitchFamily="34" charset="-120"/>
              </a:rPr>
              <a:t>Forecast:  P(correct) = P(L)(1 − S) + (1 − P(L))G</a:t>
            </a:r>
            <a:endParaRPr lang="en-US" sz="1250" dirty="0"/>
          </a:p>
        </p:txBody>
      </p:sp>
      <p:sp>
        <p:nvSpPr>
          <p:cNvPr id="8" name="Shape 5"/>
          <p:cNvSpPr/>
          <p:nvPr/>
        </p:nvSpPr>
        <p:spPr>
          <a:xfrm>
            <a:off x="6766560" y="1920240"/>
            <a:ext cx="4937760" cy="2286000"/>
          </a:xfrm>
          <a:prstGeom prst="roundRect">
            <a:avLst>
              <a:gd name="adj" fmla="val 3200"/>
            </a:avLst>
          </a:prstGeom>
          <a:solidFill>
            <a:srgbClr val="14141E"/>
          </a:solidFill>
          <a:ln w="12700">
            <a:solidFill>
              <a:srgbClr val="1C1C29"/>
            </a:solidFill>
            <a:prstDash val="solid"/>
          </a:ln>
        </p:spPr>
      </p:sp>
      <p:sp>
        <p:nvSpPr>
          <p:cNvPr id="9" name="Text 6"/>
          <p:cNvSpPr txBox="1"/>
          <p:nvPr/>
        </p:nvSpPr>
        <p:spPr>
          <a:xfrm>
            <a:off x="7040880" y="2103120"/>
            <a:ext cx="4389120" cy="320040"/>
          </a:xfrm>
          <a:prstGeom prst="rect">
            <a:avLst/>
          </a:prstGeom>
          <a:noFill/>
          <a:ln/>
        </p:spPr>
        <p:txBody>
          <a:bodyPr wrap="square" lIns="0" tIns="0" rIns="0" bIns="0" rtlCol="0" anchor="ctr"/>
          <a:lstStyle/>
          <a:p>
            <a:pPr indent="0" marL="0">
              <a:buNone/>
            </a:pPr>
            <a:r>
              <a:rPr lang="en-US" sz="1700" b="1" dirty="0">
                <a:solidFill>
                  <a:srgbClr val="44E2CD"/>
                </a:solidFill>
                <a:latin typeface="Calibri" pitchFamily="34" charset="0"/>
                <a:ea typeface="Calibri" pitchFamily="34" charset="-122"/>
                <a:cs typeface="Calibri" pitchFamily="34" charset="-120"/>
              </a:rPr>
              <a:t>Parameters, all in one file</a:t>
            </a:r>
            <a:endParaRPr lang="en-US" sz="1700" dirty="0"/>
          </a:p>
        </p:txBody>
      </p:sp>
      <p:sp>
        <p:nvSpPr>
          <p:cNvPr id="10" name="Text 7"/>
          <p:cNvSpPr txBox="1"/>
          <p:nvPr/>
        </p:nvSpPr>
        <p:spPr>
          <a:xfrm>
            <a:off x="7040880" y="2542032"/>
            <a:ext cx="2926080" cy="292608"/>
          </a:xfrm>
          <a:prstGeom prst="rect">
            <a:avLst/>
          </a:prstGeom>
          <a:noFill/>
          <a:ln/>
        </p:spPr>
        <p:txBody>
          <a:bodyPr wrap="square" lIns="0" tIns="0" rIns="0" bIns="0" rtlCol="0" anchor="ctr"/>
          <a:lstStyle/>
          <a:p>
            <a:pPr indent="0" marL="0">
              <a:buNone/>
            </a:pPr>
            <a:r>
              <a:rPr lang="en-US" sz="1350" dirty="0">
                <a:solidFill>
                  <a:srgbClr val="9A9AB4"/>
                </a:solidFill>
                <a:latin typeface="Calibri" pitchFamily="34" charset="0"/>
                <a:ea typeface="Calibri" pitchFamily="34" charset="-122"/>
                <a:cs typeface="Calibri" pitchFamily="34" charset="-120"/>
              </a:rPr>
              <a:t>Prior P(L0)</a:t>
            </a:r>
            <a:endParaRPr lang="en-US" sz="1350" dirty="0"/>
          </a:p>
        </p:txBody>
      </p:sp>
      <p:sp>
        <p:nvSpPr>
          <p:cNvPr id="11" name="Text 8"/>
          <p:cNvSpPr txBox="1"/>
          <p:nvPr/>
        </p:nvSpPr>
        <p:spPr>
          <a:xfrm>
            <a:off x="9692640" y="2542032"/>
            <a:ext cx="1737360" cy="292608"/>
          </a:xfrm>
          <a:prstGeom prst="rect">
            <a:avLst/>
          </a:prstGeom>
          <a:noFill/>
          <a:ln/>
        </p:spPr>
        <p:txBody>
          <a:bodyPr wrap="square" lIns="0" tIns="0" rIns="0" bIns="0" rtlCol="0" anchor="ctr"/>
          <a:lstStyle/>
          <a:p>
            <a:pPr algn="r" indent="0" marL="0">
              <a:buNone/>
            </a:pPr>
            <a:r>
              <a:rPr lang="en-US" sz="1350" b="1" dirty="0">
                <a:solidFill>
                  <a:srgbClr val="E4E1ED"/>
                </a:solidFill>
                <a:latin typeface="Calibri" pitchFamily="34" charset="0"/>
                <a:ea typeface="Calibri" pitchFamily="34" charset="-122"/>
                <a:cs typeface="Calibri" pitchFamily="34" charset="-120"/>
              </a:rPr>
              <a:t>0.25</a:t>
            </a:r>
            <a:endParaRPr lang="en-US" sz="1350" dirty="0"/>
          </a:p>
        </p:txBody>
      </p:sp>
      <p:sp>
        <p:nvSpPr>
          <p:cNvPr id="12" name="Text 9"/>
          <p:cNvSpPr txBox="1"/>
          <p:nvPr/>
        </p:nvSpPr>
        <p:spPr>
          <a:xfrm>
            <a:off x="7040880" y="2862072"/>
            <a:ext cx="2926080" cy="292608"/>
          </a:xfrm>
          <a:prstGeom prst="rect">
            <a:avLst/>
          </a:prstGeom>
          <a:noFill/>
          <a:ln/>
        </p:spPr>
        <p:txBody>
          <a:bodyPr wrap="square" lIns="0" tIns="0" rIns="0" bIns="0" rtlCol="0" anchor="ctr"/>
          <a:lstStyle/>
          <a:p>
            <a:pPr indent="0" marL="0">
              <a:buNone/>
            </a:pPr>
            <a:r>
              <a:rPr lang="en-US" sz="1350" dirty="0">
                <a:solidFill>
                  <a:srgbClr val="9A9AB4"/>
                </a:solidFill>
                <a:latin typeface="Calibri" pitchFamily="34" charset="0"/>
                <a:ea typeface="Calibri" pitchFamily="34" charset="-122"/>
                <a:cs typeface="Calibri" pitchFamily="34" charset="-120"/>
              </a:rPr>
              <a:t>Learn P(T)</a:t>
            </a:r>
            <a:endParaRPr lang="en-US" sz="1350" dirty="0"/>
          </a:p>
        </p:txBody>
      </p:sp>
      <p:sp>
        <p:nvSpPr>
          <p:cNvPr id="13" name="Text 10"/>
          <p:cNvSpPr txBox="1"/>
          <p:nvPr/>
        </p:nvSpPr>
        <p:spPr>
          <a:xfrm>
            <a:off x="9692640" y="2862072"/>
            <a:ext cx="1737360" cy="292608"/>
          </a:xfrm>
          <a:prstGeom prst="rect">
            <a:avLst/>
          </a:prstGeom>
          <a:noFill/>
          <a:ln/>
        </p:spPr>
        <p:txBody>
          <a:bodyPr wrap="square" lIns="0" tIns="0" rIns="0" bIns="0" rtlCol="0" anchor="ctr"/>
          <a:lstStyle/>
          <a:p>
            <a:pPr algn="r" indent="0" marL="0">
              <a:buNone/>
            </a:pPr>
            <a:r>
              <a:rPr lang="en-US" sz="1350" b="1" dirty="0">
                <a:solidFill>
                  <a:srgbClr val="E4E1ED"/>
                </a:solidFill>
                <a:latin typeface="Calibri" pitchFamily="34" charset="0"/>
                <a:ea typeface="Calibri" pitchFamily="34" charset="-122"/>
                <a:cs typeface="Calibri" pitchFamily="34" charset="-120"/>
              </a:rPr>
              <a:t>0.12</a:t>
            </a:r>
            <a:endParaRPr lang="en-US" sz="1350" dirty="0"/>
          </a:p>
        </p:txBody>
      </p:sp>
      <p:sp>
        <p:nvSpPr>
          <p:cNvPr id="14" name="Text 11"/>
          <p:cNvSpPr txBox="1"/>
          <p:nvPr/>
        </p:nvSpPr>
        <p:spPr>
          <a:xfrm>
            <a:off x="7040880" y="3182112"/>
            <a:ext cx="2926080" cy="292608"/>
          </a:xfrm>
          <a:prstGeom prst="rect">
            <a:avLst/>
          </a:prstGeom>
          <a:noFill/>
          <a:ln/>
        </p:spPr>
        <p:txBody>
          <a:bodyPr wrap="square" lIns="0" tIns="0" rIns="0" bIns="0" rtlCol="0" anchor="ctr"/>
          <a:lstStyle/>
          <a:p>
            <a:pPr indent="0" marL="0">
              <a:buNone/>
            </a:pPr>
            <a:r>
              <a:rPr lang="en-US" sz="1350" dirty="0">
                <a:solidFill>
                  <a:srgbClr val="9A9AB4"/>
                </a:solidFill>
                <a:latin typeface="Calibri" pitchFamily="34" charset="0"/>
                <a:ea typeface="Calibri" pitchFamily="34" charset="-122"/>
                <a:cs typeface="Calibri" pitchFamily="34" charset="-120"/>
              </a:rPr>
              <a:t>Guess P(G)</a:t>
            </a:r>
            <a:endParaRPr lang="en-US" sz="1350" dirty="0"/>
          </a:p>
        </p:txBody>
      </p:sp>
      <p:sp>
        <p:nvSpPr>
          <p:cNvPr id="15" name="Text 12"/>
          <p:cNvSpPr txBox="1"/>
          <p:nvPr/>
        </p:nvSpPr>
        <p:spPr>
          <a:xfrm>
            <a:off x="9692640" y="3182112"/>
            <a:ext cx="1737360" cy="292608"/>
          </a:xfrm>
          <a:prstGeom prst="rect">
            <a:avLst/>
          </a:prstGeom>
          <a:noFill/>
          <a:ln/>
        </p:spPr>
        <p:txBody>
          <a:bodyPr wrap="square" lIns="0" tIns="0" rIns="0" bIns="0" rtlCol="0" anchor="ctr"/>
          <a:lstStyle/>
          <a:p>
            <a:pPr algn="r" indent="0" marL="0">
              <a:buNone/>
            </a:pPr>
            <a:r>
              <a:rPr lang="en-US" sz="1350" b="1" dirty="0">
                <a:solidFill>
                  <a:srgbClr val="E4E1ED"/>
                </a:solidFill>
                <a:latin typeface="Calibri" pitchFamily="34" charset="0"/>
                <a:ea typeface="Calibri" pitchFamily="34" charset="-122"/>
                <a:cs typeface="Calibri" pitchFamily="34" charset="-120"/>
              </a:rPr>
              <a:t>0.20</a:t>
            </a:r>
            <a:endParaRPr lang="en-US" sz="1350" dirty="0"/>
          </a:p>
        </p:txBody>
      </p:sp>
      <p:sp>
        <p:nvSpPr>
          <p:cNvPr id="16" name="Text 13"/>
          <p:cNvSpPr txBox="1"/>
          <p:nvPr/>
        </p:nvSpPr>
        <p:spPr>
          <a:xfrm>
            <a:off x="7040880" y="3502152"/>
            <a:ext cx="2926080" cy="292608"/>
          </a:xfrm>
          <a:prstGeom prst="rect">
            <a:avLst/>
          </a:prstGeom>
          <a:noFill/>
          <a:ln/>
        </p:spPr>
        <p:txBody>
          <a:bodyPr wrap="square" lIns="0" tIns="0" rIns="0" bIns="0" rtlCol="0" anchor="ctr"/>
          <a:lstStyle/>
          <a:p>
            <a:pPr indent="0" marL="0">
              <a:buNone/>
            </a:pPr>
            <a:r>
              <a:rPr lang="en-US" sz="1350" dirty="0">
                <a:solidFill>
                  <a:srgbClr val="9A9AB4"/>
                </a:solidFill>
                <a:latin typeface="Calibri" pitchFamily="34" charset="0"/>
                <a:ea typeface="Calibri" pitchFamily="34" charset="-122"/>
                <a:cs typeface="Calibri" pitchFamily="34" charset="-120"/>
              </a:rPr>
              <a:t>Slip P(S)</a:t>
            </a:r>
            <a:endParaRPr lang="en-US" sz="1350" dirty="0"/>
          </a:p>
        </p:txBody>
      </p:sp>
      <p:sp>
        <p:nvSpPr>
          <p:cNvPr id="17" name="Text 14"/>
          <p:cNvSpPr txBox="1"/>
          <p:nvPr/>
        </p:nvSpPr>
        <p:spPr>
          <a:xfrm>
            <a:off x="9692640" y="3502152"/>
            <a:ext cx="1737360" cy="292608"/>
          </a:xfrm>
          <a:prstGeom prst="rect">
            <a:avLst/>
          </a:prstGeom>
          <a:noFill/>
          <a:ln/>
        </p:spPr>
        <p:txBody>
          <a:bodyPr wrap="square" lIns="0" tIns="0" rIns="0" bIns="0" rtlCol="0" anchor="ctr"/>
          <a:lstStyle/>
          <a:p>
            <a:pPr algn="r" indent="0" marL="0">
              <a:buNone/>
            </a:pPr>
            <a:r>
              <a:rPr lang="en-US" sz="1350" b="1" dirty="0">
                <a:solidFill>
                  <a:srgbClr val="E4E1ED"/>
                </a:solidFill>
                <a:latin typeface="Calibri" pitchFamily="34" charset="0"/>
                <a:ea typeface="Calibri" pitchFamily="34" charset="-122"/>
                <a:cs typeface="Calibri" pitchFamily="34" charset="-120"/>
              </a:rPr>
              <a:t>0.10</a:t>
            </a:r>
            <a:endParaRPr lang="en-US" sz="1350" dirty="0"/>
          </a:p>
        </p:txBody>
      </p:sp>
      <p:sp>
        <p:nvSpPr>
          <p:cNvPr id="18" name="Text 15"/>
          <p:cNvSpPr txBox="1"/>
          <p:nvPr/>
        </p:nvSpPr>
        <p:spPr>
          <a:xfrm>
            <a:off x="7040880" y="3822192"/>
            <a:ext cx="2926080" cy="292608"/>
          </a:xfrm>
          <a:prstGeom prst="rect">
            <a:avLst/>
          </a:prstGeom>
          <a:noFill/>
          <a:ln/>
        </p:spPr>
        <p:txBody>
          <a:bodyPr wrap="square" lIns="0" tIns="0" rIns="0" bIns="0" rtlCol="0" anchor="ctr"/>
          <a:lstStyle/>
          <a:p>
            <a:pPr indent="0" marL="0">
              <a:buNone/>
            </a:pPr>
            <a:r>
              <a:rPr lang="en-US" sz="1350" dirty="0">
                <a:solidFill>
                  <a:srgbClr val="9A9AB4"/>
                </a:solidFill>
                <a:latin typeface="Calibri" pitchFamily="34" charset="0"/>
                <a:ea typeface="Calibri" pitchFamily="34" charset="-122"/>
                <a:cs typeface="Calibri" pitchFamily="34" charset="-120"/>
              </a:rPr>
              <a:t>Mastery / remediate</a:t>
            </a:r>
            <a:endParaRPr lang="en-US" sz="1350" dirty="0"/>
          </a:p>
        </p:txBody>
      </p:sp>
      <p:sp>
        <p:nvSpPr>
          <p:cNvPr id="19" name="Text 16"/>
          <p:cNvSpPr txBox="1"/>
          <p:nvPr/>
        </p:nvSpPr>
        <p:spPr>
          <a:xfrm>
            <a:off x="9692640" y="3822192"/>
            <a:ext cx="1737360" cy="292608"/>
          </a:xfrm>
          <a:prstGeom prst="rect">
            <a:avLst/>
          </a:prstGeom>
          <a:noFill/>
          <a:ln/>
        </p:spPr>
        <p:txBody>
          <a:bodyPr wrap="square" lIns="0" tIns="0" rIns="0" bIns="0" rtlCol="0" anchor="ctr"/>
          <a:lstStyle/>
          <a:p>
            <a:pPr algn="r" indent="0" marL="0">
              <a:buNone/>
            </a:pPr>
            <a:r>
              <a:rPr lang="en-US" sz="1350" b="1" dirty="0">
                <a:solidFill>
                  <a:srgbClr val="44E2CD"/>
                </a:solidFill>
                <a:latin typeface="Calibri" pitchFamily="34" charset="0"/>
                <a:ea typeface="Calibri" pitchFamily="34" charset="-122"/>
                <a:cs typeface="Calibri" pitchFamily="34" charset="-120"/>
              </a:rPr>
              <a:t>0.8  /  0.4</a:t>
            </a:r>
            <a:endParaRPr lang="en-US" sz="1350" dirty="0"/>
          </a:p>
        </p:txBody>
      </p:sp>
      <p:sp>
        <p:nvSpPr>
          <p:cNvPr id="20" name="Shape 17"/>
          <p:cNvSpPr/>
          <p:nvPr/>
        </p:nvSpPr>
        <p:spPr>
          <a:xfrm>
            <a:off x="640080" y="4526280"/>
            <a:ext cx="11064240" cy="1508760"/>
          </a:xfrm>
          <a:prstGeom prst="roundRect">
            <a:avLst>
              <a:gd name="adj" fmla="val 4848"/>
            </a:avLst>
          </a:prstGeom>
          <a:solidFill>
            <a:srgbClr val="1C1C29"/>
          </a:solidFill>
          <a:ln w="12700">
            <a:solidFill>
              <a:srgbClr val="1C1C29"/>
            </a:solidFill>
            <a:prstDash val="solid"/>
          </a:ln>
        </p:spPr>
      </p:sp>
      <p:sp>
        <p:nvSpPr>
          <p:cNvPr id="21" name="Text 18"/>
          <p:cNvSpPr txBox="1"/>
          <p:nvPr/>
        </p:nvSpPr>
        <p:spPr>
          <a:xfrm>
            <a:off x="960120" y="4663440"/>
            <a:ext cx="5486400" cy="320040"/>
          </a:xfrm>
          <a:prstGeom prst="rect">
            <a:avLst/>
          </a:prstGeom>
          <a:noFill/>
          <a:ln/>
        </p:spPr>
        <p:txBody>
          <a:bodyPr wrap="square" lIns="0" tIns="0" rIns="0" bIns="0" rtlCol="0" anchor="ctr"/>
          <a:lstStyle/>
          <a:p>
            <a:pPr indent="0" marL="0">
              <a:buNone/>
            </a:pPr>
            <a:r>
              <a:rPr lang="en-US" sz="1500" b="1" dirty="0">
                <a:solidFill>
                  <a:srgbClr val="E4E1ED"/>
                </a:solidFill>
                <a:latin typeface="Calibri" pitchFamily="34" charset="0"/>
                <a:ea typeface="Calibri" pitchFamily="34" charset="-122"/>
                <a:cs typeface="Calibri" pitchFamily="34" charset="-120"/>
              </a:rPr>
              <a:t>A correct streak, computed by the shipped engine</a:t>
            </a:r>
            <a:endParaRPr lang="en-US" sz="1500" dirty="0"/>
          </a:p>
        </p:txBody>
      </p:sp>
      <p:sp>
        <p:nvSpPr>
          <p:cNvPr id="22" name="Text 19"/>
          <p:cNvSpPr txBox="1"/>
          <p:nvPr/>
        </p:nvSpPr>
        <p:spPr>
          <a:xfrm>
            <a:off x="960120" y="5074920"/>
            <a:ext cx="1143000" cy="457200"/>
          </a:xfrm>
          <a:prstGeom prst="rect">
            <a:avLst/>
          </a:prstGeom>
          <a:noFill/>
          <a:ln/>
        </p:spPr>
        <p:txBody>
          <a:bodyPr wrap="square" lIns="0" tIns="0" rIns="0" bIns="0" rtlCol="0" anchor="ctr"/>
          <a:lstStyle/>
          <a:p>
            <a:pPr indent="0" marL="0">
              <a:buNone/>
            </a:pPr>
            <a:r>
              <a:rPr lang="en-US" sz="2400" b="1" dirty="0">
                <a:solidFill>
                  <a:srgbClr val="E4E1ED"/>
                </a:solidFill>
                <a:latin typeface="Calibri" pitchFamily="34" charset="0"/>
                <a:ea typeface="Calibri" pitchFamily="34" charset="-122"/>
                <a:cs typeface="Calibri" pitchFamily="34" charset="-120"/>
              </a:rPr>
              <a:t>0.25</a:t>
            </a:r>
            <a:endParaRPr lang="en-US" sz="2400" dirty="0"/>
          </a:p>
        </p:txBody>
      </p:sp>
      <p:sp>
        <p:nvSpPr>
          <p:cNvPr id="23" name="Text 20"/>
          <p:cNvSpPr txBox="1"/>
          <p:nvPr/>
        </p:nvSpPr>
        <p:spPr>
          <a:xfrm>
            <a:off x="960120" y="5532120"/>
            <a:ext cx="1143000" cy="274320"/>
          </a:xfrm>
          <a:prstGeom prst="rect">
            <a:avLst/>
          </a:prstGeom>
          <a:noFill/>
          <a:ln/>
        </p:spPr>
        <p:txBody>
          <a:bodyPr wrap="square" lIns="0" tIns="0" rIns="0" bIns="0" rtlCol="0" anchor="ctr"/>
          <a:lstStyle/>
          <a:p>
            <a:pPr indent="0" marL="0">
              <a:buNone/>
            </a:pPr>
            <a:r>
              <a:rPr lang="en-US" sz="1100" dirty="0">
                <a:solidFill>
                  <a:srgbClr val="9A9AB4"/>
                </a:solidFill>
                <a:latin typeface="Calibri" pitchFamily="34" charset="0"/>
                <a:ea typeface="Calibri" pitchFamily="34" charset="-122"/>
                <a:cs typeface="Calibri" pitchFamily="34" charset="-120"/>
              </a:rPr>
              <a:t>start</a:t>
            </a:r>
            <a:endParaRPr lang="en-US" sz="1100" dirty="0"/>
          </a:p>
        </p:txBody>
      </p:sp>
      <p:sp>
        <p:nvSpPr>
          <p:cNvPr id="24" name="Shape 21"/>
          <p:cNvSpPr/>
          <p:nvPr/>
        </p:nvSpPr>
        <p:spPr>
          <a:xfrm>
            <a:off x="2020824" y="5230368"/>
            <a:ext cx="146304" cy="164592"/>
          </a:xfrm>
          <a:prstGeom prst="rightArrow">
            <a:avLst/>
          </a:prstGeom>
          <a:solidFill>
            <a:srgbClr val="3A3A52"/>
          </a:solidFill>
          <a:ln/>
        </p:spPr>
      </p:sp>
      <p:sp>
        <p:nvSpPr>
          <p:cNvPr id="25" name="Text 22"/>
          <p:cNvSpPr txBox="1"/>
          <p:nvPr/>
        </p:nvSpPr>
        <p:spPr>
          <a:xfrm>
            <a:off x="2331720" y="5074920"/>
            <a:ext cx="1143000" cy="457200"/>
          </a:xfrm>
          <a:prstGeom prst="rect">
            <a:avLst/>
          </a:prstGeom>
          <a:noFill/>
          <a:ln/>
        </p:spPr>
        <p:txBody>
          <a:bodyPr wrap="square" lIns="0" tIns="0" rIns="0" bIns="0" rtlCol="0" anchor="ctr"/>
          <a:lstStyle/>
          <a:p>
            <a:pPr indent="0" marL="0">
              <a:buNone/>
            </a:pPr>
            <a:r>
              <a:rPr lang="en-US" sz="2400" b="1" dirty="0">
                <a:solidFill>
                  <a:srgbClr val="E4E1ED"/>
                </a:solidFill>
                <a:latin typeface="Calibri" pitchFamily="34" charset="0"/>
                <a:ea typeface="Calibri" pitchFamily="34" charset="-122"/>
                <a:cs typeface="Calibri" pitchFamily="34" charset="-120"/>
              </a:rPr>
              <a:t>0.648</a:t>
            </a:r>
            <a:endParaRPr lang="en-US" sz="2400" dirty="0"/>
          </a:p>
        </p:txBody>
      </p:sp>
      <p:sp>
        <p:nvSpPr>
          <p:cNvPr id="26" name="Text 23"/>
          <p:cNvSpPr txBox="1"/>
          <p:nvPr/>
        </p:nvSpPr>
        <p:spPr>
          <a:xfrm>
            <a:off x="2331720" y="5532120"/>
            <a:ext cx="1143000" cy="274320"/>
          </a:xfrm>
          <a:prstGeom prst="rect">
            <a:avLst/>
          </a:prstGeom>
          <a:noFill/>
          <a:ln/>
        </p:spPr>
        <p:txBody>
          <a:bodyPr wrap="square" lIns="0" tIns="0" rIns="0" bIns="0" rtlCol="0" anchor="ctr"/>
          <a:lstStyle/>
          <a:p>
            <a:pPr indent="0" marL="0">
              <a:buNone/>
            </a:pPr>
            <a:r>
              <a:rPr lang="en-US" sz="1100" dirty="0">
                <a:solidFill>
                  <a:srgbClr val="9A9AB4"/>
                </a:solidFill>
                <a:latin typeface="Calibri" pitchFamily="34" charset="0"/>
                <a:ea typeface="Calibri" pitchFamily="34" charset="-122"/>
                <a:cs typeface="Calibri" pitchFamily="34" charset="-120"/>
              </a:rPr>
              <a:t>answer 1</a:t>
            </a:r>
            <a:endParaRPr lang="en-US" sz="1100" dirty="0"/>
          </a:p>
        </p:txBody>
      </p:sp>
      <p:sp>
        <p:nvSpPr>
          <p:cNvPr id="27" name="Shape 24"/>
          <p:cNvSpPr/>
          <p:nvPr/>
        </p:nvSpPr>
        <p:spPr>
          <a:xfrm>
            <a:off x="3392424" y="5230368"/>
            <a:ext cx="146304" cy="164592"/>
          </a:xfrm>
          <a:prstGeom prst="rightArrow">
            <a:avLst/>
          </a:prstGeom>
          <a:solidFill>
            <a:srgbClr val="3A3A52"/>
          </a:solidFill>
          <a:ln/>
        </p:spPr>
      </p:sp>
      <p:sp>
        <p:nvSpPr>
          <p:cNvPr id="28" name="Text 25"/>
          <p:cNvSpPr txBox="1"/>
          <p:nvPr/>
        </p:nvSpPr>
        <p:spPr>
          <a:xfrm>
            <a:off x="3703320" y="5074920"/>
            <a:ext cx="1143000" cy="457200"/>
          </a:xfrm>
          <a:prstGeom prst="rect">
            <a:avLst/>
          </a:prstGeom>
          <a:noFill/>
          <a:ln/>
        </p:spPr>
        <p:txBody>
          <a:bodyPr wrap="square" lIns="0" tIns="0" rIns="0" bIns="0" rtlCol="0" anchor="ctr"/>
          <a:lstStyle/>
          <a:p>
            <a:pPr indent="0" marL="0">
              <a:buNone/>
            </a:pPr>
            <a:r>
              <a:rPr lang="en-US" sz="2400" b="1" dirty="0">
                <a:solidFill>
                  <a:srgbClr val="44E2CD"/>
                </a:solidFill>
                <a:latin typeface="Calibri" pitchFamily="34" charset="0"/>
                <a:ea typeface="Calibri" pitchFamily="34" charset="-122"/>
                <a:cs typeface="Calibri" pitchFamily="34" charset="-120"/>
              </a:rPr>
              <a:t>0.905</a:t>
            </a:r>
            <a:endParaRPr lang="en-US" sz="2400" dirty="0"/>
          </a:p>
        </p:txBody>
      </p:sp>
      <p:sp>
        <p:nvSpPr>
          <p:cNvPr id="29" name="Text 26"/>
          <p:cNvSpPr txBox="1"/>
          <p:nvPr/>
        </p:nvSpPr>
        <p:spPr>
          <a:xfrm>
            <a:off x="3703320" y="5532120"/>
            <a:ext cx="1143000" cy="274320"/>
          </a:xfrm>
          <a:prstGeom prst="rect">
            <a:avLst/>
          </a:prstGeom>
          <a:noFill/>
          <a:ln/>
        </p:spPr>
        <p:txBody>
          <a:bodyPr wrap="square" lIns="0" tIns="0" rIns="0" bIns="0" rtlCol="0" anchor="ctr"/>
          <a:lstStyle/>
          <a:p>
            <a:pPr indent="0" marL="0">
              <a:buNone/>
            </a:pPr>
            <a:r>
              <a:rPr lang="en-US" sz="1100" dirty="0">
                <a:solidFill>
                  <a:srgbClr val="9A9AB4"/>
                </a:solidFill>
                <a:latin typeface="Calibri" pitchFamily="34" charset="0"/>
                <a:ea typeface="Calibri" pitchFamily="34" charset="-122"/>
                <a:cs typeface="Calibri" pitchFamily="34" charset="-120"/>
              </a:rPr>
              <a:t>answer 2</a:t>
            </a:r>
            <a:endParaRPr lang="en-US" sz="1100" dirty="0"/>
          </a:p>
        </p:txBody>
      </p:sp>
      <p:sp>
        <p:nvSpPr>
          <p:cNvPr id="30" name="Shape 27"/>
          <p:cNvSpPr/>
          <p:nvPr/>
        </p:nvSpPr>
        <p:spPr>
          <a:xfrm>
            <a:off x="4764024" y="5230368"/>
            <a:ext cx="146304" cy="164592"/>
          </a:xfrm>
          <a:prstGeom prst="rightArrow">
            <a:avLst/>
          </a:prstGeom>
          <a:solidFill>
            <a:srgbClr val="3A3A52"/>
          </a:solidFill>
          <a:ln/>
        </p:spPr>
      </p:sp>
      <p:sp>
        <p:nvSpPr>
          <p:cNvPr id="31" name="Text 28"/>
          <p:cNvSpPr txBox="1"/>
          <p:nvPr/>
        </p:nvSpPr>
        <p:spPr>
          <a:xfrm>
            <a:off x="5074920" y="5074920"/>
            <a:ext cx="1143000" cy="457200"/>
          </a:xfrm>
          <a:prstGeom prst="rect">
            <a:avLst/>
          </a:prstGeom>
          <a:noFill/>
          <a:ln/>
        </p:spPr>
        <p:txBody>
          <a:bodyPr wrap="square" lIns="0" tIns="0" rIns="0" bIns="0" rtlCol="0" anchor="ctr"/>
          <a:lstStyle/>
          <a:p>
            <a:pPr indent="0" marL="0">
              <a:buNone/>
            </a:pPr>
            <a:r>
              <a:rPr lang="en-US" sz="2400" b="1" dirty="0">
                <a:solidFill>
                  <a:srgbClr val="44E2CD"/>
                </a:solidFill>
                <a:latin typeface="Calibri" pitchFamily="34" charset="0"/>
                <a:ea typeface="Calibri" pitchFamily="34" charset="-122"/>
                <a:cs typeface="Calibri" pitchFamily="34" charset="-120"/>
              </a:rPr>
              <a:t>0.980</a:t>
            </a:r>
            <a:endParaRPr lang="en-US" sz="2400" dirty="0"/>
          </a:p>
        </p:txBody>
      </p:sp>
      <p:sp>
        <p:nvSpPr>
          <p:cNvPr id="32" name="Text 29"/>
          <p:cNvSpPr txBox="1"/>
          <p:nvPr/>
        </p:nvSpPr>
        <p:spPr>
          <a:xfrm>
            <a:off x="5074920" y="5532120"/>
            <a:ext cx="1143000" cy="274320"/>
          </a:xfrm>
          <a:prstGeom prst="rect">
            <a:avLst/>
          </a:prstGeom>
          <a:noFill/>
          <a:ln/>
        </p:spPr>
        <p:txBody>
          <a:bodyPr wrap="square" lIns="0" tIns="0" rIns="0" bIns="0" rtlCol="0" anchor="ctr"/>
          <a:lstStyle/>
          <a:p>
            <a:pPr indent="0" marL="0">
              <a:buNone/>
            </a:pPr>
            <a:r>
              <a:rPr lang="en-US" sz="1100" dirty="0">
                <a:solidFill>
                  <a:srgbClr val="9A9AB4"/>
                </a:solidFill>
                <a:latin typeface="Calibri" pitchFamily="34" charset="0"/>
                <a:ea typeface="Calibri" pitchFamily="34" charset="-122"/>
                <a:cs typeface="Calibri" pitchFamily="34" charset="-120"/>
              </a:rPr>
              <a:t>answer 3</a:t>
            </a:r>
            <a:endParaRPr lang="en-US" sz="1100" dirty="0"/>
          </a:p>
        </p:txBody>
      </p:sp>
      <p:sp>
        <p:nvSpPr>
          <p:cNvPr id="33" name="Shape 30"/>
          <p:cNvSpPr/>
          <p:nvPr/>
        </p:nvSpPr>
        <p:spPr>
          <a:xfrm>
            <a:off x="6135624" y="5230368"/>
            <a:ext cx="146304" cy="164592"/>
          </a:xfrm>
          <a:prstGeom prst="rightArrow">
            <a:avLst/>
          </a:prstGeom>
          <a:solidFill>
            <a:srgbClr val="3A3A52"/>
          </a:solidFill>
          <a:ln/>
        </p:spPr>
      </p:sp>
      <p:sp>
        <p:nvSpPr>
          <p:cNvPr id="34" name="Text 31"/>
          <p:cNvSpPr txBox="1"/>
          <p:nvPr/>
        </p:nvSpPr>
        <p:spPr>
          <a:xfrm>
            <a:off x="6446520" y="5074920"/>
            <a:ext cx="1143000" cy="457200"/>
          </a:xfrm>
          <a:prstGeom prst="rect">
            <a:avLst/>
          </a:prstGeom>
          <a:noFill/>
          <a:ln/>
        </p:spPr>
        <p:txBody>
          <a:bodyPr wrap="square" lIns="0" tIns="0" rIns="0" bIns="0" rtlCol="0" anchor="ctr"/>
          <a:lstStyle/>
          <a:p>
            <a:pPr indent="0" marL="0">
              <a:buNone/>
            </a:pPr>
            <a:r>
              <a:rPr lang="en-US" sz="2400" b="1" dirty="0">
                <a:solidFill>
                  <a:srgbClr val="44E2CD"/>
                </a:solidFill>
                <a:latin typeface="Calibri" pitchFamily="34" charset="0"/>
                <a:ea typeface="Calibri" pitchFamily="34" charset="-122"/>
                <a:cs typeface="Calibri" pitchFamily="34" charset="-120"/>
              </a:rPr>
              <a:t>0.996</a:t>
            </a:r>
            <a:endParaRPr lang="en-US" sz="2400" dirty="0"/>
          </a:p>
        </p:txBody>
      </p:sp>
      <p:sp>
        <p:nvSpPr>
          <p:cNvPr id="35" name="Text 32"/>
          <p:cNvSpPr txBox="1"/>
          <p:nvPr/>
        </p:nvSpPr>
        <p:spPr>
          <a:xfrm>
            <a:off x="6446520" y="5532120"/>
            <a:ext cx="1143000" cy="274320"/>
          </a:xfrm>
          <a:prstGeom prst="rect">
            <a:avLst/>
          </a:prstGeom>
          <a:noFill/>
          <a:ln/>
        </p:spPr>
        <p:txBody>
          <a:bodyPr wrap="square" lIns="0" tIns="0" rIns="0" bIns="0" rtlCol="0" anchor="ctr"/>
          <a:lstStyle/>
          <a:p>
            <a:pPr indent="0" marL="0">
              <a:buNone/>
            </a:pPr>
            <a:r>
              <a:rPr lang="en-US" sz="1100" dirty="0">
                <a:solidFill>
                  <a:srgbClr val="9A9AB4"/>
                </a:solidFill>
                <a:latin typeface="Calibri" pitchFamily="34" charset="0"/>
                <a:ea typeface="Calibri" pitchFamily="34" charset="-122"/>
                <a:cs typeface="Calibri" pitchFamily="34" charset="-120"/>
              </a:rPr>
              <a:t>answer 4</a:t>
            </a:r>
            <a:endParaRPr lang="en-US" sz="1100" dirty="0"/>
          </a:p>
        </p:txBody>
      </p:sp>
      <p:sp>
        <p:nvSpPr>
          <p:cNvPr id="36" name="Text 33"/>
          <p:cNvSpPr txBox="1"/>
          <p:nvPr/>
        </p:nvSpPr>
        <p:spPr>
          <a:xfrm>
            <a:off x="7818120" y="4956048"/>
            <a:ext cx="3611880" cy="1005840"/>
          </a:xfrm>
          <a:prstGeom prst="rect">
            <a:avLst/>
          </a:prstGeom>
          <a:noFill/>
          <a:ln/>
        </p:spPr>
        <p:txBody>
          <a:bodyPr wrap="square" lIns="0" tIns="0" rIns="0" bIns="0" rtlCol="0" anchor="ctr"/>
          <a:lstStyle/>
          <a:p>
            <a:pPr indent="0" marL="0">
              <a:buNone/>
            </a:pPr>
            <a:r>
              <a:rPr lang="en-US" sz="1200" dirty="0">
                <a:solidFill>
                  <a:srgbClr val="9A9AB4"/>
                </a:solidFill>
                <a:latin typeface="Calibri" pitchFamily="34" charset="0"/>
                <a:ea typeface="Calibri" pitchFamily="34" charset="-122"/>
                <a:cs typeface="Calibri" pitchFamily="34" charset="-120"/>
              </a:rPr>
              <a:t>Crosses the 0.8 mastery line on the second correct answer. These exact figures are the hand-computed unit-test fixtures, so a drifting implementation fails against the arithmetic rather than against its own opinion of itself.</a:t>
            </a:r>
            <a:endParaRPr lang="en-US" sz="1200" dirty="0"/>
          </a:p>
        </p:txBody>
      </p:sp>
      <p:sp>
        <p:nvSpPr>
          <p:cNvPr id="37" name="Text 34"/>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38" name="Text 35"/>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Rules a person can read</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The pedagogical model is deliberately not learned</a:t>
            </a:r>
            <a:endParaRPr lang="en-US" sz="1700" dirty="0"/>
          </a:p>
        </p:txBody>
      </p:sp>
      <p:sp>
        <p:nvSpPr>
          <p:cNvPr id="5" name="Shape 2"/>
          <p:cNvSpPr/>
          <p:nvPr/>
        </p:nvSpPr>
        <p:spPr>
          <a:xfrm>
            <a:off x="640080" y="1965960"/>
            <a:ext cx="2606040" cy="1691640"/>
          </a:xfrm>
          <a:prstGeom prst="roundRect">
            <a:avLst>
              <a:gd name="adj" fmla="val 4324"/>
            </a:avLst>
          </a:prstGeom>
          <a:solidFill>
            <a:srgbClr val="14141E"/>
          </a:solidFill>
          <a:ln w="12700">
            <a:solidFill>
              <a:srgbClr val="1C1C29"/>
            </a:solidFill>
            <a:prstDash val="solid"/>
          </a:ln>
        </p:spPr>
      </p:sp>
      <p:sp>
        <p:nvSpPr>
          <p:cNvPr id="6" name="Shape 3"/>
          <p:cNvSpPr/>
          <p:nvPr/>
        </p:nvSpPr>
        <p:spPr>
          <a:xfrm>
            <a:off x="841248" y="2157984"/>
            <a:ext cx="420624" cy="420624"/>
          </a:xfrm>
          <a:prstGeom prst="ellipse">
            <a:avLst/>
          </a:prstGeom>
          <a:solidFill>
            <a:srgbClr val="2DD4BF"/>
          </a:solidFill>
          <a:ln/>
        </p:spPr>
      </p:sp>
      <p:sp>
        <p:nvSpPr>
          <p:cNvPr id="7" name="Text 4"/>
          <p:cNvSpPr txBox="1"/>
          <p:nvPr/>
        </p:nvSpPr>
        <p:spPr>
          <a:xfrm>
            <a:off x="841248" y="2157984"/>
            <a:ext cx="420624" cy="420624"/>
          </a:xfrm>
          <a:prstGeom prst="rect">
            <a:avLst/>
          </a:prstGeom>
          <a:noFill/>
          <a:ln/>
        </p:spPr>
        <p:txBody>
          <a:bodyPr wrap="square" lIns="0" tIns="0" rIns="0" bIns="0" rtlCol="0" anchor="ctr"/>
          <a:lstStyle/>
          <a:p>
            <a:pPr algn="ctr" indent="0" marL="0">
              <a:buNone/>
            </a:pPr>
            <a:r>
              <a:rPr lang="en-US" sz="1500" b="1" dirty="0">
                <a:solidFill>
                  <a:srgbClr val="050507"/>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389888" y="2157984"/>
            <a:ext cx="1737360" cy="420624"/>
          </a:xfrm>
          <a:prstGeom prst="rect">
            <a:avLst/>
          </a:prstGeom>
          <a:noFill/>
          <a:ln/>
        </p:spPr>
        <p:txBody>
          <a:bodyPr wrap="square" lIns="0" tIns="0" rIns="0" bIns="0" rtlCol="0" anchor="ctr"/>
          <a:lstStyle/>
          <a:p>
            <a:pPr indent="0" marL="0">
              <a:buNone/>
            </a:pPr>
            <a:r>
              <a:rPr lang="en-US" sz="1700" b="1" dirty="0">
                <a:solidFill>
                  <a:srgbClr val="E4E1ED"/>
                </a:solidFill>
                <a:latin typeface="Calibri" pitchFamily="34" charset="0"/>
                <a:ea typeface="Calibri" pitchFamily="34" charset="-122"/>
                <a:cs typeface="Calibri" pitchFamily="34" charset="-120"/>
              </a:rPr>
              <a:t>Unlock</a:t>
            </a:r>
            <a:endParaRPr lang="en-US" sz="1700" dirty="0"/>
          </a:p>
        </p:txBody>
      </p:sp>
      <p:sp>
        <p:nvSpPr>
          <p:cNvPr id="9" name="Text 6"/>
          <p:cNvSpPr txBox="1"/>
          <p:nvPr/>
        </p:nvSpPr>
        <p:spPr>
          <a:xfrm>
            <a:off x="859536" y="2697480"/>
            <a:ext cx="2240280" cy="82296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Every prerequisite</a:t>
            </a:r>
            <a:endParaRPr lang="en-US" sz="1250" dirty="0"/>
          </a:p>
          <a:p>
            <a:pPr indent="0" marL="0">
              <a:buNone/>
            </a:pPr>
            <a:r>
              <a:rPr lang="en-US" sz="1250" dirty="0">
                <a:solidFill>
                  <a:srgbClr val="9A9AB4"/>
                </a:solidFill>
                <a:latin typeface="Calibri" pitchFamily="34" charset="0"/>
                <a:ea typeface="Calibri" pitchFamily="34" charset="-122"/>
                <a:cs typeface="Calibri" pitchFamily="34" charset="-120"/>
              </a:rPr>
              <a:t>at or above 0.8</a:t>
            </a:r>
            <a:endParaRPr lang="en-US" sz="1250" dirty="0"/>
          </a:p>
        </p:txBody>
      </p:sp>
      <p:sp>
        <p:nvSpPr>
          <p:cNvPr id="10" name="Shape 7"/>
          <p:cNvSpPr/>
          <p:nvPr/>
        </p:nvSpPr>
        <p:spPr>
          <a:xfrm>
            <a:off x="3511296" y="1965960"/>
            <a:ext cx="2606040" cy="1691640"/>
          </a:xfrm>
          <a:prstGeom prst="roundRect">
            <a:avLst>
              <a:gd name="adj" fmla="val 4324"/>
            </a:avLst>
          </a:prstGeom>
          <a:solidFill>
            <a:srgbClr val="14141E"/>
          </a:solidFill>
          <a:ln w="12700">
            <a:solidFill>
              <a:srgbClr val="1C1C29"/>
            </a:solidFill>
            <a:prstDash val="solid"/>
          </a:ln>
        </p:spPr>
      </p:sp>
      <p:sp>
        <p:nvSpPr>
          <p:cNvPr id="11" name="Shape 8"/>
          <p:cNvSpPr/>
          <p:nvPr/>
        </p:nvSpPr>
        <p:spPr>
          <a:xfrm>
            <a:off x="3712464" y="2157984"/>
            <a:ext cx="420624" cy="420624"/>
          </a:xfrm>
          <a:prstGeom prst="ellipse">
            <a:avLst/>
          </a:prstGeom>
          <a:solidFill>
            <a:srgbClr val="2DD4BF"/>
          </a:solidFill>
          <a:ln/>
        </p:spPr>
      </p:sp>
      <p:sp>
        <p:nvSpPr>
          <p:cNvPr id="12" name="Text 9"/>
          <p:cNvSpPr txBox="1"/>
          <p:nvPr/>
        </p:nvSpPr>
        <p:spPr>
          <a:xfrm>
            <a:off x="3712464" y="2157984"/>
            <a:ext cx="420624" cy="420624"/>
          </a:xfrm>
          <a:prstGeom prst="rect">
            <a:avLst/>
          </a:prstGeom>
          <a:noFill/>
          <a:ln/>
        </p:spPr>
        <p:txBody>
          <a:bodyPr wrap="square" lIns="0" tIns="0" rIns="0" bIns="0" rtlCol="0" anchor="ctr"/>
          <a:lstStyle/>
          <a:p>
            <a:pPr algn="ctr" indent="0" marL="0">
              <a:buNone/>
            </a:pPr>
            <a:r>
              <a:rPr lang="en-US" sz="1500" b="1" dirty="0">
                <a:solidFill>
                  <a:srgbClr val="050507"/>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4261104" y="2157984"/>
            <a:ext cx="1737360" cy="420624"/>
          </a:xfrm>
          <a:prstGeom prst="rect">
            <a:avLst/>
          </a:prstGeom>
          <a:noFill/>
          <a:ln/>
        </p:spPr>
        <p:txBody>
          <a:bodyPr wrap="square" lIns="0" tIns="0" rIns="0" bIns="0" rtlCol="0" anchor="ctr"/>
          <a:lstStyle/>
          <a:p>
            <a:pPr indent="0" marL="0">
              <a:buNone/>
            </a:pPr>
            <a:r>
              <a:rPr lang="en-US" sz="1700" b="1" dirty="0">
                <a:solidFill>
                  <a:srgbClr val="E4E1ED"/>
                </a:solidFill>
                <a:latin typeface="Calibri" pitchFamily="34" charset="0"/>
                <a:ea typeface="Calibri" pitchFamily="34" charset="-122"/>
                <a:cs typeface="Calibri" pitchFamily="34" charset="-120"/>
              </a:rPr>
              <a:t>Target</a:t>
            </a:r>
            <a:endParaRPr lang="en-US" sz="1700" dirty="0"/>
          </a:p>
        </p:txBody>
      </p:sp>
      <p:sp>
        <p:nvSpPr>
          <p:cNvPr id="14" name="Text 11"/>
          <p:cNvSpPr txBox="1"/>
          <p:nvPr/>
        </p:nvSpPr>
        <p:spPr>
          <a:xfrm>
            <a:off x="3730752" y="2697480"/>
            <a:ext cx="2240280" cy="82296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The lowest-mastery</a:t>
            </a:r>
            <a:endParaRPr lang="en-US" sz="1250" dirty="0"/>
          </a:p>
          <a:p>
            <a:pPr indent="0" marL="0">
              <a:buNone/>
            </a:pPr>
            <a:r>
              <a:rPr lang="en-US" sz="1250" dirty="0">
                <a:solidFill>
                  <a:srgbClr val="9A9AB4"/>
                </a:solidFill>
                <a:latin typeface="Calibri" pitchFamily="34" charset="0"/>
                <a:ea typeface="Calibri" pitchFamily="34" charset="-122"/>
                <a:cs typeface="Calibri" pitchFamily="34" charset="-120"/>
              </a:rPr>
              <a:t>unlocked module</a:t>
            </a:r>
            <a:endParaRPr lang="en-US" sz="1250" dirty="0"/>
          </a:p>
        </p:txBody>
      </p:sp>
      <p:sp>
        <p:nvSpPr>
          <p:cNvPr id="15" name="Shape 12"/>
          <p:cNvSpPr/>
          <p:nvPr/>
        </p:nvSpPr>
        <p:spPr>
          <a:xfrm>
            <a:off x="6382512" y="1965960"/>
            <a:ext cx="2606040" cy="1691640"/>
          </a:xfrm>
          <a:prstGeom prst="roundRect">
            <a:avLst>
              <a:gd name="adj" fmla="val 4324"/>
            </a:avLst>
          </a:prstGeom>
          <a:solidFill>
            <a:srgbClr val="14141E"/>
          </a:solidFill>
          <a:ln w="12700">
            <a:solidFill>
              <a:srgbClr val="1C1C29"/>
            </a:solidFill>
            <a:prstDash val="solid"/>
          </a:ln>
        </p:spPr>
      </p:sp>
      <p:sp>
        <p:nvSpPr>
          <p:cNvPr id="16" name="Shape 13"/>
          <p:cNvSpPr/>
          <p:nvPr/>
        </p:nvSpPr>
        <p:spPr>
          <a:xfrm>
            <a:off x="6583680" y="2157984"/>
            <a:ext cx="420624" cy="420624"/>
          </a:xfrm>
          <a:prstGeom prst="ellipse">
            <a:avLst/>
          </a:prstGeom>
          <a:solidFill>
            <a:srgbClr val="2DD4BF"/>
          </a:solidFill>
          <a:ln/>
        </p:spPr>
      </p:sp>
      <p:sp>
        <p:nvSpPr>
          <p:cNvPr id="17" name="Text 14"/>
          <p:cNvSpPr txBox="1"/>
          <p:nvPr/>
        </p:nvSpPr>
        <p:spPr>
          <a:xfrm>
            <a:off x="6583680" y="2157984"/>
            <a:ext cx="420624" cy="420624"/>
          </a:xfrm>
          <a:prstGeom prst="rect">
            <a:avLst/>
          </a:prstGeom>
          <a:noFill/>
          <a:ln/>
        </p:spPr>
        <p:txBody>
          <a:bodyPr wrap="square" lIns="0" tIns="0" rIns="0" bIns="0" rtlCol="0" anchor="ctr"/>
          <a:lstStyle/>
          <a:p>
            <a:pPr algn="ctr" indent="0" marL="0">
              <a:buNone/>
            </a:pPr>
            <a:r>
              <a:rPr lang="en-US" sz="1500" b="1" dirty="0">
                <a:solidFill>
                  <a:srgbClr val="050507"/>
                </a:solidFill>
                <a:latin typeface="Calibri" pitchFamily="34" charset="0"/>
                <a:ea typeface="Calibri" pitchFamily="34" charset="-122"/>
                <a:cs typeface="Calibri" pitchFamily="34" charset="-120"/>
              </a:rPr>
              <a:t>3</a:t>
            </a:r>
            <a:endParaRPr lang="en-US" sz="1500" dirty="0"/>
          </a:p>
        </p:txBody>
      </p:sp>
      <p:sp>
        <p:nvSpPr>
          <p:cNvPr id="18" name="Text 15"/>
          <p:cNvSpPr txBox="1"/>
          <p:nvPr/>
        </p:nvSpPr>
        <p:spPr>
          <a:xfrm>
            <a:off x="7132320" y="2157984"/>
            <a:ext cx="1737360" cy="420624"/>
          </a:xfrm>
          <a:prstGeom prst="rect">
            <a:avLst/>
          </a:prstGeom>
          <a:noFill/>
          <a:ln/>
        </p:spPr>
        <p:txBody>
          <a:bodyPr wrap="square" lIns="0" tIns="0" rIns="0" bIns="0" rtlCol="0" anchor="ctr"/>
          <a:lstStyle/>
          <a:p>
            <a:pPr indent="0" marL="0">
              <a:buNone/>
            </a:pPr>
            <a:r>
              <a:rPr lang="en-US" sz="1700" b="1" dirty="0">
                <a:solidFill>
                  <a:srgbClr val="E4E1ED"/>
                </a:solidFill>
                <a:latin typeface="Calibri" pitchFamily="34" charset="0"/>
                <a:ea typeface="Calibri" pitchFamily="34" charset="-122"/>
                <a:cs typeface="Calibri" pitchFamily="34" charset="-120"/>
              </a:rPr>
              <a:t>Action</a:t>
            </a:r>
            <a:endParaRPr lang="en-US" sz="1700" dirty="0"/>
          </a:p>
        </p:txBody>
      </p:sp>
      <p:sp>
        <p:nvSpPr>
          <p:cNvPr id="19" name="Text 16"/>
          <p:cNvSpPr txBox="1"/>
          <p:nvPr/>
        </p:nvSpPr>
        <p:spPr>
          <a:xfrm>
            <a:off x="6601968" y="2697480"/>
            <a:ext cx="2240280" cy="82296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Never practised → teach.</a:t>
            </a:r>
            <a:endParaRPr lang="en-US" sz="1250" dirty="0"/>
          </a:p>
          <a:p>
            <a:pPr indent="0" marL="0">
              <a:buNone/>
            </a:pPr>
            <a:r>
              <a:rPr lang="en-US" sz="1250" dirty="0">
                <a:solidFill>
                  <a:srgbClr val="9A9AB4"/>
                </a:solidFill>
                <a:latin typeface="Calibri" pitchFamily="34" charset="0"/>
                <a:ea typeface="Calibri" pitchFamily="34" charset="-122"/>
                <a:cs typeface="Calibri" pitchFamily="34" charset="-120"/>
              </a:rPr>
              <a:t>Otherwise the band decides</a:t>
            </a:r>
            <a:endParaRPr lang="en-US" sz="1250" dirty="0"/>
          </a:p>
        </p:txBody>
      </p:sp>
      <p:sp>
        <p:nvSpPr>
          <p:cNvPr id="20" name="Shape 17"/>
          <p:cNvSpPr/>
          <p:nvPr/>
        </p:nvSpPr>
        <p:spPr>
          <a:xfrm>
            <a:off x="9253728" y="1965960"/>
            <a:ext cx="2606040" cy="1691640"/>
          </a:xfrm>
          <a:prstGeom prst="roundRect">
            <a:avLst>
              <a:gd name="adj" fmla="val 4324"/>
            </a:avLst>
          </a:prstGeom>
          <a:solidFill>
            <a:srgbClr val="14141E"/>
          </a:solidFill>
          <a:ln w="12700">
            <a:solidFill>
              <a:srgbClr val="1C1C29"/>
            </a:solidFill>
            <a:prstDash val="solid"/>
          </a:ln>
        </p:spPr>
      </p:sp>
      <p:sp>
        <p:nvSpPr>
          <p:cNvPr id="21" name="Shape 18"/>
          <p:cNvSpPr/>
          <p:nvPr/>
        </p:nvSpPr>
        <p:spPr>
          <a:xfrm>
            <a:off x="9454896" y="2157984"/>
            <a:ext cx="420624" cy="420624"/>
          </a:xfrm>
          <a:prstGeom prst="ellipse">
            <a:avLst/>
          </a:prstGeom>
          <a:solidFill>
            <a:srgbClr val="2DD4BF"/>
          </a:solidFill>
          <a:ln/>
        </p:spPr>
      </p:sp>
      <p:sp>
        <p:nvSpPr>
          <p:cNvPr id="22" name="Text 19"/>
          <p:cNvSpPr txBox="1"/>
          <p:nvPr/>
        </p:nvSpPr>
        <p:spPr>
          <a:xfrm>
            <a:off x="9454896" y="2157984"/>
            <a:ext cx="420624" cy="420624"/>
          </a:xfrm>
          <a:prstGeom prst="rect">
            <a:avLst/>
          </a:prstGeom>
          <a:noFill/>
          <a:ln/>
        </p:spPr>
        <p:txBody>
          <a:bodyPr wrap="square" lIns="0" tIns="0" rIns="0" bIns="0" rtlCol="0" anchor="ctr"/>
          <a:lstStyle/>
          <a:p>
            <a:pPr algn="ctr" indent="0" marL="0">
              <a:buNone/>
            </a:pPr>
            <a:r>
              <a:rPr lang="en-US" sz="1500" b="1" dirty="0">
                <a:solidFill>
                  <a:srgbClr val="050507"/>
                </a:solidFill>
                <a:latin typeface="Calibri" pitchFamily="34" charset="0"/>
                <a:ea typeface="Calibri" pitchFamily="34" charset="-122"/>
                <a:cs typeface="Calibri" pitchFamily="34" charset="-120"/>
              </a:rPr>
              <a:t>4</a:t>
            </a:r>
            <a:endParaRPr lang="en-US" sz="1500" dirty="0"/>
          </a:p>
        </p:txBody>
      </p:sp>
      <p:sp>
        <p:nvSpPr>
          <p:cNvPr id="23" name="Text 20"/>
          <p:cNvSpPr txBox="1"/>
          <p:nvPr/>
        </p:nvSpPr>
        <p:spPr>
          <a:xfrm>
            <a:off x="10003536" y="2157984"/>
            <a:ext cx="1737360" cy="420624"/>
          </a:xfrm>
          <a:prstGeom prst="rect">
            <a:avLst/>
          </a:prstGeom>
          <a:noFill/>
          <a:ln/>
        </p:spPr>
        <p:txBody>
          <a:bodyPr wrap="square" lIns="0" tIns="0" rIns="0" bIns="0" rtlCol="0" anchor="ctr"/>
          <a:lstStyle/>
          <a:p>
            <a:pPr indent="0" marL="0">
              <a:buNone/>
            </a:pPr>
            <a:r>
              <a:rPr lang="en-US" sz="1700" b="1" dirty="0">
                <a:solidFill>
                  <a:srgbClr val="E4E1ED"/>
                </a:solidFill>
                <a:latin typeface="Calibri" pitchFamily="34" charset="0"/>
                <a:ea typeface="Calibri" pitchFamily="34" charset="-122"/>
                <a:cs typeface="Calibri" pitchFamily="34" charset="-120"/>
              </a:rPr>
              <a:t>Item</a:t>
            </a:r>
            <a:endParaRPr lang="en-US" sz="1700" dirty="0"/>
          </a:p>
        </p:txBody>
      </p:sp>
      <p:sp>
        <p:nvSpPr>
          <p:cNvPr id="24" name="Text 21"/>
          <p:cNvSpPr txBox="1"/>
          <p:nvPr/>
        </p:nvSpPr>
        <p:spPr>
          <a:xfrm>
            <a:off x="9473184" y="2697480"/>
            <a:ext cx="2240280" cy="82296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Difficulty ladder off</a:t>
            </a:r>
            <a:endParaRPr lang="en-US" sz="1250" dirty="0"/>
          </a:p>
          <a:p>
            <a:pPr indent="0" marL="0">
              <a:buNone/>
            </a:pPr>
            <a:r>
              <a:rPr lang="en-US" sz="1250" dirty="0">
                <a:solidFill>
                  <a:srgbClr val="9A9AB4"/>
                </a:solidFill>
                <a:latin typeface="Calibri" pitchFamily="34" charset="0"/>
                <a:ea typeface="Calibri" pitchFamily="34" charset="-122"/>
                <a:cs typeface="Calibri" pitchFamily="34" charset="-120"/>
              </a:rPr>
              <a:t>the same estimate</a:t>
            </a:r>
            <a:endParaRPr lang="en-US" sz="1250" dirty="0"/>
          </a:p>
        </p:txBody>
      </p:sp>
      <p:sp>
        <p:nvSpPr>
          <p:cNvPr id="25" name="Shape 22"/>
          <p:cNvSpPr/>
          <p:nvPr/>
        </p:nvSpPr>
        <p:spPr>
          <a:xfrm>
            <a:off x="640080" y="4023360"/>
            <a:ext cx="6766560" cy="548640"/>
          </a:xfrm>
          <a:prstGeom prst="roundRect">
            <a:avLst>
              <a:gd name="adj" fmla="val 10000"/>
            </a:avLst>
          </a:prstGeom>
          <a:solidFill>
            <a:srgbClr val="14141E"/>
          </a:solidFill>
          <a:ln w="12700">
            <a:solidFill>
              <a:srgbClr val="F0B25C"/>
            </a:solidFill>
            <a:prstDash val="solid"/>
          </a:ln>
        </p:spPr>
      </p:sp>
      <p:sp>
        <p:nvSpPr>
          <p:cNvPr id="26" name="Text 23"/>
          <p:cNvSpPr txBox="1"/>
          <p:nvPr/>
        </p:nvSpPr>
        <p:spPr>
          <a:xfrm>
            <a:off x="914400" y="4023360"/>
            <a:ext cx="1828800" cy="548640"/>
          </a:xfrm>
          <a:prstGeom prst="rect">
            <a:avLst/>
          </a:prstGeom>
          <a:noFill/>
          <a:ln/>
        </p:spPr>
        <p:txBody>
          <a:bodyPr wrap="square" lIns="0" tIns="0" rIns="0" bIns="0" rtlCol="0" anchor="ctr"/>
          <a:lstStyle/>
          <a:p>
            <a:pPr indent="0" marL="0">
              <a:buNone/>
            </a:pPr>
            <a:r>
              <a:rPr lang="en-US" sz="1400" b="1" dirty="0">
                <a:solidFill>
                  <a:srgbClr val="F0B25C"/>
                </a:solidFill>
                <a:latin typeface="Calibri" pitchFamily="34" charset="0"/>
                <a:ea typeface="Calibri" pitchFamily="34" charset="-122"/>
                <a:cs typeface="Calibri" pitchFamily="34" charset="-120"/>
              </a:rPr>
              <a:t>below 0.4</a:t>
            </a:r>
            <a:endParaRPr lang="en-US" sz="1400" dirty="0"/>
          </a:p>
        </p:txBody>
      </p:sp>
      <p:sp>
        <p:nvSpPr>
          <p:cNvPr id="27" name="Text 24"/>
          <p:cNvSpPr txBox="1"/>
          <p:nvPr/>
        </p:nvSpPr>
        <p:spPr>
          <a:xfrm>
            <a:off x="2834640" y="4023360"/>
            <a:ext cx="4297680" cy="548640"/>
          </a:xfrm>
          <a:prstGeom prst="rect">
            <a:avLst/>
          </a:prstGeom>
          <a:noFill/>
          <a:ln/>
        </p:spPr>
        <p:txBody>
          <a:bodyPr wrap="square" lIns="0" tIns="0" rIns="0" bIns="0" rtlCol="0" anchor="ctr"/>
          <a:lstStyle/>
          <a:p>
            <a:pPr indent="0" marL="0">
              <a:buNone/>
            </a:pPr>
            <a:r>
              <a:rPr lang="en-US" sz="1400" dirty="0">
                <a:solidFill>
                  <a:srgbClr val="E4E1ED"/>
                </a:solidFill>
                <a:latin typeface="Calibri" pitchFamily="34" charset="0"/>
                <a:ea typeface="Calibri" pitchFamily="34" charset="-122"/>
                <a:cs typeface="Calibri" pitchFamily="34" charset="-120"/>
              </a:rPr>
              <a:t>Remediate</a:t>
            </a:r>
            <a:endParaRPr lang="en-US" sz="1400" dirty="0"/>
          </a:p>
        </p:txBody>
      </p:sp>
      <p:sp>
        <p:nvSpPr>
          <p:cNvPr id="28" name="Shape 25"/>
          <p:cNvSpPr/>
          <p:nvPr/>
        </p:nvSpPr>
        <p:spPr>
          <a:xfrm>
            <a:off x="640080" y="4681728"/>
            <a:ext cx="6766560" cy="548640"/>
          </a:xfrm>
          <a:prstGeom prst="roundRect">
            <a:avLst>
              <a:gd name="adj" fmla="val 10000"/>
            </a:avLst>
          </a:prstGeom>
          <a:solidFill>
            <a:srgbClr val="14141E"/>
          </a:solidFill>
          <a:ln w="12700">
            <a:solidFill>
              <a:srgbClr val="7C7CF0"/>
            </a:solidFill>
            <a:prstDash val="solid"/>
          </a:ln>
        </p:spPr>
      </p:sp>
      <p:sp>
        <p:nvSpPr>
          <p:cNvPr id="29" name="Text 26"/>
          <p:cNvSpPr txBox="1"/>
          <p:nvPr/>
        </p:nvSpPr>
        <p:spPr>
          <a:xfrm>
            <a:off x="914400" y="4681728"/>
            <a:ext cx="1828800" cy="548640"/>
          </a:xfrm>
          <a:prstGeom prst="rect">
            <a:avLst/>
          </a:prstGeom>
          <a:noFill/>
          <a:ln/>
        </p:spPr>
        <p:txBody>
          <a:bodyPr wrap="square" lIns="0" tIns="0" rIns="0" bIns="0" rtlCol="0" anchor="ctr"/>
          <a:lstStyle/>
          <a:p>
            <a:pPr indent="0" marL="0">
              <a:buNone/>
            </a:pPr>
            <a:r>
              <a:rPr lang="en-US" sz="1400" b="1" dirty="0">
                <a:solidFill>
                  <a:srgbClr val="7C7CF0"/>
                </a:solidFill>
                <a:latin typeface="Calibri" pitchFamily="34" charset="0"/>
                <a:ea typeface="Calibri" pitchFamily="34" charset="-122"/>
                <a:cs typeface="Calibri" pitchFamily="34" charset="-120"/>
              </a:rPr>
              <a:t>0.4 to 0.8</a:t>
            </a:r>
            <a:endParaRPr lang="en-US" sz="1400" dirty="0"/>
          </a:p>
        </p:txBody>
      </p:sp>
      <p:sp>
        <p:nvSpPr>
          <p:cNvPr id="30" name="Text 27"/>
          <p:cNvSpPr txBox="1"/>
          <p:nvPr/>
        </p:nvSpPr>
        <p:spPr>
          <a:xfrm>
            <a:off x="2834640" y="4681728"/>
            <a:ext cx="4297680" cy="548640"/>
          </a:xfrm>
          <a:prstGeom prst="rect">
            <a:avLst/>
          </a:prstGeom>
          <a:noFill/>
          <a:ln/>
        </p:spPr>
        <p:txBody>
          <a:bodyPr wrap="square" lIns="0" tIns="0" rIns="0" bIns="0" rtlCol="0" anchor="ctr"/>
          <a:lstStyle/>
          <a:p>
            <a:pPr indent="0" marL="0">
              <a:buNone/>
            </a:pPr>
            <a:r>
              <a:rPr lang="en-US" sz="1400" dirty="0">
                <a:solidFill>
                  <a:srgbClr val="E4E1ED"/>
                </a:solidFill>
                <a:latin typeface="Calibri" pitchFamily="34" charset="0"/>
                <a:ea typeface="Calibri" pitchFamily="34" charset="-122"/>
                <a:cs typeface="Calibri" pitchFamily="34" charset="-120"/>
              </a:rPr>
              <a:t>Practise</a:t>
            </a:r>
            <a:endParaRPr lang="en-US" sz="1400" dirty="0"/>
          </a:p>
        </p:txBody>
      </p:sp>
      <p:sp>
        <p:nvSpPr>
          <p:cNvPr id="31" name="Shape 28"/>
          <p:cNvSpPr/>
          <p:nvPr/>
        </p:nvSpPr>
        <p:spPr>
          <a:xfrm>
            <a:off x="640080" y="5340096"/>
            <a:ext cx="6766560" cy="548640"/>
          </a:xfrm>
          <a:prstGeom prst="roundRect">
            <a:avLst>
              <a:gd name="adj" fmla="val 10000"/>
            </a:avLst>
          </a:prstGeom>
          <a:solidFill>
            <a:srgbClr val="14141E"/>
          </a:solidFill>
          <a:ln w="12700">
            <a:solidFill>
              <a:srgbClr val="2DD4BF"/>
            </a:solidFill>
            <a:prstDash val="solid"/>
          </a:ln>
        </p:spPr>
      </p:sp>
      <p:sp>
        <p:nvSpPr>
          <p:cNvPr id="32" name="Text 29"/>
          <p:cNvSpPr txBox="1"/>
          <p:nvPr/>
        </p:nvSpPr>
        <p:spPr>
          <a:xfrm>
            <a:off x="914400" y="5340096"/>
            <a:ext cx="1828800" cy="54864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0.8 and above</a:t>
            </a:r>
            <a:endParaRPr lang="en-US" sz="1400" dirty="0"/>
          </a:p>
        </p:txBody>
      </p:sp>
      <p:sp>
        <p:nvSpPr>
          <p:cNvPr id="33" name="Text 30"/>
          <p:cNvSpPr txBox="1"/>
          <p:nvPr/>
        </p:nvSpPr>
        <p:spPr>
          <a:xfrm>
            <a:off x="2834640" y="5340096"/>
            <a:ext cx="4297680" cy="548640"/>
          </a:xfrm>
          <a:prstGeom prst="rect">
            <a:avLst/>
          </a:prstGeom>
          <a:noFill/>
          <a:ln/>
        </p:spPr>
        <p:txBody>
          <a:bodyPr wrap="square" lIns="0" tIns="0" rIns="0" bIns="0" rtlCol="0" anchor="ctr"/>
          <a:lstStyle/>
          <a:p>
            <a:pPr indent="0" marL="0">
              <a:buNone/>
            </a:pPr>
            <a:r>
              <a:rPr lang="en-US" sz="1400" dirty="0">
                <a:solidFill>
                  <a:srgbClr val="E4E1ED"/>
                </a:solidFill>
                <a:latin typeface="Calibri" pitchFamily="34" charset="0"/>
                <a:ea typeface="Calibri" pitchFamily="34" charset="-122"/>
                <a:cs typeface="Calibri" pitchFamily="34" charset="-120"/>
              </a:rPr>
              <a:t>Advance, unlock the next</a:t>
            </a:r>
            <a:endParaRPr lang="en-US" sz="1400" dirty="0"/>
          </a:p>
        </p:txBody>
      </p:sp>
      <p:sp>
        <p:nvSpPr>
          <p:cNvPr id="34" name="Shape 31"/>
          <p:cNvSpPr/>
          <p:nvPr/>
        </p:nvSpPr>
        <p:spPr>
          <a:xfrm>
            <a:off x="7863840" y="4023360"/>
            <a:ext cx="3840480" cy="1865376"/>
          </a:xfrm>
          <a:prstGeom prst="roundRect">
            <a:avLst>
              <a:gd name="adj" fmla="val 3922"/>
            </a:avLst>
          </a:prstGeom>
          <a:solidFill>
            <a:srgbClr val="1C1C29"/>
          </a:solidFill>
          <a:ln w="12700">
            <a:solidFill>
              <a:srgbClr val="1C1C29"/>
            </a:solidFill>
            <a:prstDash val="solid"/>
          </a:ln>
        </p:spPr>
      </p:sp>
      <p:sp>
        <p:nvSpPr>
          <p:cNvPr id="35" name="Shape 32"/>
          <p:cNvSpPr/>
          <p:nvPr/>
        </p:nvSpPr>
        <p:spPr>
          <a:xfrm>
            <a:off x="8183880" y="4315968"/>
            <a:ext cx="365760" cy="365760"/>
          </a:xfrm>
          <a:prstGeom prst="ellipse">
            <a:avLst/>
          </a:prstGeom>
          <a:solidFill>
            <a:srgbClr val="050507"/>
          </a:solidFill>
          <a:ln w="25400">
            <a:solidFill>
              <a:srgbClr val="2DD4BF"/>
            </a:solidFill>
            <a:prstDash val="solid"/>
          </a:ln>
        </p:spPr>
      </p:sp>
      <p:sp>
        <p:nvSpPr>
          <p:cNvPr id="36" name="Shape 33"/>
          <p:cNvSpPr/>
          <p:nvPr/>
        </p:nvSpPr>
        <p:spPr>
          <a:xfrm>
            <a:off x="8304581" y="4436669"/>
            <a:ext cx="124358" cy="124358"/>
          </a:xfrm>
          <a:prstGeom prst="ellipse">
            <a:avLst/>
          </a:prstGeom>
          <a:solidFill>
            <a:srgbClr val="2DD4BF"/>
          </a:solidFill>
          <a:ln/>
        </p:spPr>
      </p:sp>
      <p:sp>
        <p:nvSpPr>
          <p:cNvPr id="37" name="Text 34"/>
          <p:cNvSpPr txBox="1"/>
          <p:nvPr/>
        </p:nvSpPr>
        <p:spPr>
          <a:xfrm>
            <a:off x="8183880" y="4800600"/>
            <a:ext cx="3246120" cy="914400"/>
          </a:xfrm>
          <a:prstGeom prst="rect">
            <a:avLst/>
          </a:prstGeom>
          <a:noFill/>
          <a:ln/>
        </p:spPr>
        <p:txBody>
          <a:bodyPr wrap="square" lIns="0" tIns="0" rIns="0" bIns="0" rtlCol="0" anchor="ctr"/>
          <a:lstStyle/>
          <a:p>
            <a:pPr indent="0" marL="0">
              <a:buNone/>
            </a:pPr>
            <a:r>
              <a:rPr lang="en-US" sz="1300" dirty="0">
                <a:solidFill>
                  <a:srgbClr val="E4E1ED"/>
                </a:solidFill>
                <a:latin typeface="Calibri" pitchFamily="34" charset="0"/>
                <a:ea typeface="Calibri" pitchFamily="34" charset="-122"/>
                <a:cs typeface="Calibri" pitchFamily="34" charset="-120"/>
              </a:rPr>
              <a:t>Also: an easy item is forced after two consecutive wrongs, and no item repeats inside a session.</a:t>
            </a:r>
            <a:endParaRPr lang="en-US" sz="1300" dirty="0"/>
          </a:p>
        </p:txBody>
      </p:sp>
      <p:sp>
        <p:nvSpPr>
          <p:cNvPr id="38" name="Text 35"/>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39" name="Text 36"/>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The model shows its working</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The single most original thing in the build</a:t>
            </a:r>
            <a:endParaRPr lang="en-US" sz="1700" dirty="0"/>
          </a:p>
        </p:txBody>
      </p:sp>
      <p:pic>
        <p:nvPicPr>
          <p:cNvPr id="5" name="Image 0" descr="img/10-why-this-question.jpg">    </p:cNvPr>
          <p:cNvPicPr>
            <a:picLocks noChangeAspect="1"/>
          </p:cNvPicPr>
          <p:nvPr/>
        </p:nvPicPr>
        <p:blipFill>
          <a:blip r:embed="rId1"/>
          <a:stretch>
            <a:fillRect/>
          </a:stretch>
        </p:blipFill>
        <p:spPr>
          <a:xfrm>
            <a:off x="640080" y="1920240"/>
            <a:ext cx="6583680" cy="4114800"/>
          </a:xfrm>
          <a:prstGeom prst="rect">
            <a:avLst/>
          </a:prstGeom>
        </p:spPr>
      </p:pic>
      <p:sp>
        <p:nvSpPr>
          <p:cNvPr id="6" name="Shape 2"/>
          <p:cNvSpPr/>
          <p:nvPr/>
        </p:nvSpPr>
        <p:spPr>
          <a:xfrm>
            <a:off x="7589520" y="1920240"/>
            <a:ext cx="4114800" cy="4114800"/>
          </a:xfrm>
          <a:prstGeom prst="roundRect">
            <a:avLst>
              <a:gd name="adj" fmla="val 1778"/>
            </a:avLst>
          </a:prstGeom>
          <a:solidFill>
            <a:srgbClr val="14141E"/>
          </a:solidFill>
          <a:ln w="12700">
            <a:solidFill>
              <a:srgbClr val="1C1C29"/>
            </a:solidFill>
            <a:prstDash val="solid"/>
          </a:ln>
        </p:spPr>
      </p:sp>
      <p:sp>
        <p:nvSpPr>
          <p:cNvPr id="7" name="Text 3"/>
          <p:cNvSpPr txBox="1"/>
          <p:nvPr/>
        </p:nvSpPr>
        <p:spPr>
          <a:xfrm>
            <a:off x="7909560" y="2148840"/>
            <a:ext cx="3566160" cy="365760"/>
          </a:xfrm>
          <a:prstGeom prst="rect">
            <a:avLst/>
          </a:prstGeom>
          <a:noFill/>
          <a:ln/>
        </p:spPr>
        <p:txBody>
          <a:bodyPr wrap="square" lIns="0" tIns="0" rIns="0" bIns="0" rtlCol="0" anchor="ctr"/>
          <a:lstStyle/>
          <a:p>
            <a:pPr indent="0" marL="0">
              <a:buNone/>
            </a:pPr>
            <a:r>
              <a:rPr lang="en-US" sz="1900" b="1" dirty="0">
                <a:solidFill>
                  <a:srgbClr val="44E2CD"/>
                </a:solidFill>
                <a:latin typeface="Calibri" pitchFamily="34" charset="0"/>
                <a:ea typeface="Calibri" pitchFamily="34" charset="-122"/>
                <a:cs typeface="Calibri" pitchFamily="34" charset="-120"/>
              </a:rPr>
              <a:t>Why this matters</a:t>
            </a:r>
            <a:endParaRPr lang="en-US" sz="1900" dirty="0"/>
          </a:p>
        </p:txBody>
      </p:sp>
      <p:sp>
        <p:nvSpPr>
          <p:cNvPr id="8" name="Text 4"/>
          <p:cNvSpPr txBox="1"/>
          <p:nvPr/>
        </p:nvSpPr>
        <p:spPr>
          <a:xfrm>
            <a:off x="7909560" y="2651760"/>
            <a:ext cx="3566160" cy="3200400"/>
          </a:xfrm>
          <a:prstGeom prst="rect">
            <a:avLst/>
          </a:prstGeom>
          <a:noFill/>
          <a:ln/>
        </p:spPr>
        <p:txBody>
          <a:bodyPr wrap="square" lIns="0" tIns="0" rIns="0" bIns="0" rtlCol="0" anchor="ctr"/>
          <a:lstStyle/>
          <a:p>
            <a:pPr indent="0" marL="0">
              <a:buNone/>
            </a:pPr>
            <a:r>
              <a:rPr lang="en-US" sz="1400" dirty="0">
                <a:solidFill>
                  <a:srgbClr val="E4E1ED"/>
                </a:solidFill>
                <a:latin typeface="Calibri" pitchFamily="34" charset="0"/>
                <a:ea typeface="Calibri" pitchFamily="34" charset="-122"/>
                <a:cs typeface="Calibri" pitchFamily="34" charset="-120"/>
              </a:rPr>
              <a:t>The panel renders the routing engine's actual decision object, not a summary written for display.</a:t>
            </a:r>
            <a:endParaRPr lang="en-US" sz="1400" dirty="0"/>
          </a:p>
          <a:p>
            <a:pPr indent="0" marL="0">
              <a:buNone/>
            </a:pPr>
            <a:endParaRPr lang="en-US" sz="1400" dirty="0"/>
          </a:p>
          <a:p>
            <a:pPr indent="0" marL="0">
              <a:buNone/>
            </a:pPr>
            <a:r>
              <a:rPr lang="en-US" sz="1400" dirty="0">
                <a:solidFill>
                  <a:srgbClr val="E4E1ED"/>
                </a:solidFill>
                <a:latin typeface="Calibri" pitchFamily="34" charset="0"/>
                <a:ea typeface="Calibri" pitchFamily="34" charset="-122"/>
                <a:cs typeface="Calibri" pitchFamily="34" charset="-120"/>
              </a:rPr>
              <a:t>Most self-explaining systems explain a reconstruction. A reconstruction can drift silently from the behaviour it claims to describe.</a:t>
            </a:r>
            <a:endParaRPr lang="en-US" sz="1400" dirty="0"/>
          </a:p>
          <a:p>
            <a:pPr indent="0" marL="0">
              <a:buNone/>
            </a:pPr>
            <a:endParaRPr lang="en-US" sz="1400" dirty="0"/>
          </a:p>
          <a:p>
            <a:pPr indent="0" marL="0">
              <a:buNone/>
            </a:pPr>
            <a:r>
              <a:rPr lang="en-US" sz="1400" dirty="0">
                <a:solidFill>
                  <a:srgbClr val="E4E1ED"/>
                </a:solidFill>
                <a:latin typeface="Calibri" pitchFamily="34" charset="0"/>
                <a:ea typeface="Calibri" pitchFamily="34" charset="-122"/>
                <a:cs typeface="Calibri" pitchFamily="34" charset="-120"/>
              </a:rPr>
              <a:t>There is only one object here. So the explanation is structurally incapable of disagreeing with the decision.</a:t>
            </a:r>
            <a:endParaRPr lang="en-US" sz="1400" dirty="0"/>
          </a:p>
          <a:p>
            <a:pPr indent="0" marL="0">
              <a:buNone/>
            </a:pPr>
            <a:endParaRPr lang="en-US" sz="1400" dirty="0"/>
          </a:p>
          <a:p>
            <a:pPr indent="0" marL="0">
              <a:buNone/>
            </a:pPr>
            <a:r>
              <a:rPr lang="en-US" sz="1400" b="1" dirty="0">
                <a:solidFill>
                  <a:srgbClr val="E4E1ED"/>
                </a:solidFill>
                <a:latin typeface="Calibri" pitchFamily="34" charset="0"/>
                <a:ea typeface="Calibri" pitchFamily="34" charset="-122"/>
                <a:cs typeface="Calibri" pitchFamily="34" charset="-120"/>
              </a:rPr>
              <a:t>Cheap to build in. Expensive to retrofit.</a:t>
            </a:r>
            <a:endParaRPr lang="en-US" sz="1400" dirty="0"/>
          </a:p>
        </p:txBody>
      </p:sp>
      <p:sp>
        <p:nvSpPr>
          <p:cNvPr id="9" name="Text 5"/>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10" name="Text 6"/>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822960" y="685800"/>
            <a:ext cx="10515600" cy="914400"/>
          </a:xfrm>
          <a:prstGeom prst="rect">
            <a:avLst/>
          </a:prstGeom>
          <a:noFill/>
          <a:ln/>
        </p:spPr>
        <p:txBody>
          <a:bodyPr wrap="square" lIns="0" tIns="0" rIns="0" bIns="0" rtlCol="0" anchor="ctr"/>
          <a:lstStyle/>
          <a:p>
            <a:pPr indent="0" marL="0">
              <a:buNone/>
            </a:pPr>
            <a:r>
              <a:rPr lang="en-US" sz="4400" b="1" dirty="0">
                <a:solidFill>
                  <a:srgbClr val="E4E1ED"/>
                </a:solidFill>
                <a:latin typeface="Calibri" pitchFamily="34" charset="0"/>
                <a:ea typeface="Calibri" pitchFamily="34" charset="-122"/>
                <a:cs typeface="Calibri" pitchFamily="34" charset="-120"/>
              </a:rPr>
              <a:t>Live demonstration</a:t>
            </a:r>
            <a:endParaRPr lang="en-US" sz="4400" dirty="0"/>
          </a:p>
        </p:txBody>
      </p:sp>
      <p:sp>
        <p:nvSpPr>
          <p:cNvPr id="4" name="Text 1"/>
          <p:cNvSpPr txBox="1"/>
          <p:nvPr/>
        </p:nvSpPr>
        <p:spPr>
          <a:xfrm>
            <a:off x="822960" y="1572768"/>
            <a:ext cx="10515600" cy="411480"/>
          </a:xfrm>
          <a:prstGeom prst="rect">
            <a:avLst/>
          </a:prstGeom>
          <a:noFill/>
          <a:ln/>
        </p:spPr>
        <p:txBody>
          <a:bodyPr wrap="square" lIns="0" tIns="0" rIns="0" bIns="0" rtlCol="0" anchor="ctr"/>
          <a:lstStyle/>
          <a:p>
            <a:pPr indent="0" marL="0">
              <a:buNone/>
            </a:pPr>
            <a:r>
              <a:rPr lang="en-US" sz="1800" dirty="0">
                <a:solidFill>
                  <a:srgbClr val="44E2CD"/>
                </a:solidFill>
                <a:latin typeface="Calibri" pitchFamily="34" charset="0"/>
                <a:ea typeface="Calibri" pitchFamily="34" charset="-122"/>
                <a:cs typeface="Calibri" pitchFamily="34" charset="-120"/>
              </a:rPr>
              <a:t>The loop, end to end, on the real application</a:t>
            </a:r>
            <a:endParaRPr lang="en-US" sz="1800" dirty="0"/>
          </a:p>
        </p:txBody>
      </p:sp>
      <p:pic>
        <p:nvPicPr>
          <p:cNvPr id="5" name="Image 0" descr="img/03-consent.jpg">    </p:cNvPr>
          <p:cNvPicPr>
            <a:picLocks noChangeAspect="1"/>
          </p:cNvPicPr>
          <p:nvPr/>
        </p:nvPicPr>
        <p:blipFill>
          <a:blip r:embed="rId1"/>
          <a:stretch>
            <a:fillRect/>
          </a:stretch>
        </p:blipFill>
        <p:spPr>
          <a:xfrm>
            <a:off x="868680" y="2331720"/>
            <a:ext cx="3108960" cy="1943100"/>
          </a:xfrm>
          <a:prstGeom prst="rect">
            <a:avLst/>
          </a:prstGeom>
        </p:spPr>
      </p:pic>
      <p:sp>
        <p:nvSpPr>
          <p:cNvPr id="6" name="Text 2"/>
          <p:cNvSpPr txBox="1"/>
          <p:nvPr/>
        </p:nvSpPr>
        <p:spPr>
          <a:xfrm>
            <a:off x="868680" y="4297680"/>
            <a:ext cx="3108960" cy="237744"/>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Consent, with a working decline</a:t>
            </a:r>
            <a:endParaRPr lang="en-US" sz="1050" dirty="0"/>
          </a:p>
        </p:txBody>
      </p:sp>
      <p:pic>
        <p:nvPicPr>
          <p:cNvPr id="7" name="Image 1" descr="img/04-placement.jpg">    </p:cNvPr>
          <p:cNvPicPr>
            <a:picLocks noChangeAspect="1"/>
          </p:cNvPicPr>
          <p:nvPr/>
        </p:nvPicPr>
        <p:blipFill>
          <a:blip r:embed="rId2"/>
          <a:stretch>
            <a:fillRect/>
          </a:stretch>
        </p:blipFill>
        <p:spPr>
          <a:xfrm>
            <a:off x="4453128" y="2331720"/>
            <a:ext cx="3108960" cy="1943100"/>
          </a:xfrm>
          <a:prstGeom prst="rect">
            <a:avLst/>
          </a:prstGeom>
        </p:spPr>
      </p:pic>
      <p:sp>
        <p:nvSpPr>
          <p:cNvPr id="8" name="Text 3"/>
          <p:cNvSpPr txBox="1"/>
          <p:nvPr/>
        </p:nvSpPr>
        <p:spPr>
          <a:xfrm>
            <a:off x="4453128" y="4297680"/>
            <a:ext cx="3108960" cy="237744"/>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Placement, one item per module</a:t>
            </a:r>
            <a:endParaRPr lang="en-US" sz="1050" dirty="0"/>
          </a:p>
        </p:txBody>
      </p:sp>
      <p:pic>
        <p:nvPicPr>
          <p:cNvPr id="9" name="Image 2" descr="img/05-init-moment.jpg">    </p:cNvPr>
          <p:cNvPicPr>
            <a:picLocks noChangeAspect="1"/>
          </p:cNvPicPr>
          <p:nvPr/>
        </p:nvPicPr>
        <p:blipFill>
          <a:blip r:embed="rId3"/>
          <a:stretch>
            <a:fillRect/>
          </a:stretch>
        </p:blipFill>
        <p:spPr>
          <a:xfrm>
            <a:off x="8037576" y="2331720"/>
            <a:ext cx="3108960" cy="1943100"/>
          </a:xfrm>
          <a:prstGeom prst="rect">
            <a:avLst/>
          </a:prstGeom>
        </p:spPr>
      </p:pic>
      <p:sp>
        <p:nvSpPr>
          <p:cNvPr id="10" name="Text 4"/>
          <p:cNvSpPr txBox="1"/>
          <p:nvPr/>
        </p:nvSpPr>
        <p:spPr>
          <a:xfrm>
            <a:off x="8037576" y="4297680"/>
            <a:ext cx="3108960" cy="237744"/>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The model initialising</a:t>
            </a:r>
            <a:endParaRPr lang="en-US" sz="1050" dirty="0"/>
          </a:p>
        </p:txBody>
      </p:sp>
      <p:pic>
        <p:nvPicPr>
          <p:cNvPr id="11" name="Image 3" descr="img/07-skill-tree.jpg">    </p:cNvPr>
          <p:cNvPicPr>
            <a:picLocks noChangeAspect="1"/>
          </p:cNvPicPr>
          <p:nvPr/>
        </p:nvPicPr>
        <p:blipFill>
          <a:blip r:embed="rId4"/>
          <a:stretch>
            <a:fillRect/>
          </a:stretch>
        </p:blipFill>
        <p:spPr>
          <a:xfrm>
            <a:off x="868680" y="4544568"/>
            <a:ext cx="3108960" cy="1943100"/>
          </a:xfrm>
          <a:prstGeom prst="rect">
            <a:avLst/>
          </a:prstGeom>
        </p:spPr>
      </p:pic>
      <p:sp>
        <p:nvSpPr>
          <p:cNvPr id="12" name="Text 5"/>
          <p:cNvSpPr txBox="1"/>
          <p:nvPr/>
        </p:nvSpPr>
        <p:spPr>
          <a:xfrm>
            <a:off x="868680" y="6510528"/>
            <a:ext cx="3108960" cy="237744"/>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The curriculum as one route</a:t>
            </a:r>
            <a:endParaRPr lang="en-US" sz="1050" dirty="0"/>
          </a:p>
        </p:txBody>
      </p:sp>
      <p:pic>
        <p:nvPicPr>
          <p:cNvPr id="13" name="Image 4" descr="img/09-quiz.jpg">    </p:cNvPr>
          <p:cNvPicPr>
            <a:picLocks noChangeAspect="1"/>
          </p:cNvPicPr>
          <p:nvPr/>
        </p:nvPicPr>
        <p:blipFill>
          <a:blip r:embed="rId5"/>
          <a:stretch>
            <a:fillRect/>
          </a:stretch>
        </p:blipFill>
        <p:spPr>
          <a:xfrm>
            <a:off x="4453128" y="4544568"/>
            <a:ext cx="3108960" cy="1943100"/>
          </a:xfrm>
          <a:prstGeom prst="rect">
            <a:avLst/>
          </a:prstGeom>
        </p:spPr>
      </p:pic>
      <p:sp>
        <p:nvSpPr>
          <p:cNvPr id="14" name="Text 6"/>
          <p:cNvSpPr txBox="1"/>
          <p:nvPr/>
        </p:nvSpPr>
        <p:spPr>
          <a:xfrm>
            <a:off x="4453128" y="6510528"/>
            <a:ext cx="3108960" cy="237744"/>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Practice, with live mastery</a:t>
            </a:r>
            <a:endParaRPr lang="en-US" sz="1050" dirty="0"/>
          </a:p>
        </p:txBody>
      </p:sp>
      <p:pic>
        <p:nvPicPr>
          <p:cNvPr id="15" name="Image 5" descr="img/12-session-summary.jpg">    </p:cNvPr>
          <p:cNvPicPr>
            <a:picLocks noChangeAspect="1"/>
          </p:cNvPicPr>
          <p:nvPr/>
        </p:nvPicPr>
        <p:blipFill>
          <a:blip r:embed="rId6"/>
          <a:stretch>
            <a:fillRect/>
          </a:stretch>
        </p:blipFill>
        <p:spPr>
          <a:xfrm>
            <a:off x="8037576" y="4544568"/>
            <a:ext cx="3108960" cy="1943100"/>
          </a:xfrm>
          <a:prstGeom prst="rect">
            <a:avLst/>
          </a:prstGeom>
        </p:spPr>
      </p:pic>
      <p:sp>
        <p:nvSpPr>
          <p:cNvPr id="16" name="Text 7"/>
          <p:cNvSpPr txBox="1"/>
          <p:nvPr/>
        </p:nvSpPr>
        <p:spPr>
          <a:xfrm>
            <a:off x="8037576" y="6510528"/>
            <a:ext cx="3108960" cy="237744"/>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Before and after, per module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The content, and how it is evidenced</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Constructed where precision matters, real where authenticity does</a:t>
            </a:r>
            <a:endParaRPr lang="en-US" sz="1700" dirty="0"/>
          </a:p>
        </p:txBody>
      </p:sp>
      <p:sp>
        <p:nvSpPr>
          <p:cNvPr id="5" name="Shape 2"/>
          <p:cNvSpPr/>
          <p:nvPr/>
        </p:nvSpPr>
        <p:spPr>
          <a:xfrm>
            <a:off x="640080" y="1965960"/>
            <a:ext cx="3520440" cy="2880360"/>
          </a:xfrm>
          <a:prstGeom prst="roundRect">
            <a:avLst>
              <a:gd name="adj" fmla="val 2540"/>
            </a:avLst>
          </a:prstGeom>
          <a:solidFill>
            <a:srgbClr val="14141E"/>
          </a:solidFill>
          <a:ln w="12700">
            <a:solidFill>
              <a:srgbClr val="1C1C29"/>
            </a:solidFill>
            <a:prstDash val="solid"/>
          </a:ln>
        </p:spPr>
      </p:sp>
      <p:sp>
        <p:nvSpPr>
          <p:cNvPr id="6" name="Text 3"/>
          <p:cNvSpPr txBox="1"/>
          <p:nvPr/>
        </p:nvSpPr>
        <p:spPr>
          <a:xfrm>
            <a:off x="914400" y="2148840"/>
            <a:ext cx="2926080" cy="685800"/>
          </a:xfrm>
          <a:prstGeom prst="rect">
            <a:avLst/>
          </a:prstGeom>
          <a:noFill/>
          <a:ln/>
        </p:spPr>
        <p:txBody>
          <a:bodyPr wrap="square" lIns="0" tIns="0" rIns="0" bIns="0" rtlCol="0" anchor="ctr"/>
          <a:lstStyle/>
          <a:p>
            <a:pPr indent="0" marL="0">
              <a:buNone/>
            </a:pPr>
            <a:r>
              <a:rPr lang="en-US" sz="4000" b="1" dirty="0">
                <a:solidFill>
                  <a:srgbClr val="44E2CD"/>
                </a:solidFill>
                <a:latin typeface="Calibri" pitchFamily="34" charset="0"/>
                <a:ea typeface="Calibri" pitchFamily="34" charset="-122"/>
                <a:cs typeface="Calibri" pitchFamily="34" charset="-120"/>
              </a:rPr>
              <a:t>33</a:t>
            </a:r>
            <a:endParaRPr lang="en-US" sz="4000" dirty="0"/>
          </a:p>
        </p:txBody>
      </p:sp>
      <p:sp>
        <p:nvSpPr>
          <p:cNvPr id="7" name="Text 4"/>
          <p:cNvSpPr txBox="1"/>
          <p:nvPr/>
        </p:nvSpPr>
        <p:spPr>
          <a:xfrm>
            <a:off x="914400" y="2834640"/>
            <a:ext cx="2926080" cy="320040"/>
          </a:xfrm>
          <a:prstGeom prst="rect">
            <a:avLst/>
          </a:prstGeom>
          <a:noFill/>
          <a:ln/>
        </p:spPr>
        <p:txBody>
          <a:bodyPr wrap="square" lIns="0" tIns="0" rIns="0" bIns="0" rtlCol="0" anchor="ctr"/>
          <a:lstStyle/>
          <a:p>
            <a:pPr indent="0" marL="0">
              <a:buNone/>
            </a:pPr>
            <a:r>
              <a:rPr lang="en-US" sz="1600" b="1" dirty="0">
                <a:solidFill>
                  <a:srgbClr val="E4E1ED"/>
                </a:solidFill>
                <a:latin typeface="Calibri" pitchFamily="34" charset="0"/>
                <a:ea typeface="Calibri" pitchFamily="34" charset="-122"/>
                <a:cs typeface="Calibri" pitchFamily="34" charset="-120"/>
              </a:rPr>
              <a:t>Recorded lessons</a:t>
            </a:r>
            <a:endParaRPr lang="en-US" sz="1600" dirty="0"/>
          </a:p>
        </p:txBody>
      </p:sp>
      <p:sp>
        <p:nvSpPr>
          <p:cNvPr id="8" name="Text 5"/>
          <p:cNvSpPr txBox="1"/>
          <p:nvPr/>
        </p:nvSpPr>
        <p:spPr>
          <a:xfrm>
            <a:off x="914400" y="3246120"/>
            <a:ext cx="2971800" cy="155448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Transcribed from four and a half hours of original video across 36 recordings, then rewritten as structured markdown.</a:t>
            </a:r>
            <a:endParaRPr lang="en-US" sz="1250" dirty="0"/>
          </a:p>
        </p:txBody>
      </p:sp>
      <p:sp>
        <p:nvSpPr>
          <p:cNvPr id="9" name="Shape 6"/>
          <p:cNvSpPr/>
          <p:nvPr/>
        </p:nvSpPr>
        <p:spPr>
          <a:xfrm>
            <a:off x="4434840" y="1965960"/>
            <a:ext cx="3520440" cy="2880360"/>
          </a:xfrm>
          <a:prstGeom prst="roundRect">
            <a:avLst>
              <a:gd name="adj" fmla="val 2540"/>
            </a:avLst>
          </a:prstGeom>
          <a:solidFill>
            <a:srgbClr val="14141E"/>
          </a:solidFill>
          <a:ln w="12700">
            <a:solidFill>
              <a:srgbClr val="1C1C29"/>
            </a:solidFill>
            <a:prstDash val="solid"/>
          </a:ln>
        </p:spPr>
      </p:sp>
      <p:sp>
        <p:nvSpPr>
          <p:cNvPr id="10" name="Text 7"/>
          <p:cNvSpPr txBox="1"/>
          <p:nvPr/>
        </p:nvSpPr>
        <p:spPr>
          <a:xfrm>
            <a:off x="4709160" y="2148840"/>
            <a:ext cx="2926080" cy="685800"/>
          </a:xfrm>
          <a:prstGeom prst="rect">
            <a:avLst/>
          </a:prstGeom>
          <a:noFill/>
          <a:ln/>
        </p:spPr>
        <p:txBody>
          <a:bodyPr wrap="square" lIns="0" tIns="0" rIns="0" bIns="0" rtlCol="0" anchor="ctr"/>
          <a:lstStyle/>
          <a:p>
            <a:pPr indent="0" marL="0">
              <a:buNone/>
            </a:pPr>
            <a:r>
              <a:rPr lang="en-US" sz="4000" b="1" dirty="0">
                <a:solidFill>
                  <a:srgbClr val="44E2CD"/>
                </a:solidFill>
                <a:latin typeface="Calibri" pitchFamily="34" charset="0"/>
                <a:ea typeface="Calibri" pitchFamily="34" charset="-122"/>
                <a:cs typeface="Calibri" pitchFamily="34" charset="-120"/>
              </a:rPr>
              <a:t>48</a:t>
            </a:r>
            <a:endParaRPr lang="en-US" sz="4000" dirty="0"/>
          </a:p>
        </p:txBody>
      </p:sp>
      <p:sp>
        <p:nvSpPr>
          <p:cNvPr id="11" name="Text 8"/>
          <p:cNvSpPr txBox="1"/>
          <p:nvPr/>
        </p:nvSpPr>
        <p:spPr>
          <a:xfrm>
            <a:off x="4709160" y="2834640"/>
            <a:ext cx="2926080" cy="320040"/>
          </a:xfrm>
          <a:prstGeom prst="rect">
            <a:avLst/>
          </a:prstGeom>
          <a:noFill/>
          <a:ln/>
        </p:spPr>
        <p:txBody>
          <a:bodyPr wrap="square" lIns="0" tIns="0" rIns="0" bIns="0" rtlCol="0" anchor="ctr"/>
          <a:lstStyle/>
          <a:p>
            <a:pPr indent="0" marL="0">
              <a:buNone/>
            </a:pPr>
            <a:r>
              <a:rPr lang="en-US" sz="1600" b="1" dirty="0">
                <a:solidFill>
                  <a:srgbClr val="E4E1ED"/>
                </a:solidFill>
                <a:latin typeface="Calibri" pitchFamily="34" charset="0"/>
                <a:ea typeface="Calibri" pitchFamily="34" charset="-122"/>
                <a:cs typeface="Calibri" pitchFamily="34" charset="-120"/>
              </a:rPr>
              <a:t>Stepped walkthroughs</a:t>
            </a:r>
            <a:endParaRPr lang="en-US" sz="1600" dirty="0"/>
          </a:p>
        </p:txBody>
      </p:sp>
      <p:sp>
        <p:nvSpPr>
          <p:cNvPr id="12" name="Text 9"/>
          <p:cNvSpPr txBox="1"/>
          <p:nvPr/>
        </p:nvSpPr>
        <p:spPr>
          <a:xfrm>
            <a:off x="4709160" y="3246120"/>
            <a:ext cx="2971800" cy="155448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A constructed price series, so the sweep, the break and the gap land on exactly the bars the caption names. Keyboard operable, announced to screen readers, with a full text description.</a:t>
            </a:r>
            <a:endParaRPr lang="en-US" sz="1250" dirty="0"/>
          </a:p>
        </p:txBody>
      </p:sp>
      <p:sp>
        <p:nvSpPr>
          <p:cNvPr id="13" name="Shape 10"/>
          <p:cNvSpPr/>
          <p:nvPr/>
        </p:nvSpPr>
        <p:spPr>
          <a:xfrm>
            <a:off x="8229600" y="1965960"/>
            <a:ext cx="3520440" cy="2880360"/>
          </a:xfrm>
          <a:prstGeom prst="roundRect">
            <a:avLst>
              <a:gd name="adj" fmla="val 2540"/>
            </a:avLst>
          </a:prstGeom>
          <a:solidFill>
            <a:srgbClr val="14141E"/>
          </a:solidFill>
          <a:ln w="12700">
            <a:solidFill>
              <a:srgbClr val="1C1C29"/>
            </a:solidFill>
            <a:prstDash val="solid"/>
          </a:ln>
        </p:spPr>
      </p:sp>
      <p:sp>
        <p:nvSpPr>
          <p:cNvPr id="14" name="Text 11"/>
          <p:cNvSpPr txBox="1"/>
          <p:nvPr/>
        </p:nvSpPr>
        <p:spPr>
          <a:xfrm>
            <a:off x="8503920" y="2148840"/>
            <a:ext cx="2926080" cy="685800"/>
          </a:xfrm>
          <a:prstGeom prst="rect">
            <a:avLst/>
          </a:prstGeom>
          <a:noFill/>
          <a:ln/>
        </p:spPr>
        <p:txBody>
          <a:bodyPr wrap="square" lIns="0" tIns="0" rIns="0" bIns="0" rtlCol="0" anchor="ctr"/>
          <a:lstStyle/>
          <a:p>
            <a:pPr indent="0" marL="0">
              <a:buNone/>
            </a:pPr>
            <a:r>
              <a:rPr lang="en-US" sz="4000" b="1" dirty="0">
                <a:solidFill>
                  <a:srgbClr val="44E2CD"/>
                </a:solidFill>
                <a:latin typeface="Calibri" pitchFamily="34" charset="0"/>
                <a:ea typeface="Calibri" pitchFamily="34" charset="-122"/>
                <a:cs typeface="Calibri" pitchFamily="34" charset="-120"/>
              </a:rPr>
              <a:t>16</a:t>
            </a:r>
            <a:endParaRPr lang="en-US" sz="4000" dirty="0"/>
          </a:p>
        </p:txBody>
      </p:sp>
      <p:sp>
        <p:nvSpPr>
          <p:cNvPr id="15" name="Text 12"/>
          <p:cNvSpPr txBox="1"/>
          <p:nvPr/>
        </p:nvSpPr>
        <p:spPr>
          <a:xfrm>
            <a:off x="8503920" y="2834640"/>
            <a:ext cx="2926080" cy="320040"/>
          </a:xfrm>
          <a:prstGeom prst="rect">
            <a:avLst/>
          </a:prstGeom>
          <a:noFill/>
          <a:ln/>
        </p:spPr>
        <p:txBody>
          <a:bodyPr wrap="square" lIns="0" tIns="0" rIns="0" bIns="0" rtlCol="0" anchor="ctr"/>
          <a:lstStyle/>
          <a:p>
            <a:pPr indent="0" marL="0">
              <a:buNone/>
            </a:pPr>
            <a:r>
              <a:rPr lang="en-US" sz="1600" b="1" dirty="0">
                <a:solidFill>
                  <a:srgbClr val="E4E1ED"/>
                </a:solidFill>
                <a:latin typeface="Calibri" pitchFamily="34" charset="0"/>
                <a:ea typeface="Calibri" pitchFamily="34" charset="-122"/>
                <a:cs typeface="Calibri" pitchFamily="34" charset="-120"/>
              </a:rPr>
              <a:t>Real case studies</a:t>
            </a:r>
            <a:endParaRPr lang="en-US" sz="1600" dirty="0"/>
          </a:p>
        </p:txBody>
      </p:sp>
      <p:sp>
        <p:nvSpPr>
          <p:cNvPr id="16" name="Text 13"/>
          <p:cNvSpPr txBox="1"/>
          <p:nvPr/>
        </p:nvSpPr>
        <p:spPr>
          <a:xfrm>
            <a:off x="8503920" y="3246120"/>
            <a:ext cx="2971800" cy="155448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Historical ES and NASDAQ bars, dated and attributed. Found by a detector that encodes the lesson's own rule, not chosen by eye.</a:t>
            </a:r>
            <a:endParaRPr lang="en-US" sz="1250" dirty="0"/>
          </a:p>
        </p:txBody>
      </p:sp>
      <p:sp>
        <p:nvSpPr>
          <p:cNvPr id="17" name="Shape 14"/>
          <p:cNvSpPr/>
          <p:nvPr/>
        </p:nvSpPr>
        <p:spPr>
          <a:xfrm>
            <a:off x="640080" y="4983480"/>
            <a:ext cx="11064240" cy="1051560"/>
          </a:xfrm>
          <a:prstGeom prst="roundRect">
            <a:avLst>
              <a:gd name="adj" fmla="val 6957"/>
            </a:avLst>
          </a:prstGeom>
          <a:solidFill>
            <a:srgbClr val="1C1C29"/>
          </a:solidFill>
          <a:ln w="12700">
            <a:solidFill>
              <a:srgbClr val="1C1C29"/>
            </a:solidFill>
            <a:prstDash val="solid"/>
          </a:ln>
        </p:spPr>
      </p:sp>
      <p:sp>
        <p:nvSpPr>
          <p:cNvPr id="18" name="Shape 15"/>
          <p:cNvSpPr/>
          <p:nvPr/>
        </p:nvSpPr>
        <p:spPr>
          <a:xfrm>
            <a:off x="960120" y="5321808"/>
            <a:ext cx="365760" cy="365760"/>
          </a:xfrm>
          <a:prstGeom prst="ellipse">
            <a:avLst/>
          </a:prstGeom>
          <a:solidFill>
            <a:srgbClr val="050507"/>
          </a:solidFill>
          <a:ln w="25400">
            <a:solidFill>
              <a:srgbClr val="2DD4BF"/>
            </a:solidFill>
            <a:prstDash val="solid"/>
          </a:ln>
        </p:spPr>
      </p:sp>
      <p:sp>
        <p:nvSpPr>
          <p:cNvPr id="19" name="Shape 16"/>
          <p:cNvSpPr/>
          <p:nvPr/>
        </p:nvSpPr>
        <p:spPr>
          <a:xfrm>
            <a:off x="1080821" y="5442509"/>
            <a:ext cx="124358" cy="124358"/>
          </a:xfrm>
          <a:prstGeom prst="ellipse">
            <a:avLst/>
          </a:prstGeom>
          <a:solidFill>
            <a:srgbClr val="2DD4BF"/>
          </a:solidFill>
          <a:ln/>
        </p:spPr>
      </p:sp>
      <p:sp>
        <p:nvSpPr>
          <p:cNvPr id="20" name="Text 17"/>
          <p:cNvSpPr txBox="1"/>
          <p:nvPr/>
        </p:nvSpPr>
        <p:spPr>
          <a:xfrm>
            <a:off x="1554480" y="5029200"/>
            <a:ext cx="9875520" cy="960120"/>
          </a:xfrm>
          <a:prstGeom prst="rect">
            <a:avLst/>
          </a:prstGeom>
          <a:noFill/>
          <a:ln/>
        </p:spPr>
        <p:txBody>
          <a:bodyPr wrap="square" lIns="0" tIns="0" rIns="0" bIns="0" rtlCol="0" anchor="ctr"/>
          <a:lstStyle/>
          <a:p>
            <a:pPr indent="0" marL="0">
              <a:buNone/>
            </a:pPr>
            <a:r>
              <a:rPr lang="en-US" sz="1400" dirty="0">
                <a:solidFill>
                  <a:srgbClr val="E4E1ED"/>
                </a:solidFill>
                <a:latin typeface="Calibri" pitchFamily="34" charset="0"/>
                <a:ea typeface="Calibri" pitchFamily="34" charset="-122"/>
                <a:cs typeface="Calibri" pitchFamily="34" charset="-120"/>
              </a:rPr>
              <a:t>Why find the real examples by code? Because an example chosen by eye to flatter the concept is cherry-picked, and a reader has no way of telling. Finding them by rule makes the selection auditable. That is an evidence-integrity practice, not a technical one.</a:t>
            </a:r>
            <a:endParaRPr lang="en-US" sz="1400" dirty="0"/>
          </a:p>
        </p:txBody>
      </p:sp>
      <p:sp>
        <p:nvSpPr>
          <p:cNvPr id="21" name="Text 18"/>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22" name="Text 19"/>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Ethics built in, not bolted on</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The regulator draws a line this artefact must never approach</a:t>
            </a:r>
            <a:endParaRPr lang="en-US" sz="1700" dirty="0"/>
          </a:p>
        </p:txBody>
      </p:sp>
      <p:sp>
        <p:nvSpPr>
          <p:cNvPr id="5" name="Text 2"/>
          <p:cNvSpPr txBox="1"/>
          <p:nvPr/>
        </p:nvSpPr>
        <p:spPr>
          <a:xfrm>
            <a:off x="777240" y="1920240"/>
            <a:ext cx="3017520" cy="274320"/>
          </a:xfrm>
          <a:prstGeom prst="rect">
            <a:avLst/>
          </a:prstGeom>
          <a:noFill/>
          <a:ln/>
        </p:spPr>
        <p:txBody>
          <a:bodyPr wrap="square" lIns="0" tIns="0" rIns="0" bIns="0" rtlCol="0" anchor="ctr"/>
          <a:lstStyle/>
          <a:p>
            <a:pPr indent="0" marL="0">
              <a:buNone/>
            </a:pPr>
            <a:r>
              <a:rPr lang="en-US" sz="1250" b="1" dirty="0">
                <a:solidFill>
                  <a:srgbClr val="44E2CD"/>
                </a:solidFill>
                <a:latin typeface="Calibri" pitchFamily="34" charset="0"/>
                <a:ea typeface="Calibri" pitchFamily="34" charset="-122"/>
                <a:cs typeface="Calibri" pitchFamily="34" charset="-120"/>
              </a:rPr>
              <a:t>Approval condition</a:t>
            </a:r>
            <a:endParaRPr lang="en-US" sz="1250" dirty="0"/>
          </a:p>
        </p:txBody>
      </p:sp>
      <p:sp>
        <p:nvSpPr>
          <p:cNvPr id="6" name="Text 3"/>
          <p:cNvSpPr txBox="1"/>
          <p:nvPr/>
        </p:nvSpPr>
        <p:spPr>
          <a:xfrm>
            <a:off x="3977640" y="1920240"/>
            <a:ext cx="4206240" cy="274320"/>
          </a:xfrm>
          <a:prstGeom prst="rect">
            <a:avLst/>
          </a:prstGeom>
          <a:noFill/>
          <a:ln/>
        </p:spPr>
        <p:txBody>
          <a:bodyPr wrap="square" lIns="0" tIns="0" rIns="0" bIns="0" rtlCol="0" anchor="ctr"/>
          <a:lstStyle/>
          <a:p>
            <a:pPr indent="0" marL="0">
              <a:buNone/>
            </a:pPr>
            <a:r>
              <a:rPr lang="en-US" sz="1250" b="1" dirty="0">
                <a:solidFill>
                  <a:srgbClr val="44E2CD"/>
                </a:solidFill>
                <a:latin typeface="Calibri" pitchFamily="34" charset="0"/>
                <a:ea typeface="Calibri" pitchFamily="34" charset="-122"/>
                <a:cs typeface="Calibri" pitchFamily="34" charset="-120"/>
              </a:rPr>
              <a:t>Where it is enforced</a:t>
            </a:r>
            <a:endParaRPr lang="en-US" sz="1250" dirty="0"/>
          </a:p>
        </p:txBody>
      </p:sp>
      <p:sp>
        <p:nvSpPr>
          <p:cNvPr id="7" name="Text 4"/>
          <p:cNvSpPr txBox="1"/>
          <p:nvPr/>
        </p:nvSpPr>
        <p:spPr>
          <a:xfrm>
            <a:off x="8366760" y="1920240"/>
            <a:ext cx="3291840" cy="274320"/>
          </a:xfrm>
          <a:prstGeom prst="rect">
            <a:avLst/>
          </a:prstGeom>
          <a:noFill/>
          <a:ln/>
        </p:spPr>
        <p:txBody>
          <a:bodyPr wrap="square" lIns="0" tIns="0" rIns="0" bIns="0" rtlCol="0" anchor="ctr"/>
          <a:lstStyle/>
          <a:p>
            <a:pPr indent="0" marL="0">
              <a:buNone/>
            </a:pPr>
            <a:r>
              <a:rPr lang="en-US" sz="1250" b="1" dirty="0">
                <a:solidFill>
                  <a:srgbClr val="44E2CD"/>
                </a:solidFill>
                <a:latin typeface="Calibri" pitchFamily="34" charset="0"/>
                <a:ea typeface="Calibri" pitchFamily="34" charset="-122"/>
                <a:cs typeface="Calibri" pitchFamily="34" charset="-120"/>
              </a:rPr>
              <a:t>Verified by</a:t>
            </a:r>
            <a:endParaRPr lang="en-US" sz="1250" dirty="0"/>
          </a:p>
        </p:txBody>
      </p:sp>
      <p:sp>
        <p:nvSpPr>
          <p:cNvPr id="8" name="Shape 5"/>
          <p:cNvSpPr/>
          <p:nvPr/>
        </p:nvSpPr>
        <p:spPr>
          <a:xfrm>
            <a:off x="640080" y="2286000"/>
            <a:ext cx="11064240" cy="694944"/>
          </a:xfrm>
          <a:prstGeom prst="roundRect">
            <a:avLst>
              <a:gd name="adj" fmla="val 10526"/>
            </a:avLst>
          </a:prstGeom>
          <a:solidFill>
            <a:srgbClr val="14141E"/>
          </a:solidFill>
          <a:ln w="12700">
            <a:solidFill>
              <a:srgbClr val="1C1C29"/>
            </a:solidFill>
            <a:prstDash val="solid"/>
          </a:ln>
        </p:spPr>
      </p:sp>
      <p:sp>
        <p:nvSpPr>
          <p:cNvPr id="9" name="Text 6"/>
          <p:cNvSpPr txBox="1"/>
          <p:nvPr/>
        </p:nvSpPr>
        <p:spPr>
          <a:xfrm>
            <a:off x="777240" y="2286000"/>
            <a:ext cx="3063240" cy="694944"/>
          </a:xfrm>
          <a:prstGeom prst="rect">
            <a:avLst/>
          </a:prstGeom>
          <a:noFill/>
          <a:ln/>
        </p:spPr>
        <p:txBody>
          <a:bodyPr wrap="square" lIns="0" tIns="0" rIns="0" bIns="0" rtlCol="0" anchor="ctr"/>
          <a:lstStyle/>
          <a:p>
            <a:pPr indent="0" marL="0">
              <a:buNone/>
            </a:pPr>
            <a:r>
              <a:rPr lang="en-US" sz="1300" b="1" dirty="0">
                <a:solidFill>
                  <a:srgbClr val="E4E1ED"/>
                </a:solidFill>
                <a:latin typeface="Calibri" pitchFamily="34" charset="0"/>
                <a:ea typeface="Calibri" pitchFamily="34" charset="-122"/>
                <a:cs typeface="Calibri" pitchFamily="34" charset="-120"/>
              </a:rPr>
              <a:t>Participants are 18 or over</a:t>
            </a:r>
            <a:endParaRPr lang="en-US" sz="1300" dirty="0"/>
          </a:p>
        </p:txBody>
      </p:sp>
      <p:sp>
        <p:nvSpPr>
          <p:cNvPr id="10" name="Text 7"/>
          <p:cNvSpPr txBox="1"/>
          <p:nvPr/>
        </p:nvSpPr>
        <p:spPr>
          <a:xfrm>
            <a:off x="3977640" y="2286000"/>
            <a:ext cx="4251960" cy="694944"/>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Required at profile creation in the database rules, not only the interface</a:t>
            </a:r>
            <a:endParaRPr lang="en-US" sz="1250" dirty="0"/>
          </a:p>
        </p:txBody>
      </p:sp>
      <p:sp>
        <p:nvSpPr>
          <p:cNvPr id="11" name="Text 8"/>
          <p:cNvSpPr txBox="1"/>
          <p:nvPr/>
        </p:nvSpPr>
        <p:spPr>
          <a:xfrm>
            <a:off x="8366760" y="2286000"/>
            <a:ext cx="3200400" cy="694944"/>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Rules test: create rejected without the flag</a:t>
            </a:r>
            <a:endParaRPr lang="en-US" sz="1250" dirty="0"/>
          </a:p>
        </p:txBody>
      </p:sp>
      <p:sp>
        <p:nvSpPr>
          <p:cNvPr id="12" name="Shape 9"/>
          <p:cNvSpPr/>
          <p:nvPr/>
        </p:nvSpPr>
        <p:spPr>
          <a:xfrm>
            <a:off x="640080" y="3072384"/>
            <a:ext cx="11064240" cy="694944"/>
          </a:xfrm>
          <a:prstGeom prst="roundRect">
            <a:avLst>
              <a:gd name="adj" fmla="val 10526"/>
            </a:avLst>
          </a:prstGeom>
          <a:solidFill>
            <a:srgbClr val="050507"/>
          </a:solidFill>
          <a:ln w="12700">
            <a:solidFill>
              <a:srgbClr val="1C1C29"/>
            </a:solidFill>
            <a:prstDash val="solid"/>
          </a:ln>
        </p:spPr>
      </p:sp>
      <p:sp>
        <p:nvSpPr>
          <p:cNvPr id="13" name="Text 10"/>
          <p:cNvSpPr txBox="1"/>
          <p:nvPr/>
        </p:nvSpPr>
        <p:spPr>
          <a:xfrm>
            <a:off x="777240" y="3072384"/>
            <a:ext cx="3063240" cy="694944"/>
          </a:xfrm>
          <a:prstGeom prst="rect">
            <a:avLst/>
          </a:prstGeom>
          <a:noFill/>
          <a:ln/>
        </p:spPr>
        <p:txBody>
          <a:bodyPr wrap="square" lIns="0" tIns="0" rIns="0" bIns="0" rtlCol="0" anchor="ctr"/>
          <a:lstStyle/>
          <a:p>
            <a:pPr indent="0" marL="0">
              <a:buNone/>
            </a:pPr>
            <a:r>
              <a:rPr lang="en-US" sz="1300" b="1" dirty="0">
                <a:solidFill>
                  <a:srgbClr val="E4E1ED"/>
                </a:solidFill>
                <a:latin typeface="Calibri" pitchFamily="34" charset="0"/>
                <a:ea typeface="Calibri" pitchFamily="34" charset="-122"/>
                <a:cs typeface="Calibri" pitchFamily="34" charset="-120"/>
              </a:rPr>
              <a:t>Informed consent first</a:t>
            </a:r>
            <a:endParaRPr lang="en-US" sz="1300" dirty="0"/>
          </a:p>
        </p:txBody>
      </p:sp>
      <p:sp>
        <p:nvSpPr>
          <p:cNvPr id="14" name="Text 11"/>
          <p:cNvSpPr txBox="1"/>
          <p:nvPr/>
        </p:nvSpPr>
        <p:spPr>
          <a:xfrm>
            <a:off x="3977640" y="3072384"/>
            <a:ext cx="4251960" cy="694944"/>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GDPR consent screen with the lawful basis stated and a working Decline</a:t>
            </a:r>
            <a:endParaRPr lang="en-US" sz="1250" dirty="0"/>
          </a:p>
        </p:txBody>
      </p:sp>
      <p:sp>
        <p:nvSpPr>
          <p:cNvPr id="15" name="Text 12"/>
          <p:cNvSpPr txBox="1"/>
          <p:nvPr/>
        </p:nvSpPr>
        <p:spPr>
          <a:xfrm>
            <a:off x="8366760" y="3072384"/>
            <a:ext cx="3200400" cy="694944"/>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Browser test: Decline signs out and bounces</a:t>
            </a:r>
            <a:endParaRPr lang="en-US" sz="1250" dirty="0"/>
          </a:p>
        </p:txBody>
      </p:sp>
      <p:sp>
        <p:nvSpPr>
          <p:cNvPr id="16" name="Shape 13"/>
          <p:cNvSpPr/>
          <p:nvPr/>
        </p:nvSpPr>
        <p:spPr>
          <a:xfrm>
            <a:off x="640080" y="3858768"/>
            <a:ext cx="11064240" cy="694944"/>
          </a:xfrm>
          <a:prstGeom prst="roundRect">
            <a:avLst>
              <a:gd name="adj" fmla="val 10526"/>
            </a:avLst>
          </a:prstGeom>
          <a:solidFill>
            <a:srgbClr val="14141E"/>
          </a:solidFill>
          <a:ln w="12700">
            <a:solidFill>
              <a:srgbClr val="1C1C29"/>
            </a:solidFill>
            <a:prstDash val="solid"/>
          </a:ln>
        </p:spPr>
      </p:sp>
      <p:sp>
        <p:nvSpPr>
          <p:cNvPr id="17" name="Text 14"/>
          <p:cNvSpPr txBox="1"/>
          <p:nvPr/>
        </p:nvSpPr>
        <p:spPr>
          <a:xfrm>
            <a:off x="777240" y="3858768"/>
            <a:ext cx="3063240" cy="694944"/>
          </a:xfrm>
          <a:prstGeom prst="rect">
            <a:avLst/>
          </a:prstGeom>
          <a:noFill/>
          <a:ln/>
        </p:spPr>
        <p:txBody>
          <a:bodyPr wrap="square" lIns="0" tIns="0" rIns="0" bIns="0" rtlCol="0" anchor="ctr"/>
          <a:lstStyle/>
          <a:p>
            <a:pPr indent="0" marL="0">
              <a:buNone/>
            </a:pPr>
            <a:r>
              <a:rPr lang="en-US" sz="1300" b="1" dirty="0">
                <a:solidFill>
                  <a:srgbClr val="E4E1ED"/>
                </a:solidFill>
                <a:latin typeface="Calibri" pitchFamily="34" charset="0"/>
                <a:ea typeface="Calibri" pitchFamily="34" charset="-122"/>
                <a:cs typeface="Calibri" pitchFamily="34" charset="-120"/>
              </a:rPr>
              <a:t>No financial promotion</a:t>
            </a:r>
            <a:endParaRPr lang="en-US" sz="1300" dirty="0"/>
          </a:p>
        </p:txBody>
      </p:sp>
      <p:sp>
        <p:nvSpPr>
          <p:cNvPr id="18" name="Text 15"/>
          <p:cNvSpPr txBox="1"/>
          <p:nvPr/>
        </p:nvSpPr>
        <p:spPr>
          <a:xfrm>
            <a:off x="3977640" y="3858768"/>
            <a:ext cx="4251960" cy="694944"/>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Simulated or labelled historical only. No broker link, no signal, no profitability language</a:t>
            </a:r>
            <a:endParaRPr lang="en-US" sz="1250" dirty="0"/>
          </a:p>
        </p:txBody>
      </p:sp>
      <p:sp>
        <p:nvSpPr>
          <p:cNvPr id="19" name="Text 16"/>
          <p:cNvSpPr txBox="1"/>
          <p:nvPr/>
        </p:nvSpPr>
        <p:spPr>
          <a:xfrm>
            <a:off x="8366760" y="3858768"/>
            <a:ext cx="3200400" cy="694944"/>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Guardrail sweep of every string in the interface</a:t>
            </a:r>
            <a:endParaRPr lang="en-US" sz="1250" dirty="0"/>
          </a:p>
        </p:txBody>
      </p:sp>
      <p:sp>
        <p:nvSpPr>
          <p:cNvPr id="20" name="Shape 17"/>
          <p:cNvSpPr/>
          <p:nvPr/>
        </p:nvSpPr>
        <p:spPr>
          <a:xfrm>
            <a:off x="640080" y="4645152"/>
            <a:ext cx="11064240" cy="694944"/>
          </a:xfrm>
          <a:prstGeom prst="roundRect">
            <a:avLst>
              <a:gd name="adj" fmla="val 10526"/>
            </a:avLst>
          </a:prstGeom>
          <a:solidFill>
            <a:srgbClr val="050507"/>
          </a:solidFill>
          <a:ln w="12700">
            <a:solidFill>
              <a:srgbClr val="1C1C29"/>
            </a:solidFill>
            <a:prstDash val="solid"/>
          </a:ln>
        </p:spPr>
      </p:sp>
      <p:sp>
        <p:nvSpPr>
          <p:cNvPr id="21" name="Text 18"/>
          <p:cNvSpPr txBox="1"/>
          <p:nvPr/>
        </p:nvSpPr>
        <p:spPr>
          <a:xfrm>
            <a:off x="777240" y="4645152"/>
            <a:ext cx="3063240" cy="694944"/>
          </a:xfrm>
          <a:prstGeom prst="rect">
            <a:avLst/>
          </a:prstGeom>
          <a:noFill/>
          <a:ln/>
        </p:spPr>
        <p:txBody>
          <a:bodyPr wrap="square" lIns="0" tIns="0" rIns="0" bIns="0" rtlCol="0" anchor="ctr"/>
          <a:lstStyle/>
          <a:p>
            <a:pPr indent="0" marL="0">
              <a:buNone/>
            </a:pPr>
            <a:r>
              <a:rPr lang="en-US" sz="1300" b="1" dirty="0">
                <a:solidFill>
                  <a:srgbClr val="E4E1ED"/>
                </a:solidFill>
                <a:latin typeface="Calibri" pitchFamily="34" charset="0"/>
                <a:ea typeface="Calibri" pitchFamily="34" charset="-122"/>
                <a:cs typeface="Calibri" pitchFamily="34" charset="-120"/>
              </a:rPr>
              <a:t>Research data protected</a:t>
            </a:r>
            <a:endParaRPr lang="en-US" sz="1300" dirty="0"/>
          </a:p>
        </p:txBody>
      </p:sp>
      <p:sp>
        <p:nvSpPr>
          <p:cNvPr id="22" name="Text 19"/>
          <p:cNvSpPr txBox="1"/>
          <p:nvPr/>
        </p:nvSpPr>
        <p:spPr>
          <a:xfrm>
            <a:off x="3977640" y="4645152"/>
            <a:ext cx="4251960" cy="694944"/>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Responses are create-only in the rules, even for their owner</a:t>
            </a:r>
            <a:endParaRPr lang="en-US" sz="1250" dirty="0"/>
          </a:p>
        </p:txBody>
      </p:sp>
      <p:sp>
        <p:nvSpPr>
          <p:cNvPr id="23" name="Text 20"/>
          <p:cNvSpPr txBox="1"/>
          <p:nvPr/>
        </p:nvSpPr>
        <p:spPr>
          <a:xfrm>
            <a:off x="8366760" y="4645152"/>
            <a:ext cx="3200400" cy="694944"/>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Rules tests: update and delete both denied</a:t>
            </a:r>
            <a:endParaRPr lang="en-US" sz="1250" dirty="0"/>
          </a:p>
        </p:txBody>
      </p:sp>
      <p:sp>
        <p:nvSpPr>
          <p:cNvPr id="24" name="Shape 21"/>
          <p:cNvSpPr/>
          <p:nvPr/>
        </p:nvSpPr>
        <p:spPr>
          <a:xfrm>
            <a:off x="640080" y="5431536"/>
            <a:ext cx="11064240" cy="694944"/>
          </a:xfrm>
          <a:prstGeom prst="roundRect">
            <a:avLst>
              <a:gd name="adj" fmla="val 10526"/>
            </a:avLst>
          </a:prstGeom>
          <a:solidFill>
            <a:srgbClr val="14141E"/>
          </a:solidFill>
          <a:ln w="12700">
            <a:solidFill>
              <a:srgbClr val="1C1C29"/>
            </a:solidFill>
            <a:prstDash val="solid"/>
          </a:ln>
        </p:spPr>
      </p:sp>
      <p:sp>
        <p:nvSpPr>
          <p:cNvPr id="25" name="Text 22"/>
          <p:cNvSpPr txBox="1"/>
          <p:nvPr/>
        </p:nvSpPr>
        <p:spPr>
          <a:xfrm>
            <a:off x="777240" y="5431536"/>
            <a:ext cx="3063240" cy="694944"/>
          </a:xfrm>
          <a:prstGeom prst="rect">
            <a:avLst/>
          </a:prstGeom>
          <a:noFill/>
          <a:ln/>
        </p:spPr>
        <p:txBody>
          <a:bodyPr wrap="square" lIns="0" tIns="0" rIns="0" bIns="0" rtlCol="0" anchor="ctr"/>
          <a:lstStyle/>
          <a:p>
            <a:pPr indent="0" marL="0">
              <a:buNone/>
            </a:pPr>
            <a:r>
              <a:rPr lang="en-US" sz="1300" b="1" dirty="0">
                <a:solidFill>
                  <a:srgbClr val="E4E1ED"/>
                </a:solidFill>
                <a:latin typeface="Calibri" pitchFamily="34" charset="0"/>
                <a:ea typeface="Calibri" pitchFamily="34" charset="-122"/>
                <a:cs typeface="Calibri" pitchFamily="34" charset="-120"/>
              </a:rPr>
              <a:t>Development cannot touch live</a:t>
            </a:r>
            <a:endParaRPr lang="en-US" sz="1300" dirty="0"/>
          </a:p>
        </p:txBody>
      </p:sp>
      <p:sp>
        <p:nvSpPr>
          <p:cNvPr id="26" name="Text 23"/>
          <p:cNvSpPr txBox="1"/>
          <p:nvPr/>
        </p:nvSpPr>
        <p:spPr>
          <a:xfrm>
            <a:off x="3977640" y="5431536"/>
            <a:ext cx="4251960" cy="694944"/>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Emulator by configuration after test accounts once reached the live project</a:t>
            </a:r>
            <a:endParaRPr lang="en-US" sz="1250" dirty="0"/>
          </a:p>
        </p:txBody>
      </p:sp>
      <p:sp>
        <p:nvSpPr>
          <p:cNvPr id="27" name="Text 24"/>
          <p:cNvSpPr txBox="1"/>
          <p:nvPr/>
        </p:nvSpPr>
        <p:spPr>
          <a:xfrm>
            <a:off x="8366760" y="5431536"/>
            <a:ext cx="3200400" cy="694944"/>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Enforced by construction, not by discipline</a:t>
            </a:r>
            <a:endParaRPr lang="en-US" sz="1250" dirty="0"/>
          </a:p>
        </p:txBody>
      </p:sp>
      <p:sp>
        <p:nvSpPr>
          <p:cNvPr id="28" name="Text 25"/>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29" name="Text 26"/>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Verified at four levels</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Each layer catches a class of defect the others structurally cannot</a:t>
            </a:r>
            <a:endParaRPr lang="en-US" sz="1700" dirty="0"/>
          </a:p>
        </p:txBody>
      </p:sp>
      <p:sp>
        <p:nvSpPr>
          <p:cNvPr id="5" name="Shape 2"/>
          <p:cNvSpPr/>
          <p:nvPr/>
        </p:nvSpPr>
        <p:spPr>
          <a:xfrm>
            <a:off x="640080" y="1965960"/>
            <a:ext cx="2606040" cy="2148840"/>
          </a:xfrm>
          <a:prstGeom prst="roundRect">
            <a:avLst>
              <a:gd name="adj" fmla="val 3404"/>
            </a:avLst>
          </a:prstGeom>
          <a:solidFill>
            <a:srgbClr val="14141E"/>
          </a:solidFill>
          <a:ln w="12700">
            <a:solidFill>
              <a:srgbClr val="1C1C29"/>
            </a:solidFill>
            <a:prstDash val="solid"/>
          </a:ln>
        </p:spPr>
      </p:sp>
      <p:sp>
        <p:nvSpPr>
          <p:cNvPr id="6" name="Text 3"/>
          <p:cNvSpPr txBox="1"/>
          <p:nvPr/>
        </p:nvSpPr>
        <p:spPr>
          <a:xfrm>
            <a:off x="868680" y="2148840"/>
            <a:ext cx="2194560" cy="640080"/>
          </a:xfrm>
          <a:prstGeom prst="rect">
            <a:avLst/>
          </a:prstGeom>
          <a:noFill/>
          <a:ln/>
        </p:spPr>
        <p:txBody>
          <a:bodyPr wrap="square" lIns="0" tIns="0" rIns="0" bIns="0" rtlCol="0" anchor="ctr"/>
          <a:lstStyle/>
          <a:p>
            <a:pPr indent="0" marL="0">
              <a:buNone/>
            </a:pPr>
            <a:r>
              <a:rPr lang="en-US" sz="3800" b="1" dirty="0">
                <a:solidFill>
                  <a:srgbClr val="44E2CD"/>
                </a:solidFill>
                <a:latin typeface="Calibri" pitchFamily="34" charset="0"/>
                <a:ea typeface="Calibri" pitchFamily="34" charset="-122"/>
                <a:cs typeface="Calibri" pitchFamily="34" charset="-120"/>
              </a:rPr>
              <a:t>138</a:t>
            </a:r>
            <a:endParaRPr lang="en-US" sz="3800" dirty="0"/>
          </a:p>
        </p:txBody>
      </p:sp>
      <p:sp>
        <p:nvSpPr>
          <p:cNvPr id="7" name="Text 4"/>
          <p:cNvSpPr txBox="1"/>
          <p:nvPr/>
        </p:nvSpPr>
        <p:spPr>
          <a:xfrm>
            <a:off x="868680" y="2788920"/>
            <a:ext cx="2194560" cy="320040"/>
          </a:xfrm>
          <a:prstGeom prst="rect">
            <a:avLst/>
          </a:prstGeom>
          <a:noFill/>
          <a:ln/>
        </p:spPr>
        <p:txBody>
          <a:bodyPr wrap="square" lIns="0" tIns="0" rIns="0" bIns="0" rtlCol="0" anchor="ctr"/>
          <a:lstStyle/>
          <a:p>
            <a:pPr indent="0" marL="0">
              <a:buNone/>
            </a:pPr>
            <a:r>
              <a:rPr lang="en-US" sz="1400" b="1" dirty="0">
                <a:solidFill>
                  <a:srgbClr val="E4E1ED"/>
                </a:solidFill>
                <a:latin typeface="Calibri" pitchFamily="34" charset="0"/>
                <a:ea typeface="Calibri" pitchFamily="34" charset="-122"/>
                <a:cs typeface="Calibri" pitchFamily="34" charset="-120"/>
              </a:rPr>
              <a:t>unit tests</a:t>
            </a:r>
            <a:endParaRPr lang="en-US" sz="1400" dirty="0"/>
          </a:p>
        </p:txBody>
      </p:sp>
      <p:sp>
        <p:nvSpPr>
          <p:cNvPr id="8" name="Text 5"/>
          <p:cNvSpPr txBox="1"/>
          <p:nvPr/>
        </p:nvSpPr>
        <p:spPr>
          <a:xfrm>
            <a:off x="868680" y="3154680"/>
            <a:ext cx="2240280" cy="868680"/>
          </a:xfrm>
          <a:prstGeom prst="rect">
            <a:avLst/>
          </a:prstGeom>
          <a:noFill/>
          <a:ln/>
        </p:spPr>
        <p:txBody>
          <a:bodyPr wrap="square" lIns="0" tIns="0" rIns="0" bIns="0" rtlCol="0" anchor="ctr"/>
          <a:lstStyle/>
          <a:p>
            <a:pPr indent="0" marL="0">
              <a:buNone/>
            </a:pPr>
            <a:r>
              <a:rPr lang="en-US" sz="1200" dirty="0">
                <a:solidFill>
                  <a:srgbClr val="9A9AB4"/>
                </a:solidFill>
                <a:latin typeface="Calibri" pitchFamily="34" charset="0"/>
                <a:ea typeface="Calibri" pitchFamily="34" charset="-122"/>
                <a:cs typeface="Calibri" pitchFamily="34" charset="-120"/>
              </a:rPr>
              <a:t>BKT maths against hand-computed fixtures, routing decisions, grading, the logger's queue and backoff</a:t>
            </a:r>
            <a:endParaRPr lang="en-US" sz="1200" dirty="0"/>
          </a:p>
        </p:txBody>
      </p:sp>
      <p:sp>
        <p:nvSpPr>
          <p:cNvPr id="9" name="Shape 6"/>
          <p:cNvSpPr/>
          <p:nvPr/>
        </p:nvSpPr>
        <p:spPr>
          <a:xfrm>
            <a:off x="3511296" y="1965960"/>
            <a:ext cx="2606040" cy="2148840"/>
          </a:xfrm>
          <a:prstGeom prst="roundRect">
            <a:avLst>
              <a:gd name="adj" fmla="val 3404"/>
            </a:avLst>
          </a:prstGeom>
          <a:solidFill>
            <a:srgbClr val="14141E"/>
          </a:solidFill>
          <a:ln w="12700">
            <a:solidFill>
              <a:srgbClr val="1C1C29"/>
            </a:solidFill>
            <a:prstDash val="solid"/>
          </a:ln>
        </p:spPr>
      </p:sp>
      <p:sp>
        <p:nvSpPr>
          <p:cNvPr id="10" name="Text 7"/>
          <p:cNvSpPr txBox="1"/>
          <p:nvPr/>
        </p:nvSpPr>
        <p:spPr>
          <a:xfrm>
            <a:off x="3739896" y="2148840"/>
            <a:ext cx="2194560" cy="640080"/>
          </a:xfrm>
          <a:prstGeom prst="rect">
            <a:avLst/>
          </a:prstGeom>
          <a:noFill/>
          <a:ln/>
        </p:spPr>
        <p:txBody>
          <a:bodyPr wrap="square" lIns="0" tIns="0" rIns="0" bIns="0" rtlCol="0" anchor="ctr"/>
          <a:lstStyle/>
          <a:p>
            <a:pPr indent="0" marL="0">
              <a:buNone/>
            </a:pPr>
            <a:r>
              <a:rPr lang="en-US" sz="3800" b="1" dirty="0">
                <a:solidFill>
                  <a:srgbClr val="44E2CD"/>
                </a:solidFill>
                <a:latin typeface="Calibri" pitchFamily="34" charset="0"/>
                <a:ea typeface="Calibri" pitchFamily="34" charset="-122"/>
                <a:cs typeface="Calibri" pitchFamily="34" charset="-120"/>
              </a:rPr>
              <a:t>16</a:t>
            </a:r>
            <a:endParaRPr lang="en-US" sz="3800" dirty="0"/>
          </a:p>
        </p:txBody>
      </p:sp>
      <p:sp>
        <p:nvSpPr>
          <p:cNvPr id="11" name="Text 8"/>
          <p:cNvSpPr txBox="1"/>
          <p:nvPr/>
        </p:nvSpPr>
        <p:spPr>
          <a:xfrm>
            <a:off x="3739896" y="2788920"/>
            <a:ext cx="2194560" cy="320040"/>
          </a:xfrm>
          <a:prstGeom prst="rect">
            <a:avLst/>
          </a:prstGeom>
          <a:noFill/>
          <a:ln/>
        </p:spPr>
        <p:txBody>
          <a:bodyPr wrap="square" lIns="0" tIns="0" rIns="0" bIns="0" rtlCol="0" anchor="ctr"/>
          <a:lstStyle/>
          <a:p>
            <a:pPr indent="0" marL="0">
              <a:buNone/>
            </a:pPr>
            <a:r>
              <a:rPr lang="en-US" sz="1400" b="1" dirty="0">
                <a:solidFill>
                  <a:srgbClr val="E4E1ED"/>
                </a:solidFill>
                <a:latin typeface="Calibri" pitchFamily="34" charset="0"/>
                <a:ea typeface="Calibri" pitchFamily="34" charset="-122"/>
                <a:cs typeface="Calibri" pitchFamily="34" charset="-120"/>
              </a:rPr>
              <a:t>database rule tests</a:t>
            </a:r>
            <a:endParaRPr lang="en-US" sz="1400" dirty="0"/>
          </a:p>
        </p:txBody>
      </p:sp>
      <p:sp>
        <p:nvSpPr>
          <p:cNvPr id="12" name="Text 9"/>
          <p:cNvSpPr txBox="1"/>
          <p:nvPr/>
        </p:nvSpPr>
        <p:spPr>
          <a:xfrm>
            <a:off x="3739896" y="3154680"/>
            <a:ext cx="2240280" cy="868680"/>
          </a:xfrm>
          <a:prstGeom prst="rect">
            <a:avLst/>
          </a:prstGeom>
          <a:noFill/>
          <a:ln/>
        </p:spPr>
        <p:txBody>
          <a:bodyPr wrap="square" lIns="0" tIns="0" rIns="0" bIns="0" rtlCol="0" anchor="ctr"/>
          <a:lstStyle/>
          <a:p>
            <a:pPr indent="0" marL="0">
              <a:buNone/>
            </a:pPr>
            <a:r>
              <a:rPr lang="en-US" sz="1200" dirty="0">
                <a:solidFill>
                  <a:srgbClr val="9A9AB4"/>
                </a:solidFill>
                <a:latin typeface="Calibri" pitchFamily="34" charset="0"/>
                <a:ea typeface="Calibri" pitchFamily="34" charset="-122"/>
                <a:cs typeface="Calibri" pitchFamily="34" charset="-120"/>
              </a:rPr>
              <a:t>Every forbidden operation attempted against the emulator and asserted to fail</a:t>
            </a:r>
            <a:endParaRPr lang="en-US" sz="1200" dirty="0"/>
          </a:p>
        </p:txBody>
      </p:sp>
      <p:sp>
        <p:nvSpPr>
          <p:cNvPr id="13" name="Shape 10"/>
          <p:cNvSpPr/>
          <p:nvPr/>
        </p:nvSpPr>
        <p:spPr>
          <a:xfrm>
            <a:off x="6382512" y="1965960"/>
            <a:ext cx="2606040" cy="2148840"/>
          </a:xfrm>
          <a:prstGeom prst="roundRect">
            <a:avLst>
              <a:gd name="adj" fmla="val 3404"/>
            </a:avLst>
          </a:prstGeom>
          <a:solidFill>
            <a:srgbClr val="14141E"/>
          </a:solidFill>
          <a:ln w="12700">
            <a:solidFill>
              <a:srgbClr val="1C1C29"/>
            </a:solidFill>
            <a:prstDash val="solid"/>
          </a:ln>
        </p:spPr>
      </p:sp>
      <p:sp>
        <p:nvSpPr>
          <p:cNvPr id="14" name="Text 11"/>
          <p:cNvSpPr txBox="1"/>
          <p:nvPr/>
        </p:nvSpPr>
        <p:spPr>
          <a:xfrm>
            <a:off x="6611112" y="2148840"/>
            <a:ext cx="2194560" cy="640080"/>
          </a:xfrm>
          <a:prstGeom prst="rect">
            <a:avLst/>
          </a:prstGeom>
          <a:noFill/>
          <a:ln/>
        </p:spPr>
        <p:txBody>
          <a:bodyPr wrap="square" lIns="0" tIns="0" rIns="0" bIns="0" rtlCol="0" anchor="ctr"/>
          <a:lstStyle/>
          <a:p>
            <a:pPr indent="0" marL="0">
              <a:buNone/>
            </a:pPr>
            <a:r>
              <a:rPr lang="en-US" sz="3800" b="1" dirty="0">
                <a:solidFill>
                  <a:srgbClr val="44E2CD"/>
                </a:solidFill>
                <a:latin typeface="Calibri" pitchFamily="34" charset="0"/>
                <a:ea typeface="Calibri" pitchFamily="34" charset="-122"/>
                <a:cs typeface="Calibri" pitchFamily="34" charset="-120"/>
              </a:rPr>
              <a:t>32</a:t>
            </a:r>
            <a:endParaRPr lang="en-US" sz="3800" dirty="0"/>
          </a:p>
        </p:txBody>
      </p:sp>
      <p:sp>
        <p:nvSpPr>
          <p:cNvPr id="15" name="Text 12"/>
          <p:cNvSpPr txBox="1"/>
          <p:nvPr/>
        </p:nvSpPr>
        <p:spPr>
          <a:xfrm>
            <a:off x="6611112" y="2788920"/>
            <a:ext cx="2194560" cy="320040"/>
          </a:xfrm>
          <a:prstGeom prst="rect">
            <a:avLst/>
          </a:prstGeom>
          <a:noFill/>
          <a:ln/>
        </p:spPr>
        <p:txBody>
          <a:bodyPr wrap="square" lIns="0" tIns="0" rIns="0" bIns="0" rtlCol="0" anchor="ctr"/>
          <a:lstStyle/>
          <a:p>
            <a:pPr indent="0" marL="0">
              <a:buNone/>
            </a:pPr>
            <a:r>
              <a:rPr lang="en-US" sz="1400" b="1" dirty="0">
                <a:solidFill>
                  <a:srgbClr val="E4E1ED"/>
                </a:solidFill>
                <a:latin typeface="Calibri" pitchFamily="34" charset="0"/>
                <a:ea typeface="Calibri" pitchFamily="34" charset="-122"/>
                <a:cs typeface="Calibri" pitchFamily="34" charset="-120"/>
              </a:rPr>
              <a:t>browser journeys</a:t>
            </a:r>
            <a:endParaRPr lang="en-US" sz="1400" dirty="0"/>
          </a:p>
        </p:txBody>
      </p:sp>
      <p:sp>
        <p:nvSpPr>
          <p:cNvPr id="16" name="Text 13"/>
          <p:cNvSpPr txBox="1"/>
          <p:nvPr/>
        </p:nvSpPr>
        <p:spPr>
          <a:xfrm>
            <a:off x="6611112" y="3154680"/>
            <a:ext cx="2240280" cy="868680"/>
          </a:xfrm>
          <a:prstGeom prst="rect">
            <a:avLst/>
          </a:prstGeom>
          <a:noFill/>
          <a:ln/>
        </p:spPr>
        <p:txBody>
          <a:bodyPr wrap="square" lIns="0" tIns="0" rIns="0" bIns="0" rtlCol="0" anchor="ctr"/>
          <a:lstStyle/>
          <a:p>
            <a:pPr indent="0" marL="0">
              <a:buNone/>
            </a:pPr>
            <a:r>
              <a:rPr lang="en-US" sz="1200" dirty="0">
                <a:solidFill>
                  <a:srgbClr val="9A9AB4"/>
                </a:solidFill>
                <a:latin typeface="Calibri" pitchFamily="34" charset="0"/>
                <a:ea typeface="Calibri" pitchFamily="34" charset="-122"/>
                <a:cs typeface="Calibri" pitchFamily="34" charset="-120"/>
              </a:rPr>
              <a:t>16 journeys across desktop and Pixel 7, including axe-core on twelve pages</a:t>
            </a:r>
            <a:endParaRPr lang="en-US" sz="1200" dirty="0"/>
          </a:p>
        </p:txBody>
      </p:sp>
      <p:sp>
        <p:nvSpPr>
          <p:cNvPr id="17" name="Shape 14"/>
          <p:cNvSpPr/>
          <p:nvPr/>
        </p:nvSpPr>
        <p:spPr>
          <a:xfrm>
            <a:off x="9253728" y="1965960"/>
            <a:ext cx="2606040" cy="2148840"/>
          </a:xfrm>
          <a:prstGeom prst="roundRect">
            <a:avLst>
              <a:gd name="adj" fmla="val 3404"/>
            </a:avLst>
          </a:prstGeom>
          <a:solidFill>
            <a:srgbClr val="14141E"/>
          </a:solidFill>
          <a:ln w="12700">
            <a:solidFill>
              <a:srgbClr val="1C1C29"/>
            </a:solidFill>
            <a:prstDash val="solid"/>
          </a:ln>
        </p:spPr>
      </p:sp>
      <p:sp>
        <p:nvSpPr>
          <p:cNvPr id="18" name="Text 15"/>
          <p:cNvSpPr txBox="1"/>
          <p:nvPr/>
        </p:nvSpPr>
        <p:spPr>
          <a:xfrm>
            <a:off x="9482328" y="2148840"/>
            <a:ext cx="2194560" cy="640080"/>
          </a:xfrm>
          <a:prstGeom prst="rect">
            <a:avLst/>
          </a:prstGeom>
          <a:noFill/>
          <a:ln/>
        </p:spPr>
        <p:txBody>
          <a:bodyPr wrap="square" lIns="0" tIns="0" rIns="0" bIns="0" rtlCol="0" anchor="ctr"/>
          <a:lstStyle/>
          <a:p>
            <a:pPr indent="0" marL="0">
              <a:buNone/>
            </a:pPr>
            <a:r>
              <a:rPr lang="en-US" sz="3800" b="1" dirty="0">
                <a:solidFill>
                  <a:srgbClr val="44E2CD"/>
                </a:solidFill>
                <a:latin typeface="Calibri" pitchFamily="34" charset="0"/>
                <a:ea typeface="Calibri" pitchFamily="34" charset="-122"/>
                <a:cs typeface="Calibri" pitchFamily="34" charset="-120"/>
              </a:rPr>
              <a:t>4</a:t>
            </a:r>
            <a:endParaRPr lang="en-US" sz="3800" dirty="0"/>
          </a:p>
        </p:txBody>
      </p:sp>
      <p:sp>
        <p:nvSpPr>
          <p:cNvPr id="19" name="Text 16"/>
          <p:cNvSpPr txBox="1"/>
          <p:nvPr/>
        </p:nvSpPr>
        <p:spPr>
          <a:xfrm>
            <a:off x="9482328" y="2788920"/>
            <a:ext cx="2194560" cy="320040"/>
          </a:xfrm>
          <a:prstGeom prst="rect">
            <a:avLst/>
          </a:prstGeom>
          <a:noFill/>
          <a:ln/>
        </p:spPr>
        <p:txBody>
          <a:bodyPr wrap="square" lIns="0" tIns="0" rIns="0" bIns="0" rtlCol="0" anchor="ctr"/>
          <a:lstStyle/>
          <a:p>
            <a:pPr indent="0" marL="0">
              <a:buNone/>
            </a:pPr>
            <a:r>
              <a:rPr lang="en-US" sz="1400" b="1" dirty="0">
                <a:solidFill>
                  <a:srgbClr val="E4E1ED"/>
                </a:solidFill>
                <a:latin typeface="Calibri" pitchFamily="34" charset="0"/>
                <a:ea typeface="Calibri" pitchFamily="34" charset="-122"/>
                <a:cs typeface="Calibri" pitchFamily="34" charset="-120"/>
              </a:rPr>
              <a:t>audit passes</a:t>
            </a:r>
            <a:endParaRPr lang="en-US" sz="1400" dirty="0"/>
          </a:p>
        </p:txBody>
      </p:sp>
      <p:sp>
        <p:nvSpPr>
          <p:cNvPr id="20" name="Text 17"/>
          <p:cNvSpPr txBox="1"/>
          <p:nvPr/>
        </p:nvSpPr>
        <p:spPr>
          <a:xfrm>
            <a:off x="9482328" y="3154680"/>
            <a:ext cx="2240280" cy="868680"/>
          </a:xfrm>
          <a:prstGeom prst="rect">
            <a:avLst/>
          </a:prstGeom>
          <a:noFill/>
          <a:ln/>
        </p:spPr>
        <p:txBody>
          <a:bodyPr wrap="square" lIns="0" tIns="0" rIns="0" bIns="0" rtlCol="0" anchor="ctr"/>
          <a:lstStyle/>
          <a:p>
            <a:pPr indent="0" marL="0">
              <a:buNone/>
            </a:pPr>
            <a:r>
              <a:rPr lang="en-US" sz="1200" dirty="0">
                <a:solidFill>
                  <a:srgbClr val="9A9AB4"/>
                </a:solidFill>
                <a:latin typeface="Calibri" pitchFamily="34" charset="0"/>
                <a:ea typeface="Calibri" pitchFamily="34" charset="-122"/>
                <a:cs typeface="Calibri" pitchFamily="34" charset="-120"/>
              </a:rPr>
              <a:t>Lighthouse, axe, keyboard and reduced motion, and a manual guardrail sweep</a:t>
            </a:r>
            <a:endParaRPr lang="en-US" sz="1200" dirty="0"/>
          </a:p>
        </p:txBody>
      </p:sp>
      <p:sp>
        <p:nvSpPr>
          <p:cNvPr id="21" name="Shape 18"/>
          <p:cNvSpPr/>
          <p:nvPr/>
        </p:nvSpPr>
        <p:spPr>
          <a:xfrm>
            <a:off x="640080" y="4434840"/>
            <a:ext cx="6766560" cy="1600200"/>
          </a:xfrm>
          <a:prstGeom prst="roundRect">
            <a:avLst>
              <a:gd name="adj" fmla="val 4571"/>
            </a:avLst>
          </a:prstGeom>
          <a:solidFill>
            <a:srgbClr val="1C1C29"/>
          </a:solidFill>
          <a:ln w="12700">
            <a:solidFill>
              <a:srgbClr val="1C1C29"/>
            </a:solidFill>
            <a:prstDash val="solid"/>
          </a:ln>
        </p:spPr>
      </p:sp>
      <p:sp>
        <p:nvSpPr>
          <p:cNvPr id="22" name="Text 19"/>
          <p:cNvSpPr txBox="1"/>
          <p:nvPr/>
        </p:nvSpPr>
        <p:spPr>
          <a:xfrm>
            <a:off x="960120" y="4572000"/>
            <a:ext cx="4572000" cy="320040"/>
          </a:xfrm>
          <a:prstGeom prst="rect">
            <a:avLst/>
          </a:prstGeom>
          <a:noFill/>
          <a:ln/>
        </p:spPr>
        <p:txBody>
          <a:bodyPr wrap="square" lIns="0" tIns="0" rIns="0" bIns="0" rtlCol="0" anchor="ctr"/>
          <a:lstStyle/>
          <a:p>
            <a:pPr indent="0" marL="0">
              <a:buNone/>
            </a:pPr>
            <a:r>
              <a:rPr lang="en-US" sz="1500" b="1" dirty="0">
                <a:solidFill>
                  <a:srgbClr val="E4E1ED"/>
                </a:solidFill>
                <a:latin typeface="Calibri" pitchFamily="34" charset="0"/>
                <a:ea typeface="Calibri" pitchFamily="34" charset="-122"/>
                <a:cs typeface="Calibri" pitchFamily="34" charset="-120"/>
              </a:rPr>
              <a:t>Coverage where the claims live</a:t>
            </a:r>
            <a:endParaRPr lang="en-US" sz="1500" dirty="0"/>
          </a:p>
        </p:txBody>
      </p:sp>
      <p:sp>
        <p:nvSpPr>
          <p:cNvPr id="23" name="Text 20"/>
          <p:cNvSpPr txBox="1"/>
          <p:nvPr/>
        </p:nvSpPr>
        <p:spPr>
          <a:xfrm>
            <a:off x="960120" y="4937760"/>
            <a:ext cx="1234440" cy="411480"/>
          </a:xfrm>
          <a:prstGeom prst="rect">
            <a:avLst/>
          </a:prstGeom>
          <a:noFill/>
          <a:ln/>
        </p:spPr>
        <p:txBody>
          <a:bodyPr wrap="square" lIns="0" tIns="0" rIns="0" bIns="0" rtlCol="0" anchor="ctr"/>
          <a:lstStyle/>
          <a:p>
            <a:pPr indent="0" marL="0">
              <a:buNone/>
            </a:pPr>
            <a:r>
              <a:rPr lang="en-US" sz="2000" b="1" dirty="0">
                <a:solidFill>
                  <a:srgbClr val="44E2CD"/>
                </a:solidFill>
                <a:latin typeface="Calibri" pitchFamily="34" charset="0"/>
                <a:ea typeface="Calibri" pitchFamily="34" charset="-122"/>
                <a:cs typeface="Calibri" pitchFamily="34" charset="-120"/>
              </a:rPr>
              <a:t>100%</a:t>
            </a:r>
            <a:endParaRPr lang="en-US" sz="2000" dirty="0"/>
          </a:p>
        </p:txBody>
      </p:sp>
      <p:sp>
        <p:nvSpPr>
          <p:cNvPr id="24" name="Text 21"/>
          <p:cNvSpPr txBox="1"/>
          <p:nvPr/>
        </p:nvSpPr>
        <p:spPr>
          <a:xfrm>
            <a:off x="960120" y="5376672"/>
            <a:ext cx="1234440" cy="502920"/>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BKT engine</a:t>
            </a:r>
            <a:endParaRPr lang="en-US" sz="1050" dirty="0"/>
          </a:p>
        </p:txBody>
      </p:sp>
      <p:sp>
        <p:nvSpPr>
          <p:cNvPr id="25" name="Text 22"/>
          <p:cNvSpPr txBox="1"/>
          <p:nvPr/>
        </p:nvSpPr>
        <p:spPr>
          <a:xfrm>
            <a:off x="2258568" y="4937760"/>
            <a:ext cx="1234440" cy="411480"/>
          </a:xfrm>
          <a:prstGeom prst="rect">
            <a:avLst/>
          </a:prstGeom>
          <a:noFill/>
          <a:ln/>
        </p:spPr>
        <p:txBody>
          <a:bodyPr wrap="square" lIns="0" tIns="0" rIns="0" bIns="0" rtlCol="0" anchor="ctr"/>
          <a:lstStyle/>
          <a:p>
            <a:pPr indent="0" marL="0">
              <a:buNone/>
            </a:pPr>
            <a:r>
              <a:rPr lang="en-US" sz="2000" b="1" dirty="0">
                <a:solidFill>
                  <a:srgbClr val="44E2CD"/>
                </a:solidFill>
                <a:latin typeface="Calibri" pitchFamily="34" charset="0"/>
                <a:ea typeface="Calibri" pitchFamily="34" charset="-122"/>
                <a:cs typeface="Calibri" pitchFamily="34" charset="-120"/>
              </a:rPr>
              <a:t>100%</a:t>
            </a:r>
            <a:endParaRPr lang="en-US" sz="2000" dirty="0"/>
          </a:p>
        </p:txBody>
      </p:sp>
      <p:sp>
        <p:nvSpPr>
          <p:cNvPr id="26" name="Text 23"/>
          <p:cNvSpPr txBox="1"/>
          <p:nvPr/>
        </p:nvSpPr>
        <p:spPr>
          <a:xfrm>
            <a:off x="2258568" y="5376672"/>
            <a:ext cx="1234440" cy="502920"/>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Assessment, grading</a:t>
            </a:r>
            <a:endParaRPr lang="en-US" sz="1050" dirty="0"/>
          </a:p>
        </p:txBody>
      </p:sp>
      <p:sp>
        <p:nvSpPr>
          <p:cNvPr id="27" name="Text 24"/>
          <p:cNvSpPr txBox="1"/>
          <p:nvPr/>
        </p:nvSpPr>
        <p:spPr>
          <a:xfrm>
            <a:off x="3557016" y="4937760"/>
            <a:ext cx="1234440" cy="411480"/>
          </a:xfrm>
          <a:prstGeom prst="rect">
            <a:avLst/>
          </a:prstGeom>
          <a:noFill/>
          <a:ln/>
        </p:spPr>
        <p:txBody>
          <a:bodyPr wrap="square" lIns="0" tIns="0" rIns="0" bIns="0" rtlCol="0" anchor="ctr"/>
          <a:lstStyle/>
          <a:p>
            <a:pPr indent="0" marL="0">
              <a:buNone/>
            </a:pPr>
            <a:r>
              <a:rPr lang="en-US" sz="2000" b="1" dirty="0">
                <a:solidFill>
                  <a:srgbClr val="44E2CD"/>
                </a:solidFill>
                <a:latin typeface="Calibri" pitchFamily="34" charset="0"/>
                <a:ea typeface="Calibri" pitchFamily="34" charset="-122"/>
                <a:cs typeface="Calibri" pitchFamily="34" charset="-120"/>
              </a:rPr>
              <a:t>94%</a:t>
            </a:r>
            <a:endParaRPr lang="en-US" sz="2000" dirty="0"/>
          </a:p>
        </p:txBody>
      </p:sp>
      <p:sp>
        <p:nvSpPr>
          <p:cNvPr id="28" name="Text 25"/>
          <p:cNvSpPr txBox="1"/>
          <p:nvPr/>
        </p:nvSpPr>
        <p:spPr>
          <a:xfrm>
            <a:off x="3557016" y="5376672"/>
            <a:ext cx="1234440" cy="502920"/>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Routing</a:t>
            </a:r>
            <a:endParaRPr lang="en-US" sz="1050" dirty="0"/>
          </a:p>
        </p:txBody>
      </p:sp>
      <p:sp>
        <p:nvSpPr>
          <p:cNvPr id="29" name="Text 26"/>
          <p:cNvSpPr txBox="1"/>
          <p:nvPr/>
        </p:nvSpPr>
        <p:spPr>
          <a:xfrm>
            <a:off x="4855464" y="4937760"/>
            <a:ext cx="1234440" cy="411480"/>
          </a:xfrm>
          <a:prstGeom prst="rect">
            <a:avLst/>
          </a:prstGeom>
          <a:noFill/>
          <a:ln/>
        </p:spPr>
        <p:txBody>
          <a:bodyPr wrap="square" lIns="0" tIns="0" rIns="0" bIns="0" rtlCol="0" anchor="ctr"/>
          <a:lstStyle/>
          <a:p>
            <a:pPr indent="0" marL="0">
              <a:buNone/>
            </a:pPr>
            <a:r>
              <a:rPr lang="en-US" sz="2000" b="1" dirty="0">
                <a:solidFill>
                  <a:srgbClr val="44E2CD"/>
                </a:solidFill>
                <a:latin typeface="Calibri" pitchFamily="34" charset="0"/>
                <a:ea typeface="Calibri" pitchFamily="34" charset="-122"/>
                <a:cs typeface="Calibri" pitchFamily="34" charset="-120"/>
              </a:rPr>
              <a:t>90%</a:t>
            </a:r>
            <a:endParaRPr lang="en-US" sz="2000" dirty="0"/>
          </a:p>
        </p:txBody>
      </p:sp>
      <p:sp>
        <p:nvSpPr>
          <p:cNvPr id="30" name="Text 27"/>
          <p:cNvSpPr txBox="1"/>
          <p:nvPr/>
        </p:nvSpPr>
        <p:spPr>
          <a:xfrm>
            <a:off x="4855464" y="5376672"/>
            <a:ext cx="1234440" cy="502920"/>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Logger</a:t>
            </a:r>
            <a:endParaRPr lang="en-US" sz="1050" dirty="0"/>
          </a:p>
        </p:txBody>
      </p:sp>
      <p:sp>
        <p:nvSpPr>
          <p:cNvPr id="31" name="Text 28"/>
          <p:cNvSpPr txBox="1"/>
          <p:nvPr/>
        </p:nvSpPr>
        <p:spPr>
          <a:xfrm>
            <a:off x="6153912" y="4937760"/>
            <a:ext cx="1234440" cy="411480"/>
          </a:xfrm>
          <a:prstGeom prst="rect">
            <a:avLst/>
          </a:prstGeom>
          <a:noFill/>
          <a:ln/>
        </p:spPr>
        <p:txBody>
          <a:bodyPr wrap="square" lIns="0" tIns="0" rIns="0" bIns="0" rtlCol="0" anchor="ctr"/>
          <a:lstStyle/>
          <a:p>
            <a:pPr indent="0" marL="0">
              <a:buNone/>
            </a:pPr>
            <a:r>
              <a:rPr lang="en-US" sz="2000" b="1" dirty="0">
                <a:solidFill>
                  <a:srgbClr val="9A9AB4"/>
                </a:solidFill>
                <a:latin typeface="Calibri" pitchFamily="34" charset="0"/>
                <a:ea typeface="Calibri" pitchFamily="34" charset="-122"/>
                <a:cs typeface="Calibri" pitchFamily="34" charset="-120"/>
              </a:rPr>
              <a:t>46%</a:t>
            </a:r>
            <a:endParaRPr lang="en-US" sz="2000" dirty="0"/>
          </a:p>
        </p:txBody>
      </p:sp>
      <p:sp>
        <p:nvSpPr>
          <p:cNvPr id="32" name="Text 29"/>
          <p:cNvSpPr txBox="1"/>
          <p:nvPr/>
        </p:nvSpPr>
        <p:spPr>
          <a:xfrm>
            <a:off x="6153912" y="5376672"/>
            <a:ext cx="1234440" cy="502920"/>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All of lib</a:t>
            </a:r>
            <a:endParaRPr lang="en-US" sz="1050" dirty="0"/>
          </a:p>
        </p:txBody>
      </p:sp>
      <p:sp>
        <p:nvSpPr>
          <p:cNvPr id="33" name="Shape 30"/>
          <p:cNvSpPr/>
          <p:nvPr/>
        </p:nvSpPr>
        <p:spPr>
          <a:xfrm>
            <a:off x="7863840" y="4434840"/>
            <a:ext cx="3840480" cy="1600200"/>
          </a:xfrm>
          <a:prstGeom prst="roundRect">
            <a:avLst>
              <a:gd name="adj" fmla="val 4571"/>
            </a:avLst>
          </a:prstGeom>
          <a:solidFill>
            <a:srgbClr val="14141E"/>
          </a:solidFill>
          <a:ln w="12700">
            <a:solidFill>
              <a:srgbClr val="1C1C29"/>
            </a:solidFill>
            <a:prstDash val="solid"/>
          </a:ln>
        </p:spPr>
      </p:sp>
      <p:sp>
        <p:nvSpPr>
          <p:cNvPr id="34" name="Shape 31"/>
          <p:cNvSpPr/>
          <p:nvPr/>
        </p:nvSpPr>
        <p:spPr>
          <a:xfrm>
            <a:off x="8183880" y="4709160"/>
            <a:ext cx="347472" cy="347472"/>
          </a:xfrm>
          <a:prstGeom prst="ellipse">
            <a:avLst/>
          </a:prstGeom>
          <a:solidFill>
            <a:srgbClr val="050507"/>
          </a:solidFill>
          <a:ln w="25400">
            <a:solidFill>
              <a:srgbClr val="F0B25C"/>
            </a:solidFill>
            <a:prstDash val="solid"/>
          </a:ln>
        </p:spPr>
      </p:sp>
      <p:sp>
        <p:nvSpPr>
          <p:cNvPr id="35" name="Shape 32"/>
          <p:cNvSpPr/>
          <p:nvPr/>
        </p:nvSpPr>
        <p:spPr>
          <a:xfrm>
            <a:off x="8298546" y="4823826"/>
            <a:ext cx="118140" cy="118140"/>
          </a:xfrm>
          <a:prstGeom prst="ellipse">
            <a:avLst/>
          </a:prstGeom>
          <a:solidFill>
            <a:srgbClr val="F0B25C"/>
          </a:solidFill>
          <a:ln/>
        </p:spPr>
      </p:sp>
      <p:sp>
        <p:nvSpPr>
          <p:cNvPr id="36" name="Text 33"/>
          <p:cNvSpPr txBox="1"/>
          <p:nvPr/>
        </p:nvSpPr>
        <p:spPr>
          <a:xfrm>
            <a:off x="8183880" y="5138928"/>
            <a:ext cx="3291840" cy="822960"/>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The test that earns its keep cuts the network halfway through a session, then reads the database directly and counts the rows against the answers given.</a:t>
            </a:r>
            <a:endParaRPr lang="en-US" sz="1250" dirty="0"/>
          </a:p>
        </p:txBody>
      </p:sp>
      <p:sp>
        <p:nvSpPr>
          <p:cNvPr id="37" name="Text 34"/>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38" name="Text 35"/>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Are the numbers honest?</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Calibration: do the forecasts come true at the rate they claim?</a:t>
            </a:r>
            <a:endParaRPr lang="en-US" sz="1700" dirty="0"/>
          </a:p>
        </p:txBody>
      </p:sp>
      <p:graphicFrame>
        <p:nvGraphicFramePr>
          <p:cNvPr id="5" name="Chart 0" descr=""/>
          <p:cNvGraphicFramePr/>
          <p:nvPr/>
        </p:nvGraphicFramePr>
        <p:xfrm>
          <a:off x="640080" y="2011680"/>
          <a:ext cx="5577840" cy="3200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583680" y="2011680"/>
            <a:ext cx="5120640" cy="960120"/>
          </a:xfrm>
          <a:prstGeom prst="roundRect">
            <a:avLst>
              <a:gd name="adj" fmla="val 7619"/>
            </a:avLst>
          </a:prstGeom>
          <a:solidFill>
            <a:srgbClr val="14141E"/>
          </a:solidFill>
          <a:ln w="12700">
            <a:solidFill>
              <a:srgbClr val="1C1C29"/>
            </a:solidFill>
            <a:prstDash val="solid"/>
          </a:ln>
        </p:spPr>
      </p:sp>
      <p:sp>
        <p:nvSpPr>
          <p:cNvPr id="7" name="Text 3"/>
          <p:cNvSpPr txBox="1"/>
          <p:nvPr/>
        </p:nvSpPr>
        <p:spPr>
          <a:xfrm>
            <a:off x="6858000" y="2011680"/>
            <a:ext cx="1600200" cy="960120"/>
          </a:xfrm>
          <a:prstGeom prst="rect">
            <a:avLst/>
          </a:prstGeom>
          <a:noFill/>
          <a:ln/>
        </p:spPr>
        <p:txBody>
          <a:bodyPr wrap="square" lIns="0" tIns="0" rIns="0" bIns="0" rtlCol="0" anchor="ctr"/>
          <a:lstStyle/>
          <a:p>
            <a:pPr indent="0" marL="0">
              <a:buNone/>
            </a:pPr>
            <a:r>
              <a:rPr lang="en-US" sz="2600" b="1" dirty="0">
                <a:solidFill>
                  <a:srgbClr val="44E2CD"/>
                </a:solidFill>
                <a:latin typeface="Calibri" pitchFamily="34" charset="0"/>
                <a:ea typeface="Calibri" pitchFamily="34" charset="-122"/>
                <a:cs typeface="Calibri" pitchFamily="34" charset="-120"/>
              </a:rPr>
              <a:t>0.43 pp</a:t>
            </a:r>
            <a:endParaRPr lang="en-US" sz="2600" dirty="0"/>
          </a:p>
        </p:txBody>
      </p:sp>
      <p:sp>
        <p:nvSpPr>
          <p:cNvPr id="8" name="Text 4"/>
          <p:cNvSpPr txBox="1"/>
          <p:nvPr/>
        </p:nvSpPr>
        <p:spPr>
          <a:xfrm>
            <a:off x="8549640" y="2011680"/>
            <a:ext cx="2926080" cy="960120"/>
          </a:xfrm>
          <a:prstGeom prst="rect">
            <a:avLst/>
          </a:prstGeom>
          <a:noFill/>
          <a:ln/>
        </p:spPr>
        <p:txBody>
          <a:bodyPr wrap="square" lIns="0" tIns="0" rIns="0" bIns="0" rtlCol="0" anchor="ctr"/>
          <a:lstStyle/>
          <a:p>
            <a:pPr indent="0" marL="0">
              <a:buNone/>
            </a:pPr>
            <a:r>
              <a:rPr lang="en-US" sz="1300" dirty="0">
                <a:solidFill>
                  <a:srgbClr val="E4E1ED"/>
                </a:solidFill>
                <a:latin typeface="Calibri" pitchFamily="34" charset="0"/>
                <a:ea typeface="Calibri" pitchFamily="34" charset="-122"/>
                <a:cs typeface="Calibri" pitchFamily="34" charset="-120"/>
              </a:rPr>
              <a:t>expected calibration error across 8,000 simulated answers</a:t>
            </a:r>
            <a:endParaRPr lang="en-US" sz="1300" dirty="0"/>
          </a:p>
        </p:txBody>
      </p:sp>
      <p:sp>
        <p:nvSpPr>
          <p:cNvPr id="9" name="Shape 5"/>
          <p:cNvSpPr/>
          <p:nvPr/>
        </p:nvSpPr>
        <p:spPr>
          <a:xfrm>
            <a:off x="6583680" y="3154680"/>
            <a:ext cx="5120640" cy="960120"/>
          </a:xfrm>
          <a:prstGeom prst="roundRect">
            <a:avLst>
              <a:gd name="adj" fmla="val 7619"/>
            </a:avLst>
          </a:prstGeom>
          <a:solidFill>
            <a:srgbClr val="14141E"/>
          </a:solidFill>
          <a:ln w="12700">
            <a:solidFill>
              <a:srgbClr val="1C1C29"/>
            </a:solidFill>
            <a:prstDash val="solid"/>
          </a:ln>
        </p:spPr>
      </p:sp>
      <p:sp>
        <p:nvSpPr>
          <p:cNvPr id="10" name="Text 6"/>
          <p:cNvSpPr txBox="1"/>
          <p:nvPr/>
        </p:nvSpPr>
        <p:spPr>
          <a:xfrm>
            <a:off x="6858000" y="3154680"/>
            <a:ext cx="1600200" cy="960120"/>
          </a:xfrm>
          <a:prstGeom prst="rect">
            <a:avLst/>
          </a:prstGeom>
          <a:noFill/>
          <a:ln/>
        </p:spPr>
        <p:txBody>
          <a:bodyPr wrap="square" lIns="0" tIns="0" rIns="0" bIns="0" rtlCol="0" anchor="ctr"/>
          <a:lstStyle/>
          <a:p>
            <a:pPr indent="0" marL="0">
              <a:buNone/>
            </a:pPr>
            <a:r>
              <a:rPr lang="en-US" sz="2600" b="1" dirty="0">
                <a:solidFill>
                  <a:srgbClr val="44E2CD"/>
                </a:solidFill>
                <a:latin typeface="Calibri" pitchFamily="34" charset="0"/>
                <a:ea typeface="Calibri" pitchFamily="34" charset="-122"/>
                <a:cs typeface="Calibri" pitchFamily="34" charset="-120"/>
              </a:rPr>
              <a:t>26.0%</a:t>
            </a:r>
            <a:endParaRPr lang="en-US" sz="2600" dirty="0"/>
          </a:p>
        </p:txBody>
      </p:sp>
      <p:sp>
        <p:nvSpPr>
          <p:cNvPr id="11" name="Text 7"/>
          <p:cNvSpPr txBox="1"/>
          <p:nvPr/>
        </p:nvSpPr>
        <p:spPr>
          <a:xfrm>
            <a:off x="8549640" y="3154680"/>
            <a:ext cx="2926080" cy="960120"/>
          </a:xfrm>
          <a:prstGeom prst="rect">
            <a:avLst/>
          </a:prstGeom>
          <a:noFill/>
          <a:ln/>
        </p:spPr>
        <p:txBody>
          <a:bodyPr wrap="square" lIns="0" tIns="0" rIns="0" bIns="0" rtlCol="0" anchor="ctr"/>
          <a:lstStyle/>
          <a:p>
            <a:pPr indent="0" marL="0">
              <a:buNone/>
            </a:pPr>
            <a:r>
              <a:rPr lang="en-US" sz="1300" dirty="0">
                <a:solidFill>
                  <a:srgbClr val="E4E1ED"/>
                </a:solidFill>
                <a:latin typeface="Calibri" pitchFamily="34" charset="0"/>
                <a:ea typeface="Calibri" pitchFamily="34" charset="-122"/>
                <a:cs typeface="Calibri" pitchFamily="34" charset="-120"/>
              </a:rPr>
              <a:t>Brier skill against a base-rate baseline over the full sequences</a:t>
            </a:r>
            <a:endParaRPr lang="en-US" sz="1300" dirty="0"/>
          </a:p>
        </p:txBody>
      </p:sp>
      <p:sp>
        <p:nvSpPr>
          <p:cNvPr id="12" name="Shape 8"/>
          <p:cNvSpPr/>
          <p:nvPr/>
        </p:nvSpPr>
        <p:spPr>
          <a:xfrm>
            <a:off x="6583680" y="4343400"/>
            <a:ext cx="5120640" cy="1691640"/>
          </a:xfrm>
          <a:prstGeom prst="roundRect">
            <a:avLst>
              <a:gd name="adj" fmla="val 4324"/>
            </a:avLst>
          </a:prstGeom>
          <a:solidFill>
            <a:srgbClr val="1C1C29"/>
          </a:solidFill>
          <a:ln w="12700">
            <a:solidFill>
              <a:srgbClr val="1C1C29"/>
            </a:solidFill>
            <a:prstDash val="solid"/>
          </a:ln>
        </p:spPr>
      </p:sp>
      <p:sp>
        <p:nvSpPr>
          <p:cNvPr id="13" name="Shape 9"/>
          <p:cNvSpPr/>
          <p:nvPr/>
        </p:nvSpPr>
        <p:spPr>
          <a:xfrm>
            <a:off x="6903720" y="4617720"/>
            <a:ext cx="365760" cy="365760"/>
          </a:xfrm>
          <a:prstGeom prst="ellipse">
            <a:avLst/>
          </a:prstGeom>
          <a:solidFill>
            <a:srgbClr val="050507"/>
          </a:solidFill>
          <a:ln w="25400">
            <a:solidFill>
              <a:srgbClr val="F0B25C"/>
            </a:solidFill>
            <a:prstDash val="solid"/>
          </a:ln>
        </p:spPr>
      </p:sp>
      <p:sp>
        <p:nvSpPr>
          <p:cNvPr id="14" name="Shape 10"/>
          <p:cNvSpPr/>
          <p:nvPr/>
        </p:nvSpPr>
        <p:spPr>
          <a:xfrm>
            <a:off x="7024421" y="4738421"/>
            <a:ext cx="124358" cy="124358"/>
          </a:xfrm>
          <a:prstGeom prst="ellipse">
            <a:avLst/>
          </a:prstGeom>
          <a:solidFill>
            <a:srgbClr val="F0B25C"/>
          </a:solidFill>
          <a:ln/>
        </p:spPr>
      </p:sp>
      <p:sp>
        <p:nvSpPr>
          <p:cNvPr id="15" name="Text 11"/>
          <p:cNvSpPr txBox="1"/>
          <p:nvPr/>
        </p:nvSpPr>
        <p:spPr>
          <a:xfrm>
            <a:off x="7498080" y="4526280"/>
            <a:ext cx="3931920" cy="320040"/>
          </a:xfrm>
          <a:prstGeom prst="rect">
            <a:avLst/>
          </a:prstGeom>
          <a:noFill/>
          <a:ln/>
        </p:spPr>
        <p:txBody>
          <a:bodyPr wrap="square" lIns="0" tIns="0" rIns="0" bIns="0" rtlCol="0" anchor="ctr"/>
          <a:lstStyle/>
          <a:p>
            <a:pPr indent="0" marL="0">
              <a:buNone/>
            </a:pPr>
            <a:r>
              <a:rPr lang="en-US" sz="1500" b="1" dirty="0">
                <a:solidFill>
                  <a:srgbClr val="F0B25C"/>
                </a:solidFill>
                <a:latin typeface="Calibri" pitchFamily="34" charset="0"/>
                <a:ea typeface="Calibri" pitchFamily="34" charset="-122"/>
                <a:cs typeface="Calibri" pitchFamily="34" charset="-120"/>
              </a:rPr>
              <a:t>The result that went against me</a:t>
            </a:r>
            <a:endParaRPr lang="en-US" sz="1500" dirty="0"/>
          </a:p>
        </p:txBody>
      </p:sp>
      <p:sp>
        <p:nvSpPr>
          <p:cNvPr id="16" name="Text 12"/>
          <p:cNvSpPr txBox="1"/>
          <p:nvPr/>
        </p:nvSpPr>
        <p:spPr>
          <a:xfrm>
            <a:off x="7498080" y="4892040"/>
            <a:ext cx="3977640" cy="1051560"/>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Fitting the prior and learn rate per learner is the step everyone assumes you should take. On held-out data it makes the forecasts slightly worse and nearly doubles the calibration error, because twenty answers cannot identify a prior. So the defaults stay, and that is now an evidence-based decision.</a:t>
            </a:r>
            <a:endParaRPr lang="en-US" sz="1250" dirty="0"/>
          </a:p>
        </p:txBody>
      </p:sp>
      <p:sp>
        <p:nvSpPr>
          <p:cNvPr id="17" name="Text 13"/>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18" name="Text 14"/>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Does the adapting actually buy anything?</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300 synthetic learners, three policies, one item budget of 160</a:t>
            </a:r>
            <a:endParaRPr lang="en-US" sz="1700" dirty="0"/>
          </a:p>
        </p:txBody>
      </p:sp>
      <p:graphicFrame>
        <p:nvGraphicFramePr>
          <p:cNvPr id="5" name="Chart 0" descr=""/>
          <p:cNvGraphicFramePr/>
          <p:nvPr/>
        </p:nvGraphicFramePr>
        <p:xfrm>
          <a:off x="640080" y="2011680"/>
          <a:ext cx="6675120" cy="25146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40080" y="4663440"/>
            <a:ext cx="6675120" cy="960120"/>
          </a:xfrm>
          <a:prstGeom prst="roundRect">
            <a:avLst>
              <a:gd name="adj" fmla="val 7619"/>
            </a:avLst>
          </a:prstGeom>
          <a:solidFill>
            <a:srgbClr val="1C1C29"/>
          </a:solidFill>
          <a:ln w="12700">
            <a:solidFill>
              <a:srgbClr val="1C1C29"/>
            </a:solidFill>
            <a:prstDash val="solid"/>
          </a:ln>
        </p:spPr>
      </p:sp>
      <p:sp>
        <p:nvSpPr>
          <p:cNvPr id="7" name="Text 3"/>
          <p:cNvSpPr txBox="1"/>
          <p:nvPr/>
        </p:nvSpPr>
        <p:spPr>
          <a:xfrm>
            <a:off x="914400" y="4718304"/>
            <a:ext cx="6126480" cy="256032"/>
          </a:xfrm>
          <a:prstGeom prst="rect">
            <a:avLst/>
          </a:prstGeom>
          <a:noFill/>
          <a:ln/>
        </p:spPr>
        <p:txBody>
          <a:bodyPr wrap="square" lIns="0" tIns="0" rIns="0" bIns="0" rtlCol="0" anchor="ctr"/>
          <a:lstStyle/>
          <a:p>
            <a:pPr indent="0" marL="0">
              <a:buNone/>
            </a:pPr>
            <a:r>
              <a:rPr lang="en-US" sz="1150" dirty="0">
                <a:solidFill>
                  <a:srgbClr val="9A9AB4"/>
                </a:solidFill>
                <a:latin typeface="Calibri" pitchFamily="34" charset="0"/>
                <a:ea typeface="Calibri" pitchFamily="34" charset="-122"/>
                <a:cs typeface="Calibri" pitchFamily="34" charset="-120"/>
              </a:rPr>
              <a:t>Modules the learner truly knows at the end, of 16</a:t>
            </a:r>
            <a:endParaRPr lang="en-US" sz="1150" dirty="0"/>
          </a:p>
        </p:txBody>
      </p:sp>
      <p:sp>
        <p:nvSpPr>
          <p:cNvPr id="8" name="Text 4"/>
          <p:cNvSpPr txBox="1"/>
          <p:nvPr/>
        </p:nvSpPr>
        <p:spPr>
          <a:xfrm>
            <a:off x="914400" y="4992624"/>
            <a:ext cx="1051560" cy="411480"/>
          </a:xfrm>
          <a:prstGeom prst="rect">
            <a:avLst/>
          </a:prstGeom>
          <a:noFill/>
          <a:ln/>
        </p:spPr>
        <p:txBody>
          <a:bodyPr wrap="square" lIns="0" tIns="0" rIns="0" bIns="0" rtlCol="0" anchor="ctr"/>
          <a:lstStyle/>
          <a:p>
            <a:pPr indent="0" marL="0">
              <a:buNone/>
            </a:pPr>
            <a:r>
              <a:rPr lang="en-US" sz="2000" b="1" dirty="0">
                <a:solidFill>
                  <a:srgbClr val="44E2CD"/>
                </a:solidFill>
                <a:latin typeface="Calibri" pitchFamily="34" charset="0"/>
                <a:ea typeface="Calibri" pitchFamily="34" charset="-122"/>
                <a:cs typeface="Calibri" pitchFamily="34" charset="-120"/>
              </a:rPr>
              <a:t>14.97</a:t>
            </a:r>
            <a:endParaRPr lang="en-US" sz="2000" dirty="0"/>
          </a:p>
        </p:txBody>
      </p:sp>
      <p:sp>
        <p:nvSpPr>
          <p:cNvPr id="9" name="Text 5"/>
          <p:cNvSpPr txBox="1"/>
          <p:nvPr/>
        </p:nvSpPr>
        <p:spPr>
          <a:xfrm>
            <a:off x="1993392" y="4992624"/>
            <a:ext cx="960120" cy="411480"/>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Adaptive</a:t>
            </a:r>
            <a:endParaRPr lang="en-US" sz="1050" dirty="0"/>
          </a:p>
        </p:txBody>
      </p:sp>
      <p:sp>
        <p:nvSpPr>
          <p:cNvPr id="10" name="Text 6"/>
          <p:cNvSpPr txBox="1"/>
          <p:nvPr/>
        </p:nvSpPr>
        <p:spPr>
          <a:xfrm>
            <a:off x="2971800" y="4992624"/>
            <a:ext cx="1051560" cy="411480"/>
          </a:xfrm>
          <a:prstGeom prst="rect">
            <a:avLst/>
          </a:prstGeom>
          <a:noFill/>
          <a:ln/>
        </p:spPr>
        <p:txBody>
          <a:bodyPr wrap="square" lIns="0" tIns="0" rIns="0" bIns="0" rtlCol="0" anchor="ctr"/>
          <a:lstStyle/>
          <a:p>
            <a:pPr indent="0" marL="0">
              <a:buNone/>
            </a:pPr>
            <a:r>
              <a:rPr lang="en-US" sz="2000" b="1" dirty="0">
                <a:solidFill>
                  <a:srgbClr val="44E2CD"/>
                </a:solidFill>
                <a:latin typeface="Calibri" pitchFamily="34" charset="0"/>
                <a:ea typeface="Calibri" pitchFamily="34" charset="-122"/>
                <a:cs typeface="Calibri" pitchFamily="34" charset="-120"/>
              </a:rPr>
              <a:t>14.77</a:t>
            </a:r>
            <a:endParaRPr lang="en-US" sz="2000" dirty="0"/>
          </a:p>
        </p:txBody>
      </p:sp>
      <p:sp>
        <p:nvSpPr>
          <p:cNvPr id="11" name="Text 7"/>
          <p:cNvSpPr txBox="1"/>
          <p:nvPr/>
        </p:nvSpPr>
        <p:spPr>
          <a:xfrm>
            <a:off x="4050792" y="4992624"/>
            <a:ext cx="960120" cy="411480"/>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Fixed syllabus</a:t>
            </a:r>
            <a:endParaRPr lang="en-US" sz="1050" dirty="0"/>
          </a:p>
        </p:txBody>
      </p:sp>
      <p:sp>
        <p:nvSpPr>
          <p:cNvPr id="12" name="Text 8"/>
          <p:cNvSpPr txBox="1"/>
          <p:nvPr/>
        </p:nvSpPr>
        <p:spPr>
          <a:xfrm>
            <a:off x="5029200" y="4992624"/>
            <a:ext cx="1051560" cy="411480"/>
          </a:xfrm>
          <a:prstGeom prst="rect">
            <a:avLst/>
          </a:prstGeom>
          <a:noFill/>
          <a:ln/>
        </p:spPr>
        <p:txBody>
          <a:bodyPr wrap="square" lIns="0" tIns="0" rIns="0" bIns="0" rtlCol="0" anchor="ctr"/>
          <a:lstStyle/>
          <a:p>
            <a:pPr indent="0" marL="0">
              <a:buNone/>
            </a:pPr>
            <a:r>
              <a:rPr lang="en-US" sz="2000" b="1" dirty="0">
                <a:solidFill>
                  <a:srgbClr val="9A9AB4"/>
                </a:solidFill>
                <a:latin typeface="Calibri" pitchFamily="34" charset="0"/>
                <a:ea typeface="Calibri" pitchFamily="34" charset="-122"/>
                <a:cs typeface="Calibri" pitchFamily="34" charset="-120"/>
              </a:rPr>
              <a:t>8.50</a:t>
            </a:r>
            <a:endParaRPr lang="en-US" sz="2000" dirty="0"/>
          </a:p>
        </p:txBody>
      </p:sp>
      <p:sp>
        <p:nvSpPr>
          <p:cNvPr id="13" name="Text 9"/>
          <p:cNvSpPr txBox="1"/>
          <p:nvPr/>
        </p:nvSpPr>
        <p:spPr>
          <a:xfrm>
            <a:off x="6108192" y="4992624"/>
            <a:ext cx="960120" cy="411480"/>
          </a:xfrm>
          <a:prstGeom prst="rect">
            <a:avLst/>
          </a:prstGeom>
          <a:noFill/>
          <a:ln/>
        </p:spPr>
        <p:txBody>
          <a:bodyPr wrap="square" lIns="0" tIns="0" rIns="0" bIns="0" rtlCol="0" anchor="ctr"/>
          <a:lstStyle/>
          <a:p>
            <a:pPr indent="0" marL="0">
              <a:buNone/>
            </a:pPr>
            <a:r>
              <a:rPr lang="en-US" sz="1050" dirty="0">
                <a:solidFill>
                  <a:srgbClr val="9A9AB4"/>
                </a:solidFill>
                <a:latin typeface="Calibri" pitchFamily="34" charset="0"/>
                <a:ea typeface="Calibri" pitchFamily="34" charset="-122"/>
                <a:cs typeface="Calibri" pitchFamily="34" charset="-120"/>
              </a:rPr>
              <a:t>Random unlocked</a:t>
            </a:r>
            <a:endParaRPr lang="en-US" sz="1050" dirty="0"/>
          </a:p>
        </p:txBody>
      </p:sp>
      <p:sp>
        <p:nvSpPr>
          <p:cNvPr id="14" name="Shape 10"/>
          <p:cNvSpPr/>
          <p:nvPr/>
        </p:nvSpPr>
        <p:spPr>
          <a:xfrm>
            <a:off x="7680960" y="2011680"/>
            <a:ext cx="4023360" cy="1554480"/>
          </a:xfrm>
          <a:prstGeom prst="roundRect">
            <a:avLst>
              <a:gd name="adj" fmla="val 4706"/>
            </a:avLst>
          </a:prstGeom>
          <a:solidFill>
            <a:srgbClr val="14141E"/>
          </a:solidFill>
          <a:ln w="12700">
            <a:solidFill>
              <a:srgbClr val="1C1C29"/>
            </a:solidFill>
            <a:prstDash val="solid"/>
          </a:ln>
        </p:spPr>
      </p:sp>
      <p:sp>
        <p:nvSpPr>
          <p:cNvPr id="15" name="Text 11"/>
          <p:cNvSpPr txBox="1"/>
          <p:nvPr/>
        </p:nvSpPr>
        <p:spPr>
          <a:xfrm>
            <a:off x="7955280" y="2148840"/>
            <a:ext cx="3566160" cy="685800"/>
          </a:xfrm>
          <a:prstGeom prst="rect">
            <a:avLst/>
          </a:prstGeom>
          <a:noFill/>
          <a:ln/>
        </p:spPr>
        <p:txBody>
          <a:bodyPr wrap="square" lIns="0" tIns="0" rIns="0" bIns="0" rtlCol="0" anchor="ctr"/>
          <a:lstStyle/>
          <a:p>
            <a:pPr indent="0" marL="0">
              <a:buNone/>
            </a:pPr>
            <a:r>
              <a:rPr lang="en-US" sz="4000" b="1" dirty="0">
                <a:solidFill>
                  <a:srgbClr val="44E2CD"/>
                </a:solidFill>
                <a:latin typeface="Calibri" pitchFamily="34" charset="0"/>
                <a:ea typeface="Calibri" pitchFamily="34" charset="-122"/>
                <a:cs typeface="Calibri" pitchFamily="34" charset="-120"/>
              </a:rPr>
              <a:t>46%</a:t>
            </a:r>
            <a:endParaRPr lang="en-US" sz="4000" dirty="0"/>
          </a:p>
        </p:txBody>
      </p:sp>
      <p:sp>
        <p:nvSpPr>
          <p:cNvPr id="16" name="Text 12"/>
          <p:cNvSpPr txBox="1"/>
          <p:nvPr/>
        </p:nvSpPr>
        <p:spPr>
          <a:xfrm>
            <a:off x="7955280" y="2816352"/>
            <a:ext cx="3520440" cy="685800"/>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of the syllabus's items, for the same true knowledge. And 44% of the engine's budget goes on modules already known, against 76% for the syllabus.</a:t>
            </a:r>
            <a:endParaRPr lang="en-US" sz="1250" dirty="0"/>
          </a:p>
        </p:txBody>
      </p:sp>
      <p:sp>
        <p:nvSpPr>
          <p:cNvPr id="17" name="Shape 13"/>
          <p:cNvSpPr/>
          <p:nvPr/>
        </p:nvSpPr>
        <p:spPr>
          <a:xfrm>
            <a:off x="7680960" y="3749040"/>
            <a:ext cx="4023360" cy="2286000"/>
          </a:xfrm>
          <a:prstGeom prst="roundRect">
            <a:avLst>
              <a:gd name="adj" fmla="val 3200"/>
            </a:avLst>
          </a:prstGeom>
          <a:solidFill>
            <a:srgbClr val="1C1C29"/>
          </a:solidFill>
          <a:ln w="12700">
            <a:solidFill>
              <a:srgbClr val="1C1C29"/>
            </a:solidFill>
            <a:prstDash val="solid"/>
          </a:ln>
        </p:spPr>
      </p:sp>
      <p:sp>
        <p:nvSpPr>
          <p:cNvPr id="18" name="Shape 14"/>
          <p:cNvSpPr/>
          <p:nvPr/>
        </p:nvSpPr>
        <p:spPr>
          <a:xfrm>
            <a:off x="7955280" y="3977640"/>
            <a:ext cx="365760" cy="365760"/>
          </a:xfrm>
          <a:prstGeom prst="ellipse">
            <a:avLst/>
          </a:prstGeom>
          <a:solidFill>
            <a:srgbClr val="050507"/>
          </a:solidFill>
          <a:ln w="25400">
            <a:solidFill>
              <a:srgbClr val="F0B25C"/>
            </a:solidFill>
            <a:prstDash val="solid"/>
          </a:ln>
        </p:spPr>
      </p:sp>
      <p:sp>
        <p:nvSpPr>
          <p:cNvPr id="19" name="Shape 15"/>
          <p:cNvSpPr/>
          <p:nvPr/>
        </p:nvSpPr>
        <p:spPr>
          <a:xfrm>
            <a:off x="8075981" y="4098341"/>
            <a:ext cx="124358" cy="124358"/>
          </a:xfrm>
          <a:prstGeom prst="ellipse">
            <a:avLst/>
          </a:prstGeom>
          <a:solidFill>
            <a:srgbClr val="F0B25C"/>
          </a:solidFill>
          <a:ln/>
        </p:spPr>
      </p:sp>
      <p:sp>
        <p:nvSpPr>
          <p:cNvPr id="20" name="Text 16"/>
          <p:cNvSpPr txBox="1"/>
          <p:nvPr/>
        </p:nvSpPr>
        <p:spPr>
          <a:xfrm>
            <a:off x="8549640" y="3913632"/>
            <a:ext cx="2926080" cy="320040"/>
          </a:xfrm>
          <a:prstGeom prst="rect">
            <a:avLst/>
          </a:prstGeom>
          <a:noFill/>
          <a:ln/>
        </p:spPr>
        <p:txBody>
          <a:bodyPr wrap="square" lIns="0" tIns="0" rIns="0" bIns="0" rtlCol="0" anchor="ctr"/>
          <a:lstStyle/>
          <a:p>
            <a:pPr indent="0" marL="0">
              <a:buNone/>
            </a:pPr>
            <a:r>
              <a:rPr lang="en-US" sz="1600" b="1" dirty="0">
                <a:solidFill>
                  <a:srgbClr val="F0B25C"/>
                </a:solidFill>
                <a:latin typeface="Calibri" pitchFamily="34" charset="0"/>
                <a:ea typeface="Calibri" pitchFamily="34" charset="-122"/>
                <a:cs typeface="Calibri" pitchFamily="34" charset="-120"/>
              </a:rPr>
              <a:t>And the cost</a:t>
            </a:r>
            <a:endParaRPr lang="en-US" sz="1600" dirty="0"/>
          </a:p>
        </p:txBody>
      </p:sp>
      <p:sp>
        <p:nvSpPr>
          <p:cNvPr id="21" name="Text 17"/>
          <p:cNvSpPr txBox="1"/>
          <p:nvPr/>
        </p:nvSpPr>
        <p:spPr>
          <a:xfrm>
            <a:off x="7955280" y="4407408"/>
            <a:ext cx="3566160" cy="1554480"/>
          </a:xfrm>
          <a:prstGeom prst="rect">
            <a:avLst/>
          </a:prstGeom>
          <a:noFill/>
          <a:ln/>
        </p:spPr>
        <p:txBody>
          <a:bodyPr wrap="square" lIns="0" tIns="0" rIns="0" bIns="0" rtlCol="0" anchor="ctr"/>
          <a:lstStyle/>
          <a:p>
            <a:pPr indent="0" marL="0">
              <a:buNone/>
            </a:pPr>
            <a:r>
              <a:rPr lang="en-US" sz="1200" dirty="0">
                <a:solidFill>
                  <a:srgbClr val="E4E1ED"/>
                </a:solidFill>
                <a:latin typeface="Calibri" pitchFamily="34" charset="0"/>
                <a:ea typeface="Calibri" pitchFamily="34" charset="-122"/>
                <a:cs typeface="Calibri" pitchFamily="34" charset="-120"/>
              </a:rPr>
              <a:t>About one module in sixteen is called mastered that the learner does not know, because the engine stops asking once the estimate crosses 0.8 and a lucky guess can carry it there. The syllabus makes the opposite error and pays double the items to avoid it. Neither is free, and mine is the one that shows on the learner's dashboard.</a:t>
            </a:r>
            <a:endParaRPr lang="en-US" sz="1200" dirty="0"/>
          </a:p>
        </p:txBody>
      </p:sp>
      <p:sp>
        <p:nvSpPr>
          <p:cNvPr id="22" name="Text 18"/>
          <p:cNvSpPr txBox="1"/>
          <p:nvPr/>
        </p:nvSpPr>
        <p:spPr>
          <a:xfrm>
            <a:off x="640080" y="5715000"/>
            <a:ext cx="6675120" cy="502920"/>
          </a:xfrm>
          <a:prstGeom prst="rect">
            <a:avLst/>
          </a:prstGeom>
          <a:noFill/>
          <a:ln/>
        </p:spPr>
        <p:txBody>
          <a:bodyPr wrap="square" lIns="0" tIns="0" rIns="0" bIns="0" rtlCol="0" anchor="ctr"/>
          <a:lstStyle/>
          <a:p>
            <a:pPr indent="0" marL="0">
              <a:buNone/>
            </a:pPr>
            <a:r>
              <a:rPr lang="en-US" sz="1150" dirty="0">
                <a:solidFill>
                  <a:srgbClr val="9A9AB4"/>
                </a:solidFill>
                <a:latin typeface="Calibri" pitchFamily="34" charset="0"/>
                <a:ea typeface="Calibri" pitchFamily="34" charset="-122"/>
                <a:cs typeface="Calibri" pitchFamily="34" charset="-120"/>
              </a:rPr>
              <a:t>Answers come from the learner's hidden true state and the item's difficulty, never from the engine's estimate. And the generative model is deliberately not BKT's own, so the engine is tested against a world it did not assume.</a:t>
            </a:r>
            <a:endParaRPr lang="en-US" sz="1150" dirty="0"/>
          </a:p>
        </p:txBody>
      </p:sp>
      <p:sp>
        <p:nvSpPr>
          <p:cNvPr id="23" name="Text 19"/>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24" name="Text 20"/>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Measured, not assumed</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Accessibility as a gate, and performance findings that were invisible on a fast laptop</a:t>
            </a:r>
            <a:endParaRPr lang="en-US" sz="1700" dirty="0"/>
          </a:p>
        </p:txBody>
      </p:sp>
      <p:sp>
        <p:nvSpPr>
          <p:cNvPr id="5" name="Shape 2"/>
          <p:cNvSpPr/>
          <p:nvPr/>
        </p:nvSpPr>
        <p:spPr>
          <a:xfrm>
            <a:off x="640080" y="1965960"/>
            <a:ext cx="5394960" cy="3931920"/>
          </a:xfrm>
          <a:prstGeom prst="roundRect">
            <a:avLst>
              <a:gd name="adj" fmla="val 1860"/>
            </a:avLst>
          </a:prstGeom>
          <a:solidFill>
            <a:srgbClr val="14141E"/>
          </a:solidFill>
          <a:ln w="12700">
            <a:solidFill>
              <a:srgbClr val="1C1C29"/>
            </a:solidFill>
            <a:prstDash val="solid"/>
          </a:ln>
        </p:spPr>
      </p:sp>
      <p:sp>
        <p:nvSpPr>
          <p:cNvPr id="6" name="Text 3"/>
          <p:cNvSpPr txBox="1"/>
          <p:nvPr/>
        </p:nvSpPr>
        <p:spPr>
          <a:xfrm>
            <a:off x="960120" y="2194560"/>
            <a:ext cx="4754880" cy="365760"/>
          </a:xfrm>
          <a:prstGeom prst="rect">
            <a:avLst/>
          </a:prstGeom>
          <a:noFill/>
          <a:ln/>
        </p:spPr>
        <p:txBody>
          <a:bodyPr wrap="square" lIns="0" tIns="0" rIns="0" bIns="0" rtlCol="0" anchor="ctr"/>
          <a:lstStyle/>
          <a:p>
            <a:pPr indent="0" marL="0">
              <a:buNone/>
            </a:pPr>
            <a:r>
              <a:rPr lang="en-US" sz="2000" b="1" dirty="0">
                <a:solidFill>
                  <a:srgbClr val="44E2CD"/>
                </a:solidFill>
                <a:latin typeface="Calibri" pitchFamily="34" charset="0"/>
                <a:ea typeface="Calibri" pitchFamily="34" charset="-122"/>
                <a:cs typeface="Calibri" pitchFamily="34" charset="-120"/>
              </a:rPr>
              <a:t>Accessibility</a:t>
            </a:r>
            <a:endParaRPr lang="en-US" sz="2000" dirty="0"/>
          </a:p>
        </p:txBody>
      </p:sp>
      <p:sp>
        <p:nvSpPr>
          <p:cNvPr id="7" name="Text 4"/>
          <p:cNvSpPr txBox="1"/>
          <p:nvPr/>
        </p:nvSpPr>
        <p:spPr>
          <a:xfrm>
            <a:off x="960120" y="2651760"/>
            <a:ext cx="1463040" cy="640080"/>
          </a:xfrm>
          <a:prstGeom prst="rect">
            <a:avLst/>
          </a:prstGeom>
          <a:noFill/>
          <a:ln/>
        </p:spPr>
        <p:txBody>
          <a:bodyPr wrap="square" lIns="0" tIns="0" rIns="0" bIns="0" rtlCol="0" anchor="ctr"/>
          <a:lstStyle/>
          <a:p>
            <a:pPr indent="0" marL="0">
              <a:buNone/>
            </a:pPr>
            <a:r>
              <a:rPr lang="en-US" sz="3400" b="1" dirty="0">
                <a:solidFill>
                  <a:srgbClr val="E4E1ED"/>
                </a:solidFill>
                <a:latin typeface="Calibri" pitchFamily="34" charset="0"/>
                <a:ea typeface="Calibri" pitchFamily="34" charset="-122"/>
                <a:cs typeface="Calibri" pitchFamily="34" charset="-120"/>
              </a:rPr>
              <a:t>100</a:t>
            </a:r>
            <a:endParaRPr lang="en-US" sz="3400" dirty="0"/>
          </a:p>
        </p:txBody>
      </p:sp>
      <p:sp>
        <p:nvSpPr>
          <p:cNvPr id="8" name="Text 5"/>
          <p:cNvSpPr txBox="1"/>
          <p:nvPr/>
        </p:nvSpPr>
        <p:spPr>
          <a:xfrm>
            <a:off x="2468880" y="2651760"/>
            <a:ext cx="3291840" cy="68580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Lighthouse accessibility, best practices and SEO on every public page, on both mobile and desktop presets</a:t>
            </a:r>
            <a:endParaRPr lang="en-US" sz="1250" dirty="0"/>
          </a:p>
        </p:txBody>
      </p:sp>
      <p:sp>
        <p:nvSpPr>
          <p:cNvPr id="9" name="Text 6"/>
          <p:cNvSpPr txBox="1"/>
          <p:nvPr/>
        </p:nvSpPr>
        <p:spPr>
          <a:xfrm>
            <a:off x="960120" y="3520440"/>
            <a:ext cx="4754880" cy="914400"/>
          </a:xfrm>
          <a:prstGeom prst="rect">
            <a:avLst/>
          </a:prstGeom>
          <a:noFill/>
          <a:ln/>
        </p:spPr>
        <p:txBody>
          <a:bodyPr wrap="square" lIns="0" tIns="0" rIns="0" bIns="0" rtlCol="0" anchor="ctr"/>
          <a:lstStyle/>
          <a:p>
            <a:pPr indent="0" marL="0">
              <a:buNone/>
            </a:pPr>
            <a:r>
              <a:rPr lang="en-US" sz="1300" dirty="0">
                <a:solidFill>
                  <a:srgbClr val="E4E1ED"/>
                </a:solidFill>
                <a:latin typeface="Calibri" pitchFamily="34" charset="0"/>
                <a:ea typeface="Calibri" pitchFamily="34" charset="-122"/>
                <a:cs typeface="Calibri" pitchFamily="34" charset="-120"/>
              </a:rPr>
              <a:t>axe-core now runs inside the browser suite against twelve pages on two device profiles, failing the build on any serious or critical WCAG 2.1 AA violation. Before it went green it found three real defects a manual pass had missed:</a:t>
            </a:r>
            <a:endParaRPr lang="en-US" sz="1300" dirty="0"/>
          </a:p>
        </p:txBody>
      </p:sp>
      <p:sp>
        <p:nvSpPr>
          <p:cNvPr id="10" name="Text 7"/>
          <p:cNvSpPr txBox="1"/>
          <p:nvPr/>
        </p:nvSpPr>
        <p:spPr>
          <a:xfrm>
            <a:off x="960120" y="4434840"/>
            <a:ext cx="4754880" cy="164592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E4E1ED"/>
                </a:solidFill>
                <a:latin typeface="Calibri" pitchFamily="34" charset="0"/>
                <a:ea typeface="Calibri" pitchFamily="34" charset="-122"/>
                <a:cs typeface="Calibri" pitchFamily="34" charset="-120"/>
              </a:rPr>
              <a:t>A muted colour token at 3.0:1 on every small label in the app</a:t>
            </a:r>
            <a:endParaRPr lang="en-US" sz="1250" dirty="0"/>
          </a:p>
          <a:p>
            <a:pPr marL="342900" indent="-342900">
              <a:spcAft>
                <a:spcPts val="900"/>
              </a:spcAft>
              <a:buSzPct val="100000"/>
              <a:buChar char="•"/>
            </a:pPr>
            <a:r>
              <a:rPr lang="en-US" sz="1250" dirty="0">
                <a:solidFill>
                  <a:srgbClr val="E4E1ED"/>
                </a:solidFill>
                <a:latin typeface="Calibri" pitchFamily="34" charset="0"/>
                <a:ea typeface="Calibri" pitchFamily="34" charset="-122"/>
                <a:cs typeface="Calibri" pitchFamily="34" charset="-120"/>
              </a:rPr>
              <a:t>Unearned profile badges whose dimming took their text to 1.9:1</a:t>
            </a:r>
            <a:endParaRPr lang="en-US" sz="1250" dirty="0"/>
          </a:p>
          <a:p>
            <a:pPr marL="342900" indent="-342900">
              <a:spcAft>
                <a:spcPts val="900"/>
              </a:spcAft>
              <a:buSzPct val="100000"/>
              <a:buChar char="•"/>
            </a:pPr>
            <a:r>
              <a:rPr lang="en-US" sz="1250" dirty="0">
                <a:solidFill>
                  <a:srgbClr val="E4E1ED"/>
                </a:solidFill>
                <a:latin typeface="Calibri" pitchFamily="34" charset="0"/>
                <a:ea typeface="Calibri" pitchFamily="34" charset="-122"/>
                <a:cs typeface="Calibri" pitchFamily="34" charset="-120"/>
              </a:rPr>
              <a:t>A scrolling lesson table with no keyboard route to scroll it</a:t>
            </a:r>
            <a:endParaRPr lang="en-US" sz="1250" dirty="0"/>
          </a:p>
        </p:txBody>
      </p:sp>
      <p:sp>
        <p:nvSpPr>
          <p:cNvPr id="11" name="Shape 8"/>
          <p:cNvSpPr/>
          <p:nvPr/>
        </p:nvSpPr>
        <p:spPr>
          <a:xfrm>
            <a:off x="6309360" y="1965960"/>
            <a:ext cx="5394960" cy="3931920"/>
          </a:xfrm>
          <a:prstGeom prst="roundRect">
            <a:avLst>
              <a:gd name="adj" fmla="val 1860"/>
            </a:avLst>
          </a:prstGeom>
          <a:solidFill>
            <a:srgbClr val="14141E"/>
          </a:solidFill>
          <a:ln w="12700">
            <a:solidFill>
              <a:srgbClr val="1C1C29"/>
            </a:solidFill>
            <a:prstDash val="solid"/>
          </a:ln>
        </p:spPr>
      </p:sp>
      <p:sp>
        <p:nvSpPr>
          <p:cNvPr id="12" name="Text 9"/>
          <p:cNvSpPr txBox="1"/>
          <p:nvPr/>
        </p:nvSpPr>
        <p:spPr>
          <a:xfrm>
            <a:off x="6629400" y="2194560"/>
            <a:ext cx="4754880" cy="365760"/>
          </a:xfrm>
          <a:prstGeom prst="rect">
            <a:avLst/>
          </a:prstGeom>
          <a:noFill/>
          <a:ln/>
        </p:spPr>
        <p:txBody>
          <a:bodyPr wrap="square" lIns="0" tIns="0" rIns="0" bIns="0" rtlCol="0" anchor="ctr"/>
          <a:lstStyle/>
          <a:p>
            <a:pPr indent="0" marL="0">
              <a:buNone/>
            </a:pPr>
            <a:r>
              <a:rPr lang="en-US" sz="2000" b="1" dirty="0">
                <a:solidFill>
                  <a:srgbClr val="44E2CD"/>
                </a:solidFill>
                <a:latin typeface="Calibri" pitchFamily="34" charset="0"/>
                <a:ea typeface="Calibri" pitchFamily="34" charset="-122"/>
                <a:cs typeface="Calibri" pitchFamily="34" charset="-120"/>
              </a:rPr>
              <a:t>Performance</a:t>
            </a:r>
            <a:endParaRPr lang="en-US" sz="2000" dirty="0"/>
          </a:p>
        </p:txBody>
      </p:sp>
      <p:sp>
        <p:nvSpPr>
          <p:cNvPr id="13" name="Text 10"/>
          <p:cNvSpPr txBox="1"/>
          <p:nvPr/>
        </p:nvSpPr>
        <p:spPr>
          <a:xfrm>
            <a:off x="6629400" y="2651760"/>
            <a:ext cx="2194560" cy="640080"/>
          </a:xfrm>
          <a:prstGeom prst="rect">
            <a:avLst/>
          </a:prstGeom>
          <a:noFill/>
          <a:ln/>
        </p:spPr>
        <p:txBody>
          <a:bodyPr wrap="square" lIns="0" tIns="0" rIns="0" bIns="0" rtlCol="0" anchor="ctr"/>
          <a:lstStyle/>
          <a:p>
            <a:pPr indent="0" marL="0">
              <a:buNone/>
            </a:pPr>
            <a:r>
              <a:rPr lang="en-US" sz="3400" b="1" dirty="0">
                <a:solidFill>
                  <a:srgbClr val="E4E1ED"/>
                </a:solidFill>
                <a:latin typeface="Calibri" pitchFamily="34" charset="0"/>
                <a:ea typeface="Calibri" pitchFamily="34" charset="-122"/>
                <a:cs typeface="Calibri" pitchFamily="34" charset="-120"/>
              </a:rPr>
              <a:t>77 → 91</a:t>
            </a:r>
            <a:endParaRPr lang="en-US" sz="3400" dirty="0"/>
          </a:p>
        </p:txBody>
      </p:sp>
      <p:sp>
        <p:nvSpPr>
          <p:cNvPr id="14" name="Text 11"/>
          <p:cNvSpPr txBox="1"/>
          <p:nvPr/>
        </p:nvSpPr>
        <p:spPr>
          <a:xfrm>
            <a:off x="8915400" y="2651760"/>
            <a:ext cx="2514600" cy="68580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Sign-in on a simulated slow phone, after the entrance animations were rebuilt in CSS</a:t>
            </a:r>
            <a:endParaRPr lang="en-US" sz="1250" dirty="0"/>
          </a:p>
        </p:txBody>
      </p:sp>
      <p:sp>
        <p:nvSpPr>
          <p:cNvPr id="15" name="Text 12"/>
          <p:cNvSpPr txBox="1"/>
          <p:nvPr/>
        </p:nvSpPr>
        <p:spPr>
          <a:xfrm>
            <a:off x="6629400" y="3520440"/>
            <a:ext cx="4754880" cy="1005840"/>
          </a:xfrm>
          <a:prstGeom prst="rect">
            <a:avLst/>
          </a:prstGeom>
          <a:noFill/>
          <a:ln/>
        </p:spPr>
        <p:txBody>
          <a:bodyPr wrap="square" lIns="0" tIns="0" rIns="0" bIns="0" rtlCol="0" anchor="ctr"/>
          <a:lstStyle/>
          <a:p>
            <a:pPr indent="0" marL="0">
              <a:buNone/>
            </a:pPr>
            <a:r>
              <a:rPr lang="en-US" sz="1300" dirty="0">
                <a:solidFill>
                  <a:srgbClr val="E4E1ED"/>
                </a:solidFill>
                <a:latin typeface="Calibri" pitchFamily="34" charset="0"/>
                <a:ea typeface="Calibri" pitchFamily="34" charset="-122"/>
                <a:cs typeface="Calibri" pitchFamily="34" charset="-120"/>
              </a:rPr>
              <a:t>The animation library was server-rendering every entrance block with an inline opacity of zero. So pages stayed blank until 940 kilobytes of JavaScript had hydrated, and a throttled phone saw the sign-in form 6.6 seconds after the HTML arrived.</a:t>
            </a:r>
            <a:endParaRPr lang="en-US" sz="1300" dirty="0"/>
          </a:p>
        </p:txBody>
      </p:sp>
      <p:sp>
        <p:nvSpPr>
          <p:cNvPr id="16" name="Shape 13"/>
          <p:cNvSpPr/>
          <p:nvPr/>
        </p:nvSpPr>
        <p:spPr>
          <a:xfrm>
            <a:off x="6629400" y="4572000"/>
            <a:ext cx="4754880" cy="1051560"/>
          </a:xfrm>
          <a:prstGeom prst="roundRect">
            <a:avLst>
              <a:gd name="adj" fmla="val 5217"/>
            </a:avLst>
          </a:prstGeom>
          <a:solidFill>
            <a:srgbClr val="1C1C29"/>
          </a:solidFill>
          <a:ln w="12700">
            <a:solidFill>
              <a:srgbClr val="F0B25C"/>
            </a:solidFill>
            <a:prstDash val="solid"/>
          </a:ln>
        </p:spPr>
      </p:sp>
      <p:sp>
        <p:nvSpPr>
          <p:cNvPr id="17" name="Text 14"/>
          <p:cNvSpPr txBox="1"/>
          <p:nvPr/>
        </p:nvSpPr>
        <p:spPr>
          <a:xfrm>
            <a:off x="6858000" y="4617720"/>
            <a:ext cx="4343400" cy="960120"/>
          </a:xfrm>
          <a:prstGeom prst="rect">
            <a:avLst/>
          </a:prstGeom>
          <a:noFill/>
          <a:ln/>
        </p:spPr>
        <p:txBody>
          <a:bodyPr wrap="square" lIns="0" tIns="0" rIns="0" bIns="0" rtlCol="0" anchor="ctr"/>
          <a:lstStyle/>
          <a:p>
            <a:pPr indent="0" marL="0">
              <a:buNone/>
            </a:pPr>
            <a:r>
              <a:rPr lang="en-US" sz="1250" i="1" dirty="0">
                <a:solidFill>
                  <a:srgbClr val="E4E1ED"/>
                </a:solidFill>
                <a:latin typeface="Calibri" pitchFamily="34" charset="0"/>
                <a:ea typeface="Calibri" pitchFamily="34" charset="-122"/>
                <a:cs typeface="Calibri" pitchFamily="34" charset="-120"/>
              </a:rPr>
              <a:t>An entrance animation that hides server-rendered content behind JavaScript is a performance and an accessibility defect, not a polish choice. And it was completely invisible on a fast laptop.</a:t>
            </a:r>
            <a:endParaRPr lang="en-US" sz="1250" dirty="0"/>
          </a:p>
        </p:txBody>
      </p:sp>
      <p:sp>
        <p:nvSpPr>
          <p:cNvPr id="18" name="Text 15"/>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19" name="Text 16"/>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The study is built</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Which changes what the limitation of this project actually is</a:t>
            </a:r>
            <a:endParaRPr lang="en-US" sz="1700" dirty="0"/>
          </a:p>
        </p:txBody>
      </p:sp>
      <p:sp>
        <p:nvSpPr>
          <p:cNvPr id="5" name="Shape 2"/>
          <p:cNvSpPr/>
          <p:nvPr/>
        </p:nvSpPr>
        <p:spPr>
          <a:xfrm>
            <a:off x="640080" y="1965960"/>
            <a:ext cx="11064240" cy="1042416"/>
          </a:xfrm>
          <a:prstGeom prst="roundRect">
            <a:avLst>
              <a:gd name="adj" fmla="val 7018"/>
            </a:avLst>
          </a:prstGeom>
          <a:solidFill>
            <a:srgbClr val="14141E"/>
          </a:solidFill>
          <a:ln w="12700">
            <a:solidFill>
              <a:srgbClr val="1C1C29"/>
            </a:solidFill>
            <a:prstDash val="solid"/>
          </a:ln>
        </p:spPr>
      </p:sp>
      <p:sp>
        <p:nvSpPr>
          <p:cNvPr id="6" name="Text 3"/>
          <p:cNvSpPr txBox="1"/>
          <p:nvPr/>
        </p:nvSpPr>
        <p:spPr>
          <a:xfrm>
            <a:off x="960120" y="2039112"/>
            <a:ext cx="1920240" cy="365760"/>
          </a:xfrm>
          <a:prstGeom prst="rect">
            <a:avLst/>
          </a:prstGeom>
          <a:noFill/>
          <a:ln/>
        </p:spPr>
        <p:txBody>
          <a:bodyPr wrap="square" lIns="0" tIns="0" rIns="0" bIns="0" rtlCol="0" anchor="ctr"/>
          <a:lstStyle/>
          <a:p>
            <a:pPr indent="0" marL="0">
              <a:buNone/>
            </a:pPr>
            <a:r>
              <a:rPr lang="en-US" sz="1700" b="1" dirty="0">
                <a:solidFill>
                  <a:srgbClr val="44E2CD"/>
                </a:solidFill>
                <a:latin typeface="Calibri" pitchFamily="34" charset="0"/>
                <a:ea typeface="Calibri" pitchFamily="34" charset="-122"/>
                <a:cs typeface="Calibri" pitchFamily="34" charset="-120"/>
              </a:rPr>
              <a:t>Post-test</a:t>
            </a:r>
            <a:endParaRPr lang="en-US" sz="1700" dirty="0"/>
          </a:p>
        </p:txBody>
      </p:sp>
      <p:sp>
        <p:nvSpPr>
          <p:cNvPr id="7" name="Text 4"/>
          <p:cNvSpPr txBox="1"/>
          <p:nvPr/>
        </p:nvSpPr>
        <p:spPr>
          <a:xfrm>
            <a:off x="960120" y="2441448"/>
            <a:ext cx="2011680" cy="320040"/>
          </a:xfrm>
          <a:prstGeom prst="rect">
            <a:avLst/>
          </a:prstGeom>
          <a:noFill/>
          <a:ln/>
        </p:spPr>
        <p:txBody>
          <a:bodyPr wrap="square" lIns="0" tIns="0" rIns="0" bIns="0" rtlCol="0" anchor="ctr"/>
          <a:lstStyle/>
          <a:p>
            <a:pPr indent="0" marL="0">
              <a:buNone/>
            </a:pPr>
            <a:r>
              <a:rPr lang="en-US" sz="1150" dirty="0">
                <a:solidFill>
                  <a:srgbClr val="9A9AB4"/>
                </a:solidFill>
                <a:latin typeface="Consolas" pitchFamily="34" charset="0"/>
                <a:ea typeface="Consolas" pitchFamily="34" charset="-122"/>
                <a:cs typeface="Consolas" pitchFamily="34" charset="-120"/>
              </a:rPr>
              <a:t>/post-test</a:t>
            </a:r>
            <a:endParaRPr lang="en-US" sz="1150" dirty="0"/>
          </a:p>
        </p:txBody>
      </p:sp>
      <p:sp>
        <p:nvSpPr>
          <p:cNvPr id="8" name="Text 5"/>
          <p:cNvSpPr txBox="1"/>
          <p:nvPr/>
        </p:nvSpPr>
        <p:spPr>
          <a:xfrm>
            <a:off x="3108960" y="2011680"/>
            <a:ext cx="8321040" cy="950976"/>
          </a:xfrm>
          <a:prstGeom prst="rect">
            <a:avLst/>
          </a:prstGeom>
          <a:noFill/>
          <a:ln/>
        </p:spPr>
        <p:txBody>
          <a:bodyPr wrap="square" lIns="0" tIns="0" rIns="0" bIns="0" rtlCol="0" anchor="ctr"/>
          <a:lstStyle/>
          <a:p>
            <a:pPr indent="0" marL="0">
              <a:buNone/>
            </a:pPr>
            <a:r>
              <a:rPr lang="en-US" sz="1300" dirty="0">
                <a:solidFill>
                  <a:srgbClr val="E4E1ED"/>
                </a:solidFill>
                <a:latin typeface="Calibri" pitchFamily="34" charset="0"/>
                <a:ea typeface="Calibri" pitchFamily="34" charset="-122"/>
                <a:cs typeface="Calibri" pitchFamily="34" charset="-120"/>
              </a:rPr>
              <a:t>Placement's twin on form B, so fifteen of sixteen items differ. It never updates the learner model, and logs the model's current estimate against every answer, which makes it a held-out check that practice answers structurally cannot give you.</a:t>
            </a:r>
            <a:endParaRPr lang="en-US" sz="1300" dirty="0"/>
          </a:p>
        </p:txBody>
      </p:sp>
      <p:sp>
        <p:nvSpPr>
          <p:cNvPr id="9" name="Shape 6"/>
          <p:cNvSpPr/>
          <p:nvPr/>
        </p:nvSpPr>
        <p:spPr>
          <a:xfrm>
            <a:off x="640080" y="3136392"/>
            <a:ext cx="11064240" cy="1042416"/>
          </a:xfrm>
          <a:prstGeom prst="roundRect">
            <a:avLst>
              <a:gd name="adj" fmla="val 7018"/>
            </a:avLst>
          </a:prstGeom>
          <a:solidFill>
            <a:srgbClr val="14141E"/>
          </a:solidFill>
          <a:ln w="12700">
            <a:solidFill>
              <a:srgbClr val="1C1C29"/>
            </a:solidFill>
            <a:prstDash val="solid"/>
          </a:ln>
        </p:spPr>
      </p:sp>
      <p:sp>
        <p:nvSpPr>
          <p:cNvPr id="10" name="Text 7"/>
          <p:cNvSpPr txBox="1"/>
          <p:nvPr/>
        </p:nvSpPr>
        <p:spPr>
          <a:xfrm>
            <a:off x="960120" y="3209544"/>
            <a:ext cx="1920240" cy="365760"/>
          </a:xfrm>
          <a:prstGeom prst="rect">
            <a:avLst/>
          </a:prstGeom>
          <a:noFill/>
          <a:ln/>
        </p:spPr>
        <p:txBody>
          <a:bodyPr wrap="square" lIns="0" tIns="0" rIns="0" bIns="0" rtlCol="0" anchor="ctr"/>
          <a:lstStyle/>
          <a:p>
            <a:pPr indent="0" marL="0">
              <a:buNone/>
            </a:pPr>
            <a:r>
              <a:rPr lang="en-US" sz="1700" b="1" dirty="0">
                <a:solidFill>
                  <a:srgbClr val="44E2CD"/>
                </a:solidFill>
                <a:latin typeface="Calibri" pitchFamily="34" charset="0"/>
                <a:ea typeface="Calibri" pitchFamily="34" charset="-122"/>
                <a:cs typeface="Calibri" pitchFamily="34" charset="-120"/>
              </a:rPr>
              <a:t>Questionnaire</a:t>
            </a:r>
            <a:endParaRPr lang="en-US" sz="1700" dirty="0"/>
          </a:p>
        </p:txBody>
      </p:sp>
      <p:sp>
        <p:nvSpPr>
          <p:cNvPr id="11" name="Text 8"/>
          <p:cNvSpPr txBox="1"/>
          <p:nvPr/>
        </p:nvSpPr>
        <p:spPr>
          <a:xfrm>
            <a:off x="960120" y="3611880"/>
            <a:ext cx="2011680" cy="320040"/>
          </a:xfrm>
          <a:prstGeom prst="rect">
            <a:avLst/>
          </a:prstGeom>
          <a:noFill/>
          <a:ln/>
        </p:spPr>
        <p:txBody>
          <a:bodyPr wrap="square" lIns="0" tIns="0" rIns="0" bIns="0" rtlCol="0" anchor="ctr"/>
          <a:lstStyle/>
          <a:p>
            <a:pPr indent="0" marL="0">
              <a:buNone/>
            </a:pPr>
            <a:r>
              <a:rPr lang="en-US" sz="1150" dirty="0">
                <a:solidFill>
                  <a:srgbClr val="9A9AB4"/>
                </a:solidFill>
                <a:latin typeface="Consolas" pitchFamily="34" charset="0"/>
                <a:ea typeface="Consolas" pitchFamily="34" charset="-122"/>
                <a:cs typeface="Consolas" pitchFamily="34" charset="-120"/>
              </a:rPr>
              <a:t>/survey</a:t>
            </a:r>
            <a:endParaRPr lang="en-US" sz="1150" dirty="0"/>
          </a:p>
        </p:txBody>
      </p:sp>
      <p:sp>
        <p:nvSpPr>
          <p:cNvPr id="12" name="Text 9"/>
          <p:cNvSpPr txBox="1"/>
          <p:nvPr/>
        </p:nvSpPr>
        <p:spPr>
          <a:xfrm>
            <a:off x="3108960" y="3182112"/>
            <a:ext cx="8321040" cy="950976"/>
          </a:xfrm>
          <a:prstGeom prst="rect">
            <a:avLst/>
          </a:prstGeom>
          <a:noFill/>
          <a:ln/>
        </p:spPr>
        <p:txBody>
          <a:bodyPr wrap="square" lIns="0" tIns="0" rIns="0" bIns="0" rtlCol="0" anchor="ctr"/>
          <a:lstStyle/>
          <a:p>
            <a:pPr indent="0" marL="0">
              <a:buNone/>
            </a:pPr>
            <a:r>
              <a:rPr lang="en-US" sz="1300" dirty="0">
                <a:solidFill>
                  <a:srgbClr val="E4E1ED"/>
                </a:solidFill>
                <a:latin typeface="Calibri" pitchFamily="34" charset="0"/>
                <a:ea typeface="Calibri" pitchFamily="34" charset="-122"/>
                <a:cs typeface="Calibri" pitchFamily="34" charset="-120"/>
              </a:rPr>
              <a:t>The ten System Usability Scale statements against the published average of 68, plus three open questions. Owner-only in the security rules, with a test proving a stranger is denied.</a:t>
            </a:r>
            <a:endParaRPr lang="en-US" sz="1300" dirty="0"/>
          </a:p>
        </p:txBody>
      </p:sp>
      <p:sp>
        <p:nvSpPr>
          <p:cNvPr id="13" name="Shape 10"/>
          <p:cNvSpPr/>
          <p:nvPr/>
        </p:nvSpPr>
        <p:spPr>
          <a:xfrm>
            <a:off x="640080" y="4306824"/>
            <a:ext cx="11064240" cy="1042416"/>
          </a:xfrm>
          <a:prstGeom prst="roundRect">
            <a:avLst>
              <a:gd name="adj" fmla="val 7018"/>
            </a:avLst>
          </a:prstGeom>
          <a:solidFill>
            <a:srgbClr val="14141E"/>
          </a:solidFill>
          <a:ln w="12700">
            <a:solidFill>
              <a:srgbClr val="1C1C29"/>
            </a:solidFill>
            <a:prstDash val="solid"/>
          </a:ln>
        </p:spPr>
      </p:sp>
      <p:sp>
        <p:nvSpPr>
          <p:cNvPr id="14" name="Text 11"/>
          <p:cNvSpPr txBox="1"/>
          <p:nvPr/>
        </p:nvSpPr>
        <p:spPr>
          <a:xfrm>
            <a:off x="960120" y="4379976"/>
            <a:ext cx="1920240" cy="365760"/>
          </a:xfrm>
          <a:prstGeom prst="rect">
            <a:avLst/>
          </a:prstGeom>
          <a:noFill/>
          <a:ln/>
        </p:spPr>
        <p:txBody>
          <a:bodyPr wrap="square" lIns="0" tIns="0" rIns="0" bIns="0" rtlCol="0" anchor="ctr"/>
          <a:lstStyle/>
          <a:p>
            <a:pPr indent="0" marL="0">
              <a:buNone/>
            </a:pPr>
            <a:r>
              <a:rPr lang="en-US" sz="1700" b="1" dirty="0">
                <a:solidFill>
                  <a:srgbClr val="44E2CD"/>
                </a:solidFill>
                <a:latin typeface="Calibri" pitchFamily="34" charset="0"/>
                <a:ea typeface="Calibri" pitchFamily="34" charset="-122"/>
                <a:cs typeface="Calibri" pitchFamily="34" charset="-120"/>
              </a:rPr>
              <a:t>Analysis</a:t>
            </a:r>
            <a:endParaRPr lang="en-US" sz="1700" dirty="0"/>
          </a:p>
        </p:txBody>
      </p:sp>
      <p:sp>
        <p:nvSpPr>
          <p:cNvPr id="15" name="Text 12"/>
          <p:cNvSpPr txBox="1"/>
          <p:nvPr/>
        </p:nvSpPr>
        <p:spPr>
          <a:xfrm>
            <a:off x="960120" y="4782312"/>
            <a:ext cx="2011680" cy="320040"/>
          </a:xfrm>
          <a:prstGeom prst="rect">
            <a:avLst/>
          </a:prstGeom>
          <a:noFill/>
          <a:ln/>
        </p:spPr>
        <p:txBody>
          <a:bodyPr wrap="square" lIns="0" tIns="0" rIns="0" bIns="0" rtlCol="0" anchor="ctr"/>
          <a:lstStyle/>
          <a:p>
            <a:pPr indent="0" marL="0">
              <a:buNone/>
            </a:pPr>
            <a:r>
              <a:rPr lang="en-US" sz="1150" dirty="0">
                <a:solidFill>
                  <a:srgbClr val="9A9AB4"/>
                </a:solidFill>
                <a:latin typeface="Consolas" pitchFamily="34" charset="0"/>
                <a:ea typeface="Consolas" pitchFamily="34" charset="-122"/>
                <a:cs typeface="Consolas" pitchFamily="34" charset="-120"/>
              </a:rPr>
              <a:t>scripts/analyse.ts</a:t>
            </a:r>
            <a:endParaRPr lang="en-US" sz="1150" dirty="0"/>
          </a:p>
        </p:txBody>
      </p:sp>
      <p:sp>
        <p:nvSpPr>
          <p:cNvPr id="16" name="Text 13"/>
          <p:cNvSpPr txBox="1"/>
          <p:nvPr/>
        </p:nvSpPr>
        <p:spPr>
          <a:xfrm>
            <a:off x="3108960" y="4352544"/>
            <a:ext cx="8321040" cy="950976"/>
          </a:xfrm>
          <a:prstGeom prst="rect">
            <a:avLst/>
          </a:prstGeom>
          <a:noFill/>
          <a:ln/>
        </p:spPr>
        <p:txBody>
          <a:bodyPr wrap="square" lIns="0" tIns="0" rIns="0" bIns="0" rtlCol="0" anchor="ctr"/>
          <a:lstStyle/>
          <a:p>
            <a:pPr indent="0" marL="0">
              <a:buNone/>
            </a:pPr>
            <a:r>
              <a:rPr lang="en-US" sz="1300" dirty="0">
                <a:solidFill>
                  <a:srgbClr val="E4E1ED"/>
                </a:solidFill>
                <a:latin typeface="Calibri" pitchFamily="34" charset="0"/>
                <a:ea typeface="Calibri" pitchFamily="34" charset="-122"/>
                <a:cs typeface="Calibri" pitchFamily="34" charset="-120"/>
              </a:rPr>
              <a:t>Reads the database and writes the results document. Per-learner placement, post-test, Hake's normalised gain, time on task, modules mastered, usability score. Pseudonymised, test accounts dropped.</a:t>
            </a:r>
            <a:endParaRPr lang="en-US" sz="1300" dirty="0"/>
          </a:p>
        </p:txBody>
      </p:sp>
      <p:sp>
        <p:nvSpPr>
          <p:cNvPr id="17" name="Shape 14"/>
          <p:cNvSpPr/>
          <p:nvPr/>
        </p:nvSpPr>
        <p:spPr>
          <a:xfrm>
            <a:off x="640080" y="5486400"/>
            <a:ext cx="11064240" cy="777240"/>
          </a:xfrm>
          <a:prstGeom prst="roundRect">
            <a:avLst>
              <a:gd name="adj" fmla="val 8235"/>
            </a:avLst>
          </a:prstGeom>
          <a:solidFill>
            <a:srgbClr val="1C1C29"/>
          </a:solidFill>
          <a:ln w="12700">
            <a:solidFill>
              <a:srgbClr val="2DD4BF"/>
            </a:solidFill>
            <a:prstDash val="solid"/>
          </a:ln>
        </p:spPr>
      </p:sp>
      <p:sp>
        <p:nvSpPr>
          <p:cNvPr id="18" name="Text 15"/>
          <p:cNvSpPr txBox="1"/>
          <p:nvPr/>
        </p:nvSpPr>
        <p:spPr>
          <a:xfrm>
            <a:off x="960120" y="5486400"/>
            <a:ext cx="10515600" cy="777240"/>
          </a:xfrm>
          <a:prstGeom prst="rect">
            <a:avLst/>
          </a:prstGeom>
          <a:noFill/>
          <a:ln/>
        </p:spPr>
        <p:txBody>
          <a:bodyPr wrap="square" lIns="0" tIns="0" rIns="0" bIns="0" rtlCol="0" anchor="ctr"/>
          <a:lstStyle/>
          <a:p>
            <a:pPr indent="0" marL="0">
              <a:buNone/>
            </a:pPr>
            <a:r>
              <a:rPr lang="en-US" sz="1450" dirty="0">
                <a:solidFill>
                  <a:srgbClr val="E4E1ED"/>
                </a:solidFill>
                <a:latin typeface="Calibri" pitchFamily="34" charset="0"/>
                <a:ea typeface="Calibri" pitchFamily="34" charset="-122"/>
                <a:cs typeface="Calibri" pitchFamily="34" charset="-120"/>
              </a:rPr>
              <a:t>It runs clean against the empty live database and reports n = 0 rather than falling over. So the limitation is not that I could not build the study. It is that I have not recruited anyone yet.</a:t>
            </a:r>
            <a:endParaRPr lang="en-US" sz="1450" dirty="0"/>
          </a:p>
        </p:txBody>
      </p:sp>
      <p:sp>
        <p:nvSpPr>
          <p:cNvPr id="19" name="Text 16"/>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20" name="Text 17"/>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What the project contributes</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Each stated at the strength the evidence supports</a:t>
            </a:r>
            <a:endParaRPr lang="en-US" sz="1700" dirty="0"/>
          </a:p>
        </p:txBody>
      </p:sp>
      <p:sp>
        <p:nvSpPr>
          <p:cNvPr id="5" name="Shape 2"/>
          <p:cNvSpPr/>
          <p:nvPr/>
        </p:nvSpPr>
        <p:spPr>
          <a:xfrm>
            <a:off x="640080" y="1965960"/>
            <a:ext cx="5394960" cy="1828800"/>
          </a:xfrm>
          <a:prstGeom prst="roundRect">
            <a:avLst>
              <a:gd name="adj" fmla="val 4000"/>
            </a:avLst>
          </a:prstGeom>
          <a:solidFill>
            <a:srgbClr val="14141E"/>
          </a:solidFill>
          <a:ln w="12700">
            <a:solidFill>
              <a:srgbClr val="1C1C29"/>
            </a:solidFill>
            <a:prstDash val="solid"/>
          </a:ln>
        </p:spPr>
      </p:sp>
      <p:sp>
        <p:nvSpPr>
          <p:cNvPr id="6" name="Shape 3"/>
          <p:cNvSpPr/>
          <p:nvPr/>
        </p:nvSpPr>
        <p:spPr>
          <a:xfrm>
            <a:off x="914400" y="2221992"/>
            <a:ext cx="457200" cy="457200"/>
          </a:xfrm>
          <a:prstGeom prst="ellipse">
            <a:avLst/>
          </a:prstGeom>
          <a:solidFill>
            <a:srgbClr val="2DD4BF"/>
          </a:solidFill>
          <a:ln/>
        </p:spPr>
      </p:sp>
      <p:sp>
        <p:nvSpPr>
          <p:cNvPr id="7" name="Text 4"/>
          <p:cNvSpPr txBox="1"/>
          <p:nvPr/>
        </p:nvSpPr>
        <p:spPr>
          <a:xfrm>
            <a:off x="914400" y="2221992"/>
            <a:ext cx="457200" cy="457200"/>
          </a:xfrm>
          <a:prstGeom prst="rect">
            <a:avLst/>
          </a:prstGeom>
          <a:noFill/>
          <a:ln/>
        </p:spPr>
        <p:txBody>
          <a:bodyPr wrap="square" lIns="0" tIns="0" rIns="0" bIns="0" rtlCol="0" anchor="ctr"/>
          <a:lstStyle/>
          <a:p>
            <a:pPr algn="ctr" indent="0" marL="0">
              <a:buNone/>
            </a:pPr>
            <a:r>
              <a:rPr lang="en-US" sz="1700" b="1" dirty="0">
                <a:solidFill>
                  <a:srgbClr val="050507"/>
                </a:solidFill>
                <a:latin typeface="Calibri" pitchFamily="34" charset="0"/>
                <a:ea typeface="Calibri" pitchFamily="34" charset="-122"/>
                <a:cs typeface="Calibri" pitchFamily="34" charset="-120"/>
              </a:rPr>
              <a:t>1</a:t>
            </a:r>
            <a:endParaRPr lang="en-US" sz="1700" dirty="0"/>
          </a:p>
        </p:txBody>
      </p:sp>
      <p:sp>
        <p:nvSpPr>
          <p:cNvPr id="8" name="Text 5"/>
          <p:cNvSpPr txBox="1"/>
          <p:nvPr/>
        </p:nvSpPr>
        <p:spPr>
          <a:xfrm>
            <a:off x="1508760" y="2221992"/>
            <a:ext cx="4206240" cy="457200"/>
          </a:xfrm>
          <a:prstGeom prst="rect">
            <a:avLst/>
          </a:prstGeom>
          <a:noFill/>
          <a:ln/>
        </p:spPr>
        <p:txBody>
          <a:bodyPr wrap="square" lIns="0" tIns="0" rIns="0" bIns="0" rtlCol="0" anchor="ctr"/>
          <a:lstStyle/>
          <a:p>
            <a:pPr indent="0" marL="0">
              <a:buNone/>
            </a:pPr>
            <a:r>
              <a:rPr lang="en-US" sz="1900" b="1" dirty="0">
                <a:solidFill>
                  <a:srgbClr val="E4E1ED"/>
                </a:solidFill>
                <a:latin typeface="Calibri" pitchFamily="34" charset="0"/>
                <a:ea typeface="Calibri" pitchFamily="34" charset="-122"/>
                <a:cs typeface="Calibri" pitchFamily="34" charset="-120"/>
              </a:rPr>
              <a:t>The application</a:t>
            </a:r>
            <a:endParaRPr lang="en-US" sz="1900" dirty="0"/>
          </a:p>
        </p:txBody>
      </p:sp>
      <p:sp>
        <p:nvSpPr>
          <p:cNvPr id="9" name="Text 6"/>
          <p:cNvSpPr txBox="1"/>
          <p:nvPr/>
        </p:nvSpPr>
        <p:spPr>
          <a:xfrm>
            <a:off x="914400" y="2807208"/>
            <a:ext cx="4846320" cy="868680"/>
          </a:xfrm>
          <a:prstGeom prst="rect">
            <a:avLst/>
          </a:prstGeom>
          <a:noFill/>
          <a:ln/>
        </p:spPr>
        <p:txBody>
          <a:bodyPr wrap="square" lIns="0" tIns="0" rIns="0" bIns="0" rtlCol="0" anchor="ctr"/>
          <a:lstStyle/>
          <a:p>
            <a:pPr indent="0" marL="0">
              <a:buNone/>
            </a:pPr>
            <a:r>
              <a:rPr lang="en-US" sz="1300" dirty="0">
                <a:solidFill>
                  <a:srgbClr val="9A9AB4"/>
                </a:solidFill>
                <a:latin typeface="Calibri" pitchFamily="34" charset="0"/>
                <a:ea typeface="Calibri" pitchFamily="34" charset="-122"/>
                <a:cs typeface="Calibri" pitchFamily="34" charset="-120"/>
              </a:rPr>
              <a:t>An existence proof that a contested, ill-structured practitioner domain decomposes into components a four-parameter model can trace without misbehaving.</a:t>
            </a:r>
            <a:endParaRPr lang="en-US" sz="1300" dirty="0"/>
          </a:p>
        </p:txBody>
      </p:sp>
      <p:sp>
        <p:nvSpPr>
          <p:cNvPr id="10" name="Shape 7"/>
          <p:cNvSpPr/>
          <p:nvPr/>
        </p:nvSpPr>
        <p:spPr>
          <a:xfrm>
            <a:off x="6309360" y="1965960"/>
            <a:ext cx="5394960" cy="1828800"/>
          </a:xfrm>
          <a:prstGeom prst="roundRect">
            <a:avLst>
              <a:gd name="adj" fmla="val 4000"/>
            </a:avLst>
          </a:prstGeom>
          <a:solidFill>
            <a:srgbClr val="14141E"/>
          </a:solidFill>
          <a:ln w="12700">
            <a:solidFill>
              <a:srgbClr val="1C1C29"/>
            </a:solidFill>
            <a:prstDash val="solid"/>
          </a:ln>
        </p:spPr>
      </p:sp>
      <p:sp>
        <p:nvSpPr>
          <p:cNvPr id="11" name="Shape 8"/>
          <p:cNvSpPr/>
          <p:nvPr/>
        </p:nvSpPr>
        <p:spPr>
          <a:xfrm>
            <a:off x="6583680" y="2221992"/>
            <a:ext cx="457200" cy="457200"/>
          </a:xfrm>
          <a:prstGeom prst="ellipse">
            <a:avLst/>
          </a:prstGeom>
          <a:solidFill>
            <a:srgbClr val="2DD4BF"/>
          </a:solidFill>
          <a:ln/>
        </p:spPr>
      </p:sp>
      <p:sp>
        <p:nvSpPr>
          <p:cNvPr id="12" name="Text 9"/>
          <p:cNvSpPr txBox="1"/>
          <p:nvPr/>
        </p:nvSpPr>
        <p:spPr>
          <a:xfrm>
            <a:off x="6583680" y="2221992"/>
            <a:ext cx="457200" cy="457200"/>
          </a:xfrm>
          <a:prstGeom prst="rect">
            <a:avLst/>
          </a:prstGeom>
          <a:noFill/>
          <a:ln/>
        </p:spPr>
        <p:txBody>
          <a:bodyPr wrap="square" lIns="0" tIns="0" rIns="0" bIns="0" rtlCol="0" anchor="ctr"/>
          <a:lstStyle/>
          <a:p>
            <a:pPr algn="ctr" indent="0" marL="0">
              <a:buNone/>
            </a:pPr>
            <a:r>
              <a:rPr lang="en-US" sz="1700" b="1" dirty="0">
                <a:solidFill>
                  <a:srgbClr val="050507"/>
                </a:solidFill>
                <a:latin typeface="Calibri" pitchFamily="34" charset="0"/>
                <a:ea typeface="Calibri" pitchFamily="34" charset="-122"/>
                <a:cs typeface="Calibri" pitchFamily="34" charset="-120"/>
              </a:rPr>
              <a:t>2</a:t>
            </a:r>
            <a:endParaRPr lang="en-US" sz="1700" dirty="0"/>
          </a:p>
        </p:txBody>
      </p:sp>
      <p:sp>
        <p:nvSpPr>
          <p:cNvPr id="13" name="Text 10"/>
          <p:cNvSpPr txBox="1"/>
          <p:nvPr/>
        </p:nvSpPr>
        <p:spPr>
          <a:xfrm>
            <a:off x="7178040" y="2221992"/>
            <a:ext cx="4206240" cy="457200"/>
          </a:xfrm>
          <a:prstGeom prst="rect">
            <a:avLst/>
          </a:prstGeom>
          <a:noFill/>
          <a:ln/>
        </p:spPr>
        <p:txBody>
          <a:bodyPr wrap="square" lIns="0" tIns="0" rIns="0" bIns="0" rtlCol="0" anchor="ctr"/>
          <a:lstStyle/>
          <a:p>
            <a:pPr indent="0" marL="0">
              <a:buNone/>
            </a:pPr>
            <a:r>
              <a:rPr lang="en-US" sz="1900" b="1" dirty="0">
                <a:solidFill>
                  <a:srgbClr val="E4E1ED"/>
                </a:solidFill>
                <a:latin typeface="Calibri" pitchFamily="34" charset="0"/>
                <a:ea typeface="Calibri" pitchFamily="34" charset="-122"/>
                <a:cs typeface="Calibri" pitchFamily="34" charset="-120"/>
              </a:rPr>
              <a:t>A design pattern</a:t>
            </a:r>
            <a:endParaRPr lang="en-US" sz="1900" dirty="0"/>
          </a:p>
        </p:txBody>
      </p:sp>
      <p:sp>
        <p:nvSpPr>
          <p:cNvPr id="14" name="Text 11"/>
          <p:cNvSpPr txBox="1"/>
          <p:nvPr/>
        </p:nvSpPr>
        <p:spPr>
          <a:xfrm>
            <a:off x="6583680" y="2807208"/>
            <a:ext cx="4846320" cy="868680"/>
          </a:xfrm>
          <a:prstGeom prst="rect">
            <a:avLst/>
          </a:prstGeom>
          <a:noFill/>
          <a:ln/>
        </p:spPr>
        <p:txBody>
          <a:bodyPr wrap="square" lIns="0" tIns="0" rIns="0" bIns="0" rtlCol="0" anchor="ctr"/>
          <a:lstStyle/>
          <a:p>
            <a:pPr indent="0" marL="0">
              <a:buNone/>
            </a:pPr>
            <a:r>
              <a:rPr lang="en-US" sz="1300" dirty="0">
                <a:solidFill>
                  <a:srgbClr val="9A9AB4"/>
                </a:solidFill>
                <a:latin typeface="Calibri" pitchFamily="34" charset="0"/>
                <a:ea typeface="Calibri" pitchFamily="34" charset="-122"/>
                <a:cs typeface="Calibri" pitchFamily="34" charset="-120"/>
              </a:rPr>
              <a:t>An explanation that renders the router's real decision object rather than a reconstruction, so it is structurally incapable of drifting from the behaviour.</a:t>
            </a:r>
            <a:endParaRPr lang="en-US" sz="1300" dirty="0"/>
          </a:p>
        </p:txBody>
      </p:sp>
      <p:sp>
        <p:nvSpPr>
          <p:cNvPr id="15" name="Shape 12"/>
          <p:cNvSpPr/>
          <p:nvPr/>
        </p:nvSpPr>
        <p:spPr>
          <a:xfrm>
            <a:off x="640080" y="4023360"/>
            <a:ext cx="5394960" cy="1828800"/>
          </a:xfrm>
          <a:prstGeom prst="roundRect">
            <a:avLst>
              <a:gd name="adj" fmla="val 4000"/>
            </a:avLst>
          </a:prstGeom>
          <a:solidFill>
            <a:srgbClr val="14141E"/>
          </a:solidFill>
          <a:ln w="12700">
            <a:solidFill>
              <a:srgbClr val="1C1C29"/>
            </a:solidFill>
            <a:prstDash val="solid"/>
          </a:ln>
        </p:spPr>
      </p:sp>
      <p:sp>
        <p:nvSpPr>
          <p:cNvPr id="16" name="Shape 13"/>
          <p:cNvSpPr/>
          <p:nvPr/>
        </p:nvSpPr>
        <p:spPr>
          <a:xfrm>
            <a:off x="914400" y="4279392"/>
            <a:ext cx="457200" cy="457200"/>
          </a:xfrm>
          <a:prstGeom prst="ellipse">
            <a:avLst/>
          </a:prstGeom>
          <a:solidFill>
            <a:srgbClr val="2DD4BF"/>
          </a:solidFill>
          <a:ln/>
        </p:spPr>
      </p:sp>
      <p:sp>
        <p:nvSpPr>
          <p:cNvPr id="17" name="Text 14"/>
          <p:cNvSpPr txBox="1"/>
          <p:nvPr/>
        </p:nvSpPr>
        <p:spPr>
          <a:xfrm>
            <a:off x="914400" y="4279392"/>
            <a:ext cx="457200" cy="457200"/>
          </a:xfrm>
          <a:prstGeom prst="rect">
            <a:avLst/>
          </a:prstGeom>
          <a:noFill/>
          <a:ln/>
        </p:spPr>
        <p:txBody>
          <a:bodyPr wrap="square" lIns="0" tIns="0" rIns="0" bIns="0" rtlCol="0" anchor="ctr"/>
          <a:lstStyle/>
          <a:p>
            <a:pPr algn="ctr" indent="0" marL="0">
              <a:buNone/>
            </a:pPr>
            <a:r>
              <a:rPr lang="en-US" sz="1700" b="1" dirty="0">
                <a:solidFill>
                  <a:srgbClr val="050507"/>
                </a:solidFill>
                <a:latin typeface="Calibri" pitchFamily="34" charset="0"/>
                <a:ea typeface="Calibri" pitchFamily="34" charset="-122"/>
                <a:cs typeface="Calibri" pitchFamily="34" charset="-120"/>
              </a:rPr>
              <a:t>3</a:t>
            </a:r>
            <a:endParaRPr lang="en-US" sz="1700" dirty="0"/>
          </a:p>
        </p:txBody>
      </p:sp>
      <p:sp>
        <p:nvSpPr>
          <p:cNvPr id="18" name="Text 15"/>
          <p:cNvSpPr txBox="1"/>
          <p:nvPr/>
        </p:nvSpPr>
        <p:spPr>
          <a:xfrm>
            <a:off x="1508760" y="4279392"/>
            <a:ext cx="4206240" cy="457200"/>
          </a:xfrm>
          <a:prstGeom prst="rect">
            <a:avLst/>
          </a:prstGeom>
          <a:noFill/>
          <a:ln/>
        </p:spPr>
        <p:txBody>
          <a:bodyPr wrap="square" lIns="0" tIns="0" rIns="0" bIns="0" rtlCol="0" anchor="ctr"/>
          <a:lstStyle/>
          <a:p>
            <a:pPr indent="0" marL="0">
              <a:buNone/>
            </a:pPr>
            <a:r>
              <a:rPr lang="en-US" sz="1900" b="1" dirty="0">
                <a:solidFill>
                  <a:srgbClr val="E4E1ED"/>
                </a:solidFill>
                <a:latin typeface="Calibri" pitchFamily="34" charset="0"/>
                <a:ea typeface="Calibri" pitchFamily="34" charset="-122"/>
                <a:cs typeface="Calibri" pitchFamily="34" charset="-120"/>
              </a:rPr>
              <a:t>A method</a:t>
            </a:r>
            <a:endParaRPr lang="en-US" sz="1900" dirty="0"/>
          </a:p>
        </p:txBody>
      </p:sp>
      <p:sp>
        <p:nvSpPr>
          <p:cNvPr id="19" name="Text 16"/>
          <p:cNvSpPr txBox="1"/>
          <p:nvPr/>
        </p:nvSpPr>
        <p:spPr>
          <a:xfrm>
            <a:off x="914400" y="4864608"/>
            <a:ext cx="4846320" cy="868680"/>
          </a:xfrm>
          <a:prstGeom prst="rect">
            <a:avLst/>
          </a:prstGeom>
          <a:noFill/>
          <a:ln/>
        </p:spPr>
        <p:txBody>
          <a:bodyPr wrap="square" lIns="0" tIns="0" rIns="0" bIns="0" rtlCol="0" anchor="ctr"/>
          <a:lstStyle/>
          <a:p>
            <a:pPr indent="0" marL="0">
              <a:buNone/>
            </a:pPr>
            <a:r>
              <a:rPr lang="en-US" sz="1300" dirty="0">
                <a:solidFill>
                  <a:srgbClr val="9A9AB4"/>
                </a:solidFill>
                <a:latin typeface="Calibri" pitchFamily="34" charset="0"/>
                <a:ea typeface="Calibri" pitchFamily="34" charset="-122"/>
                <a:cs typeface="Calibri" pitchFamily="34" charset="-120"/>
              </a:rPr>
              <a:t>A way to answer whether adaptation is worth anything when you cannot recruit participants. The most transferable of the four.</a:t>
            </a:r>
            <a:endParaRPr lang="en-US" sz="1300" dirty="0"/>
          </a:p>
        </p:txBody>
      </p:sp>
      <p:sp>
        <p:nvSpPr>
          <p:cNvPr id="20" name="Shape 17"/>
          <p:cNvSpPr/>
          <p:nvPr/>
        </p:nvSpPr>
        <p:spPr>
          <a:xfrm>
            <a:off x="6309360" y="4023360"/>
            <a:ext cx="5394960" cy="1828800"/>
          </a:xfrm>
          <a:prstGeom prst="roundRect">
            <a:avLst>
              <a:gd name="adj" fmla="val 4000"/>
            </a:avLst>
          </a:prstGeom>
          <a:solidFill>
            <a:srgbClr val="14141E"/>
          </a:solidFill>
          <a:ln w="12700">
            <a:solidFill>
              <a:srgbClr val="1C1C29"/>
            </a:solidFill>
            <a:prstDash val="solid"/>
          </a:ln>
        </p:spPr>
      </p:sp>
      <p:sp>
        <p:nvSpPr>
          <p:cNvPr id="21" name="Shape 18"/>
          <p:cNvSpPr/>
          <p:nvPr/>
        </p:nvSpPr>
        <p:spPr>
          <a:xfrm>
            <a:off x="6583680" y="4279392"/>
            <a:ext cx="457200" cy="457200"/>
          </a:xfrm>
          <a:prstGeom prst="ellipse">
            <a:avLst/>
          </a:prstGeom>
          <a:solidFill>
            <a:srgbClr val="2DD4BF"/>
          </a:solidFill>
          <a:ln/>
        </p:spPr>
      </p:sp>
      <p:sp>
        <p:nvSpPr>
          <p:cNvPr id="22" name="Text 19"/>
          <p:cNvSpPr txBox="1"/>
          <p:nvPr/>
        </p:nvSpPr>
        <p:spPr>
          <a:xfrm>
            <a:off x="6583680" y="4279392"/>
            <a:ext cx="457200" cy="457200"/>
          </a:xfrm>
          <a:prstGeom prst="rect">
            <a:avLst/>
          </a:prstGeom>
          <a:noFill/>
          <a:ln/>
        </p:spPr>
        <p:txBody>
          <a:bodyPr wrap="square" lIns="0" tIns="0" rIns="0" bIns="0" rtlCol="0" anchor="ctr"/>
          <a:lstStyle/>
          <a:p>
            <a:pPr algn="ctr" indent="0" marL="0">
              <a:buNone/>
            </a:pPr>
            <a:r>
              <a:rPr lang="en-US" sz="1700" b="1" dirty="0">
                <a:solidFill>
                  <a:srgbClr val="050507"/>
                </a:solidFill>
                <a:latin typeface="Calibri" pitchFamily="34" charset="0"/>
                <a:ea typeface="Calibri" pitchFamily="34" charset="-122"/>
                <a:cs typeface="Calibri" pitchFamily="34" charset="-120"/>
              </a:rPr>
              <a:t>4</a:t>
            </a:r>
            <a:endParaRPr lang="en-US" sz="1700" dirty="0"/>
          </a:p>
        </p:txBody>
      </p:sp>
      <p:sp>
        <p:nvSpPr>
          <p:cNvPr id="23" name="Text 20"/>
          <p:cNvSpPr txBox="1"/>
          <p:nvPr/>
        </p:nvSpPr>
        <p:spPr>
          <a:xfrm>
            <a:off x="7178040" y="4279392"/>
            <a:ext cx="4206240" cy="457200"/>
          </a:xfrm>
          <a:prstGeom prst="rect">
            <a:avLst/>
          </a:prstGeom>
          <a:noFill/>
          <a:ln/>
        </p:spPr>
        <p:txBody>
          <a:bodyPr wrap="square" lIns="0" tIns="0" rIns="0" bIns="0" rtlCol="0" anchor="ctr"/>
          <a:lstStyle/>
          <a:p>
            <a:pPr indent="0" marL="0">
              <a:buNone/>
            </a:pPr>
            <a:r>
              <a:rPr lang="en-US" sz="1900" b="1" dirty="0">
                <a:solidFill>
                  <a:srgbClr val="E4E1ED"/>
                </a:solidFill>
                <a:latin typeface="Calibri" pitchFamily="34" charset="0"/>
                <a:ea typeface="Calibri" pitchFamily="34" charset="-122"/>
                <a:cs typeface="Calibri" pitchFamily="34" charset="-120"/>
              </a:rPr>
              <a:t>A practice</a:t>
            </a:r>
            <a:endParaRPr lang="en-US" sz="1900" dirty="0"/>
          </a:p>
        </p:txBody>
      </p:sp>
      <p:sp>
        <p:nvSpPr>
          <p:cNvPr id="24" name="Text 21"/>
          <p:cNvSpPr txBox="1"/>
          <p:nvPr/>
        </p:nvSpPr>
        <p:spPr>
          <a:xfrm>
            <a:off x="6583680" y="4864608"/>
            <a:ext cx="4846320" cy="868680"/>
          </a:xfrm>
          <a:prstGeom prst="rect">
            <a:avLst/>
          </a:prstGeom>
          <a:noFill/>
          <a:ln/>
        </p:spPr>
        <p:txBody>
          <a:bodyPr wrap="square" lIns="0" tIns="0" rIns="0" bIns="0" rtlCol="0" anchor="ctr"/>
          <a:lstStyle/>
          <a:p>
            <a:pPr indent="0" marL="0">
              <a:buNone/>
            </a:pPr>
            <a:r>
              <a:rPr lang="en-US" sz="1300" dirty="0">
                <a:solidFill>
                  <a:srgbClr val="9A9AB4"/>
                </a:solidFill>
                <a:latin typeface="Calibri" pitchFamily="34" charset="0"/>
                <a:ea typeface="Calibri" pitchFamily="34" charset="-122"/>
                <a:cs typeface="Calibri" pitchFamily="34" charset="-120"/>
              </a:rPr>
              <a:t>Reporting what went the wrong way. Fitting made the forecasts worse, the prior is barely identifiable, and the router over-calls mastery.</a:t>
            </a:r>
            <a:endParaRPr lang="en-US" sz="1300" dirty="0"/>
          </a:p>
        </p:txBody>
      </p:sp>
      <p:sp>
        <p:nvSpPr>
          <p:cNvPr id="25" name="Text 22"/>
          <p:cNvSpPr txBox="1"/>
          <p:nvPr/>
        </p:nvSpPr>
        <p:spPr>
          <a:xfrm>
            <a:off x="640080" y="6035040"/>
            <a:ext cx="11064240" cy="320040"/>
          </a:xfrm>
          <a:prstGeom prst="rect">
            <a:avLst/>
          </a:prstGeom>
          <a:noFill/>
          <a:ln/>
        </p:spPr>
        <p:txBody>
          <a:bodyPr wrap="square" lIns="0" tIns="0" rIns="0" bIns="0" rtlCol="0" anchor="ctr"/>
          <a:lstStyle/>
          <a:p>
            <a:pPr indent="0" marL="0">
              <a:buNone/>
            </a:pPr>
            <a:r>
              <a:rPr lang="en-US" sz="1250" i="1" dirty="0">
                <a:solidFill>
                  <a:srgbClr val="9A9AB4"/>
                </a:solidFill>
                <a:latin typeface="Calibri" pitchFamily="34" charset="0"/>
                <a:ea typeface="Calibri" pitchFamily="34" charset="-122"/>
                <a:cs typeface="Calibri" pitchFamily="34" charset="-120"/>
              </a:rPr>
              <a:t>Section 7.5 of the report states each of these with the evidence behind it, and Appendix J traces every design decision in chapters three to five back to its source.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What this does not show</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Stated before anyone has to ask</a:t>
            </a:r>
            <a:endParaRPr lang="en-US" sz="1700" dirty="0"/>
          </a:p>
        </p:txBody>
      </p:sp>
      <p:sp>
        <p:nvSpPr>
          <p:cNvPr id="5" name="Shape 2"/>
          <p:cNvSpPr/>
          <p:nvPr/>
        </p:nvSpPr>
        <p:spPr>
          <a:xfrm>
            <a:off x="640080" y="1965960"/>
            <a:ext cx="3520440" cy="1737360"/>
          </a:xfrm>
          <a:prstGeom prst="roundRect">
            <a:avLst>
              <a:gd name="adj" fmla="val 4211"/>
            </a:avLst>
          </a:prstGeom>
          <a:solidFill>
            <a:srgbClr val="14141E"/>
          </a:solidFill>
          <a:ln w="12700">
            <a:solidFill>
              <a:srgbClr val="1C1C29"/>
            </a:solidFill>
            <a:prstDash val="solid"/>
          </a:ln>
        </p:spPr>
      </p:sp>
      <p:sp>
        <p:nvSpPr>
          <p:cNvPr id="6" name="Text 3"/>
          <p:cNvSpPr txBox="1"/>
          <p:nvPr/>
        </p:nvSpPr>
        <p:spPr>
          <a:xfrm>
            <a:off x="896112" y="2167128"/>
            <a:ext cx="3017520" cy="502920"/>
          </a:xfrm>
          <a:prstGeom prst="rect">
            <a:avLst/>
          </a:prstGeom>
          <a:noFill/>
          <a:ln/>
        </p:spPr>
        <p:txBody>
          <a:bodyPr wrap="square" lIns="0" tIns="0" rIns="0" bIns="0" rtlCol="0" anchor="ctr"/>
          <a:lstStyle/>
          <a:p>
            <a:pPr indent="0" marL="0">
              <a:buNone/>
            </a:pPr>
            <a:r>
              <a:rPr lang="en-US" sz="1550" b="1" dirty="0">
                <a:solidFill>
                  <a:srgbClr val="F0B25C"/>
                </a:solidFill>
                <a:latin typeface="Calibri" pitchFamily="34" charset="0"/>
                <a:ea typeface="Calibri" pitchFamily="34" charset="-122"/>
                <a:cs typeface="Calibri" pitchFamily="34" charset="-120"/>
              </a:rPr>
              <a:t>No human learners</a:t>
            </a:r>
            <a:endParaRPr lang="en-US" sz="1550" dirty="0"/>
          </a:p>
        </p:txBody>
      </p:sp>
      <p:sp>
        <p:nvSpPr>
          <p:cNvPr id="7" name="Text 4"/>
          <p:cNvSpPr txBox="1"/>
          <p:nvPr/>
        </p:nvSpPr>
        <p:spPr>
          <a:xfrm>
            <a:off x="896112" y="2697480"/>
            <a:ext cx="3035808" cy="868680"/>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Everything demonstrated is about correctness, behaviour, calibration and policy efficiency. Nothing is about whether anyone learns.</a:t>
            </a:r>
            <a:endParaRPr lang="en-US" sz="1250" dirty="0"/>
          </a:p>
        </p:txBody>
      </p:sp>
      <p:sp>
        <p:nvSpPr>
          <p:cNvPr id="8" name="Shape 5"/>
          <p:cNvSpPr/>
          <p:nvPr/>
        </p:nvSpPr>
        <p:spPr>
          <a:xfrm>
            <a:off x="4434840" y="1965960"/>
            <a:ext cx="3520440" cy="1737360"/>
          </a:xfrm>
          <a:prstGeom prst="roundRect">
            <a:avLst>
              <a:gd name="adj" fmla="val 4211"/>
            </a:avLst>
          </a:prstGeom>
          <a:solidFill>
            <a:srgbClr val="14141E"/>
          </a:solidFill>
          <a:ln w="12700">
            <a:solidFill>
              <a:srgbClr val="1C1C29"/>
            </a:solidFill>
            <a:prstDash val="solid"/>
          </a:ln>
        </p:spPr>
      </p:sp>
      <p:sp>
        <p:nvSpPr>
          <p:cNvPr id="9" name="Text 6"/>
          <p:cNvSpPr txBox="1"/>
          <p:nvPr/>
        </p:nvSpPr>
        <p:spPr>
          <a:xfrm>
            <a:off x="4690872" y="2167128"/>
            <a:ext cx="3017520" cy="502920"/>
          </a:xfrm>
          <a:prstGeom prst="rect">
            <a:avLst/>
          </a:prstGeom>
          <a:noFill/>
          <a:ln/>
        </p:spPr>
        <p:txBody>
          <a:bodyPr wrap="square" lIns="0" tIns="0" rIns="0" bIns="0" rtlCol="0" anchor="ctr"/>
          <a:lstStyle/>
          <a:p>
            <a:pPr indent="0" marL="0">
              <a:buNone/>
            </a:pPr>
            <a:r>
              <a:rPr lang="en-US" sz="1550" b="1" dirty="0">
                <a:solidFill>
                  <a:srgbClr val="F0B25C"/>
                </a:solidFill>
                <a:latin typeface="Calibri" pitchFamily="34" charset="0"/>
                <a:ea typeface="Calibri" pitchFamily="34" charset="-122"/>
                <a:cs typeface="Calibri" pitchFamily="34" charset="-120"/>
              </a:rPr>
              <a:t>The model evidence is simulated</a:t>
            </a:r>
            <a:endParaRPr lang="en-US" sz="1550" dirty="0"/>
          </a:p>
        </p:txBody>
      </p:sp>
      <p:sp>
        <p:nvSpPr>
          <p:cNvPr id="10" name="Text 7"/>
          <p:cNvSpPr txBox="1"/>
          <p:nvPr/>
        </p:nvSpPr>
        <p:spPr>
          <a:xfrm>
            <a:off x="4690872" y="2697480"/>
            <a:ext cx="3035808" cy="868680"/>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And the simulated learners share the engine's guess and slip values, so it tests wrong priors rather than the emission model itself.</a:t>
            </a:r>
            <a:endParaRPr lang="en-US" sz="1250" dirty="0"/>
          </a:p>
        </p:txBody>
      </p:sp>
      <p:sp>
        <p:nvSpPr>
          <p:cNvPr id="11" name="Shape 8"/>
          <p:cNvSpPr/>
          <p:nvPr/>
        </p:nvSpPr>
        <p:spPr>
          <a:xfrm>
            <a:off x="8229600" y="1965960"/>
            <a:ext cx="3520440" cy="1737360"/>
          </a:xfrm>
          <a:prstGeom prst="roundRect">
            <a:avLst>
              <a:gd name="adj" fmla="val 4211"/>
            </a:avLst>
          </a:prstGeom>
          <a:solidFill>
            <a:srgbClr val="14141E"/>
          </a:solidFill>
          <a:ln w="12700">
            <a:solidFill>
              <a:srgbClr val="1C1C29"/>
            </a:solidFill>
            <a:prstDash val="solid"/>
          </a:ln>
        </p:spPr>
      </p:sp>
      <p:sp>
        <p:nvSpPr>
          <p:cNvPr id="12" name="Text 9"/>
          <p:cNvSpPr txBox="1"/>
          <p:nvPr/>
        </p:nvSpPr>
        <p:spPr>
          <a:xfrm>
            <a:off x="8485632" y="2167128"/>
            <a:ext cx="3017520" cy="502920"/>
          </a:xfrm>
          <a:prstGeom prst="rect">
            <a:avLst/>
          </a:prstGeom>
          <a:noFill/>
          <a:ln/>
        </p:spPr>
        <p:txBody>
          <a:bodyPr wrap="square" lIns="0" tIns="0" rIns="0" bIns="0" rtlCol="0" anchor="ctr"/>
          <a:lstStyle/>
          <a:p>
            <a:pPr indent="0" marL="0">
              <a:buNone/>
            </a:pPr>
            <a:r>
              <a:rPr lang="en-US" sz="1550" b="1" dirty="0">
                <a:solidFill>
                  <a:srgbClr val="F0B25C"/>
                </a:solidFill>
                <a:latin typeface="Calibri" pitchFamily="34" charset="0"/>
                <a:ea typeface="Calibri" pitchFamily="34" charset="-122"/>
                <a:cs typeface="Calibri" pitchFamily="34" charset="-120"/>
              </a:rPr>
              <a:t>Parameters are defaults</a:t>
            </a:r>
            <a:endParaRPr lang="en-US" sz="1550" dirty="0"/>
          </a:p>
        </p:txBody>
      </p:sp>
      <p:sp>
        <p:nvSpPr>
          <p:cNvPr id="13" name="Text 10"/>
          <p:cNvSpPr txBox="1"/>
          <p:nvPr/>
        </p:nvSpPr>
        <p:spPr>
          <a:xfrm>
            <a:off x="8485632" y="2697480"/>
            <a:ext cx="3035808" cy="868680"/>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Justified by the fitting result, but it is a finding about this data volume rather than a principle.</a:t>
            </a:r>
            <a:endParaRPr lang="en-US" sz="1250" dirty="0"/>
          </a:p>
        </p:txBody>
      </p:sp>
      <p:sp>
        <p:nvSpPr>
          <p:cNvPr id="14" name="Shape 11"/>
          <p:cNvSpPr/>
          <p:nvPr/>
        </p:nvSpPr>
        <p:spPr>
          <a:xfrm>
            <a:off x="640080" y="3931920"/>
            <a:ext cx="3520440" cy="1737360"/>
          </a:xfrm>
          <a:prstGeom prst="roundRect">
            <a:avLst>
              <a:gd name="adj" fmla="val 4211"/>
            </a:avLst>
          </a:prstGeom>
          <a:solidFill>
            <a:srgbClr val="14141E"/>
          </a:solidFill>
          <a:ln w="12700">
            <a:solidFill>
              <a:srgbClr val="1C1C29"/>
            </a:solidFill>
            <a:prstDash val="solid"/>
          </a:ln>
        </p:spPr>
      </p:sp>
      <p:sp>
        <p:nvSpPr>
          <p:cNvPr id="15" name="Text 12"/>
          <p:cNvSpPr txBox="1"/>
          <p:nvPr/>
        </p:nvSpPr>
        <p:spPr>
          <a:xfrm>
            <a:off x="896112" y="4133088"/>
            <a:ext cx="3017520" cy="502920"/>
          </a:xfrm>
          <a:prstGeom prst="rect">
            <a:avLst/>
          </a:prstGeom>
          <a:noFill/>
          <a:ln/>
        </p:spPr>
        <p:txBody>
          <a:bodyPr wrap="square" lIns="0" tIns="0" rIns="0" bIns="0" rtlCol="0" anchor="ctr"/>
          <a:lstStyle/>
          <a:p>
            <a:pPr indent="0" marL="0">
              <a:buNone/>
            </a:pPr>
            <a:r>
              <a:rPr lang="en-US" sz="1550" b="1" dirty="0">
                <a:solidFill>
                  <a:srgbClr val="F0B25C"/>
                </a:solidFill>
                <a:latin typeface="Calibri" pitchFamily="34" charset="0"/>
                <a:ea typeface="Calibri" pitchFamily="34" charset="-122"/>
                <a:cs typeface="Calibri" pitchFamily="34" charset="-120"/>
              </a:rPr>
              <a:t>Seven items a module</a:t>
            </a:r>
            <a:endParaRPr lang="en-US" sz="1550" dirty="0"/>
          </a:p>
        </p:txBody>
      </p:sp>
      <p:sp>
        <p:nvSpPr>
          <p:cNvPr id="16" name="Text 13"/>
          <p:cNvSpPr txBox="1"/>
          <p:nvPr/>
        </p:nvSpPr>
        <p:spPr>
          <a:xfrm>
            <a:off x="896112" y="4663440"/>
            <a:ext cx="3035808" cy="868680"/>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Enough to demonstrate the loop and thin for repeated practice and for two assessment forms drawn from one pool.</a:t>
            </a:r>
            <a:endParaRPr lang="en-US" sz="1250" dirty="0"/>
          </a:p>
        </p:txBody>
      </p:sp>
      <p:sp>
        <p:nvSpPr>
          <p:cNvPr id="17" name="Shape 14"/>
          <p:cNvSpPr/>
          <p:nvPr/>
        </p:nvSpPr>
        <p:spPr>
          <a:xfrm>
            <a:off x="4434840" y="3931920"/>
            <a:ext cx="3520440" cy="1737360"/>
          </a:xfrm>
          <a:prstGeom prst="roundRect">
            <a:avLst>
              <a:gd name="adj" fmla="val 4211"/>
            </a:avLst>
          </a:prstGeom>
          <a:solidFill>
            <a:srgbClr val="14141E"/>
          </a:solidFill>
          <a:ln w="12700">
            <a:solidFill>
              <a:srgbClr val="1C1C29"/>
            </a:solidFill>
            <a:prstDash val="solid"/>
          </a:ln>
        </p:spPr>
      </p:sp>
      <p:sp>
        <p:nvSpPr>
          <p:cNvPr id="18" name="Text 15"/>
          <p:cNvSpPr txBox="1"/>
          <p:nvPr/>
        </p:nvSpPr>
        <p:spPr>
          <a:xfrm>
            <a:off x="4690872" y="4133088"/>
            <a:ext cx="3017520" cy="502920"/>
          </a:xfrm>
          <a:prstGeom prst="rect">
            <a:avLst/>
          </a:prstGeom>
          <a:noFill/>
          <a:ln/>
        </p:spPr>
        <p:txBody>
          <a:bodyPr wrap="square" lIns="0" tIns="0" rIns="0" bIns="0" rtlCol="0" anchor="ctr"/>
          <a:lstStyle/>
          <a:p>
            <a:pPr indent="0" marL="0">
              <a:buNone/>
            </a:pPr>
            <a:r>
              <a:rPr lang="en-US" sz="1550" b="1" dirty="0">
                <a:solidFill>
                  <a:srgbClr val="F0B25C"/>
                </a:solidFill>
                <a:latin typeface="Calibri" pitchFamily="34" charset="0"/>
                <a:ea typeface="Calibri" pitchFamily="34" charset="-122"/>
                <a:cs typeface="Calibri" pitchFamily="34" charset="-120"/>
              </a:rPr>
              <a:t>No forgetting term</a:t>
            </a:r>
            <a:endParaRPr lang="en-US" sz="1550" dirty="0"/>
          </a:p>
        </p:txBody>
      </p:sp>
      <p:sp>
        <p:nvSpPr>
          <p:cNvPr id="19" name="Text 16"/>
          <p:cNvSpPr txBox="1"/>
          <p:nvPr/>
        </p:nvSpPr>
        <p:spPr>
          <a:xfrm>
            <a:off x="4690872" y="4663440"/>
            <a:ext cx="3035808" cy="868680"/>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Plainly false for human learners. The review queue flags fading skills by heuristic, which is a stand-in for a modelled term.</a:t>
            </a:r>
            <a:endParaRPr lang="en-US" sz="1250" dirty="0"/>
          </a:p>
        </p:txBody>
      </p:sp>
      <p:sp>
        <p:nvSpPr>
          <p:cNvPr id="20" name="Shape 17"/>
          <p:cNvSpPr/>
          <p:nvPr/>
        </p:nvSpPr>
        <p:spPr>
          <a:xfrm>
            <a:off x="8229600" y="3931920"/>
            <a:ext cx="3520440" cy="1737360"/>
          </a:xfrm>
          <a:prstGeom prst="roundRect">
            <a:avLst>
              <a:gd name="adj" fmla="val 4211"/>
            </a:avLst>
          </a:prstGeom>
          <a:solidFill>
            <a:srgbClr val="14141E"/>
          </a:solidFill>
          <a:ln w="12700">
            <a:solidFill>
              <a:srgbClr val="1C1C29"/>
            </a:solidFill>
            <a:prstDash val="solid"/>
          </a:ln>
        </p:spPr>
      </p:sp>
      <p:sp>
        <p:nvSpPr>
          <p:cNvPr id="21" name="Text 18"/>
          <p:cNvSpPr txBox="1"/>
          <p:nvPr/>
        </p:nvSpPr>
        <p:spPr>
          <a:xfrm>
            <a:off x="8485632" y="4133088"/>
            <a:ext cx="3017520" cy="502920"/>
          </a:xfrm>
          <a:prstGeom prst="rect">
            <a:avLst/>
          </a:prstGeom>
          <a:noFill/>
          <a:ln/>
        </p:spPr>
        <p:txBody>
          <a:bodyPr wrap="square" lIns="0" tIns="0" rIns="0" bIns="0" rtlCol="0" anchor="ctr"/>
          <a:lstStyle/>
          <a:p>
            <a:pPr indent="0" marL="0">
              <a:buNone/>
            </a:pPr>
            <a:r>
              <a:rPr lang="en-US" sz="1550" b="1" dirty="0">
                <a:solidFill>
                  <a:srgbClr val="F0B25C"/>
                </a:solidFill>
                <a:latin typeface="Calibri" pitchFamily="34" charset="0"/>
                <a:ea typeface="Calibri" pitchFamily="34" charset="-122"/>
                <a:cs typeface="Calibri" pitchFamily="34" charset="-120"/>
              </a:rPr>
              <a:t>A contested methodology</a:t>
            </a:r>
            <a:endParaRPr lang="en-US" sz="1550" dirty="0"/>
          </a:p>
        </p:txBody>
      </p:sp>
      <p:sp>
        <p:nvSpPr>
          <p:cNvPr id="22" name="Text 19"/>
          <p:cNvSpPr txBox="1"/>
          <p:nvPr/>
        </p:nvSpPr>
        <p:spPr>
          <a:xfrm>
            <a:off x="8485632" y="4663440"/>
            <a:ext cx="3035808" cy="868680"/>
          </a:xfrm>
          <a:prstGeom prst="rect">
            <a:avLst/>
          </a:prstGeom>
          <a:noFill/>
          <a:ln/>
        </p:spPr>
        <p:txBody>
          <a:bodyPr wrap="square" lIns="0" tIns="0" rIns="0" bIns="0" rtlCol="0" anchor="ctr"/>
          <a:lstStyle/>
          <a:p>
            <a:pPr indent="0" marL="0">
              <a:buNone/>
            </a:pPr>
            <a:r>
              <a:rPr lang="en-US" sz="1250" dirty="0">
                <a:solidFill>
                  <a:srgbClr val="E4E1ED"/>
                </a:solidFill>
                <a:latin typeface="Calibri" pitchFamily="34" charset="0"/>
                <a:ea typeface="Calibri" pitchFamily="34" charset="-122"/>
                <a:cs typeface="Calibri" pitchFamily="34" charset="-120"/>
              </a:rPr>
              <a:t>The interface says so clearly, but it limits how far any learning-gain result would generalise beyond this content.</a:t>
            </a:r>
            <a:endParaRPr lang="en-US" sz="1250" dirty="0"/>
          </a:p>
        </p:txBody>
      </p:sp>
      <p:sp>
        <p:nvSpPr>
          <p:cNvPr id="23" name="Text 20"/>
          <p:cNvSpPr txBox="1"/>
          <p:nvPr/>
        </p:nvSpPr>
        <p:spPr>
          <a:xfrm>
            <a:off x="640080" y="5943600"/>
            <a:ext cx="11064240" cy="365760"/>
          </a:xfrm>
          <a:prstGeom prst="rect">
            <a:avLst/>
          </a:prstGeom>
          <a:noFill/>
          <a:ln/>
        </p:spPr>
        <p:txBody>
          <a:bodyPr wrap="square" lIns="0" tIns="0" rIns="0" bIns="0" rtlCol="0" anchor="ctr"/>
          <a:lstStyle/>
          <a:p>
            <a:pPr indent="0" marL="0">
              <a:buNone/>
            </a:pPr>
            <a:r>
              <a:rPr lang="en-US" sz="1350" i="1" dirty="0">
                <a:solidFill>
                  <a:srgbClr val="9A9AB4"/>
                </a:solidFill>
                <a:latin typeface="Calibri" pitchFamily="34" charset="0"/>
                <a:ea typeface="Calibri" pitchFamily="34" charset="-122"/>
                <a:cs typeface="Calibri" pitchFamily="34" charset="-120"/>
              </a:rPr>
              <a:t>A system that shows learners its own uncertainty ought to be described by a report willing to show its own.</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640080" y="457200"/>
            <a:ext cx="10881360" cy="777240"/>
          </a:xfrm>
          <a:prstGeom prst="rect">
            <a:avLst/>
          </a:prstGeom>
          <a:noFill/>
          <a:ln/>
        </p:spPr>
        <p:txBody>
          <a:bodyPr wrap="square" lIns="0" tIns="0" rIns="0" bIns="0" rtlCol="0" anchor="ctr"/>
          <a:lstStyle/>
          <a:p>
            <a:pPr indent="0" marL="0">
              <a:buNone/>
            </a:pPr>
            <a:r>
              <a:rPr lang="en-US" sz="3800" b="1" dirty="0">
                <a:solidFill>
                  <a:srgbClr val="E4E1ED"/>
                </a:solidFill>
                <a:latin typeface="Calibri" pitchFamily="34" charset="0"/>
                <a:ea typeface="Calibri" pitchFamily="34" charset="-122"/>
                <a:cs typeface="Calibri" pitchFamily="34" charset="-120"/>
              </a:rPr>
              <a:t>What happens next</a:t>
            </a:r>
            <a:endParaRPr lang="en-US" sz="3800" dirty="0"/>
          </a:p>
        </p:txBody>
      </p:sp>
      <p:sp>
        <p:nvSpPr>
          <p:cNvPr id="4" name="Text 1"/>
          <p:cNvSpPr txBox="1"/>
          <p:nvPr/>
        </p:nvSpPr>
        <p:spPr>
          <a:xfrm>
            <a:off x="640080" y="1225296"/>
            <a:ext cx="10881360" cy="384048"/>
          </a:xfrm>
          <a:prstGeom prst="rect">
            <a:avLst/>
          </a:prstGeom>
          <a:noFill/>
          <a:ln/>
        </p:spPr>
        <p:txBody>
          <a:bodyPr wrap="square" lIns="0" tIns="0" rIns="0" bIns="0" rtlCol="0" anchor="ctr"/>
          <a:lstStyle/>
          <a:p>
            <a:pPr indent="0" marL="0">
              <a:buNone/>
            </a:pPr>
            <a:r>
              <a:rPr lang="en-US" sz="1700" dirty="0">
                <a:solidFill>
                  <a:srgbClr val="44E2CD"/>
                </a:solidFill>
                <a:latin typeface="Calibri" pitchFamily="34" charset="0"/>
                <a:ea typeface="Calibri" pitchFamily="34" charset="-122"/>
                <a:cs typeface="Calibri" pitchFamily="34" charset="-120"/>
              </a:rPr>
              <a:t>In priority order, and the first one matters most</a:t>
            </a:r>
            <a:endParaRPr lang="en-US" sz="1700" dirty="0"/>
          </a:p>
        </p:txBody>
      </p:sp>
      <p:sp>
        <p:nvSpPr>
          <p:cNvPr id="5" name="Shape 2"/>
          <p:cNvSpPr/>
          <p:nvPr/>
        </p:nvSpPr>
        <p:spPr>
          <a:xfrm>
            <a:off x="640080" y="2130552"/>
            <a:ext cx="420624" cy="420624"/>
          </a:xfrm>
          <a:prstGeom prst="ellipse">
            <a:avLst/>
          </a:prstGeom>
          <a:solidFill>
            <a:srgbClr val="2DD4BF"/>
          </a:solidFill>
          <a:ln w="12700">
            <a:solidFill>
              <a:srgbClr val="2DD4BF"/>
            </a:solidFill>
            <a:prstDash val="solid"/>
          </a:ln>
        </p:spPr>
      </p:sp>
      <p:sp>
        <p:nvSpPr>
          <p:cNvPr id="6" name="Text 3"/>
          <p:cNvSpPr txBox="1"/>
          <p:nvPr/>
        </p:nvSpPr>
        <p:spPr>
          <a:xfrm>
            <a:off x="640080" y="2130552"/>
            <a:ext cx="420624" cy="420624"/>
          </a:xfrm>
          <a:prstGeom prst="rect">
            <a:avLst/>
          </a:prstGeom>
          <a:noFill/>
          <a:ln/>
        </p:spPr>
        <p:txBody>
          <a:bodyPr wrap="square" lIns="0" tIns="0" rIns="0" bIns="0" rtlCol="0" anchor="ctr"/>
          <a:lstStyle/>
          <a:p>
            <a:pPr algn="ctr" indent="0" marL="0">
              <a:buNone/>
            </a:pPr>
            <a:r>
              <a:rPr lang="en-US" sz="1400" b="1" dirty="0">
                <a:solidFill>
                  <a:srgbClr val="050507"/>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984248"/>
            <a:ext cx="3749040" cy="777240"/>
          </a:xfrm>
          <a:prstGeom prst="rect">
            <a:avLst/>
          </a:prstGeom>
          <a:noFill/>
          <a:ln/>
        </p:spPr>
        <p:txBody>
          <a:bodyPr wrap="square" lIns="0" tIns="0" rIns="0" bIns="0" rtlCol="0" anchor="ctr"/>
          <a:lstStyle/>
          <a:p>
            <a:pPr indent="0" marL="0">
              <a:buNone/>
            </a:pPr>
            <a:r>
              <a:rPr lang="en-US" sz="1550" b="1" dirty="0">
                <a:solidFill>
                  <a:srgbClr val="44E2CD"/>
                </a:solidFill>
                <a:latin typeface="Calibri" pitchFamily="34" charset="0"/>
                <a:ea typeface="Calibri" pitchFamily="34" charset="-122"/>
                <a:cs typeface="Calibri" pitchFamily="34" charset="-120"/>
              </a:rPr>
              <a:t>Run the study</a:t>
            </a:r>
            <a:endParaRPr lang="en-US" sz="1550" dirty="0"/>
          </a:p>
        </p:txBody>
      </p:sp>
      <p:sp>
        <p:nvSpPr>
          <p:cNvPr id="8" name="Text 5"/>
          <p:cNvSpPr txBox="1"/>
          <p:nvPr/>
        </p:nvSpPr>
        <p:spPr>
          <a:xfrm>
            <a:off x="5120640" y="1965960"/>
            <a:ext cx="6583680" cy="82296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Everything it needs is deployed. Five to eight participants over one session each would give feasibility evidence for learning gain, calibration and usability. The first number to look at is how often the model calls a module mastered that the post-test says is not.</a:t>
            </a:r>
            <a:endParaRPr lang="en-US" sz="1250" dirty="0"/>
          </a:p>
        </p:txBody>
      </p:sp>
      <p:sp>
        <p:nvSpPr>
          <p:cNvPr id="9" name="Shape 6"/>
          <p:cNvSpPr/>
          <p:nvPr/>
        </p:nvSpPr>
        <p:spPr>
          <a:xfrm>
            <a:off x="640080" y="2999232"/>
            <a:ext cx="420624" cy="420624"/>
          </a:xfrm>
          <a:prstGeom prst="ellipse">
            <a:avLst/>
          </a:prstGeom>
          <a:solidFill>
            <a:srgbClr val="1C1C29"/>
          </a:solidFill>
          <a:ln w="12700">
            <a:solidFill>
              <a:srgbClr val="3A3A52"/>
            </a:solidFill>
            <a:prstDash val="solid"/>
          </a:ln>
        </p:spPr>
      </p:sp>
      <p:sp>
        <p:nvSpPr>
          <p:cNvPr id="10" name="Text 7"/>
          <p:cNvSpPr txBox="1"/>
          <p:nvPr/>
        </p:nvSpPr>
        <p:spPr>
          <a:xfrm>
            <a:off x="640080" y="2999232"/>
            <a:ext cx="420624" cy="420624"/>
          </a:xfrm>
          <a:prstGeom prst="rect">
            <a:avLst/>
          </a:prstGeom>
          <a:noFill/>
          <a:ln/>
        </p:spPr>
        <p:txBody>
          <a:bodyPr wrap="square" lIns="0" tIns="0" rIns="0" bIns="0" rtlCol="0" anchor="ctr"/>
          <a:lstStyle/>
          <a:p>
            <a:pPr algn="ctr" indent="0" marL="0">
              <a:buNone/>
            </a:pPr>
            <a:r>
              <a:rPr lang="en-US" sz="1400" b="1" dirty="0">
                <a:solidFill>
                  <a:srgbClr val="9A9AB4"/>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852928"/>
            <a:ext cx="3749040" cy="777240"/>
          </a:xfrm>
          <a:prstGeom prst="rect">
            <a:avLst/>
          </a:prstGeom>
          <a:noFill/>
          <a:ln/>
        </p:spPr>
        <p:txBody>
          <a:bodyPr wrap="square" lIns="0" tIns="0" rIns="0" bIns="0" rtlCol="0" anchor="ctr"/>
          <a:lstStyle/>
          <a:p>
            <a:pPr indent="0" marL="0">
              <a:buNone/>
            </a:pPr>
            <a:r>
              <a:rPr lang="en-US" sz="1550" b="1" dirty="0">
                <a:solidFill>
                  <a:srgbClr val="E4E1ED"/>
                </a:solidFill>
                <a:latin typeface="Calibri" pitchFamily="34" charset="0"/>
                <a:ea typeface="Calibri" pitchFamily="34" charset="-122"/>
                <a:cs typeface="Calibri" pitchFamily="34" charset="-120"/>
              </a:rPr>
              <a:t>Fit the learn rate, leave the prior to placement</a:t>
            </a:r>
            <a:endParaRPr lang="en-US" sz="1550" dirty="0"/>
          </a:p>
        </p:txBody>
      </p:sp>
      <p:sp>
        <p:nvSpPr>
          <p:cNvPr id="12" name="Text 9"/>
          <p:cNvSpPr txBox="1"/>
          <p:nvPr/>
        </p:nvSpPr>
        <p:spPr>
          <a:xfrm>
            <a:off x="5120640" y="2834640"/>
            <a:ext cx="6583680" cy="82296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The simulation showed which parameter is identifiable from short sequences and which is not. Fitting per-module learn rates and checking them against degeneracy bounds would replace the defaults with something defensible.</a:t>
            </a:r>
            <a:endParaRPr lang="en-US" sz="1250" dirty="0"/>
          </a:p>
        </p:txBody>
      </p:sp>
      <p:sp>
        <p:nvSpPr>
          <p:cNvPr id="13" name="Shape 10"/>
          <p:cNvSpPr/>
          <p:nvPr/>
        </p:nvSpPr>
        <p:spPr>
          <a:xfrm>
            <a:off x="640080" y="3867912"/>
            <a:ext cx="420624" cy="420624"/>
          </a:xfrm>
          <a:prstGeom prst="ellipse">
            <a:avLst/>
          </a:prstGeom>
          <a:solidFill>
            <a:srgbClr val="1C1C29"/>
          </a:solidFill>
          <a:ln w="12700">
            <a:solidFill>
              <a:srgbClr val="3A3A52"/>
            </a:solidFill>
            <a:prstDash val="solid"/>
          </a:ln>
        </p:spPr>
      </p:sp>
      <p:sp>
        <p:nvSpPr>
          <p:cNvPr id="14" name="Text 11"/>
          <p:cNvSpPr txBox="1"/>
          <p:nvPr/>
        </p:nvSpPr>
        <p:spPr>
          <a:xfrm>
            <a:off x="640080" y="3867912"/>
            <a:ext cx="420624" cy="420624"/>
          </a:xfrm>
          <a:prstGeom prst="rect">
            <a:avLst/>
          </a:prstGeom>
          <a:noFill/>
          <a:ln/>
        </p:spPr>
        <p:txBody>
          <a:bodyPr wrap="square" lIns="0" tIns="0" rIns="0" bIns="0" rtlCol="0" anchor="ctr"/>
          <a:lstStyle/>
          <a:p>
            <a:pPr algn="ctr" indent="0" marL="0">
              <a:buNone/>
            </a:pPr>
            <a:r>
              <a:rPr lang="en-US" sz="1400" b="1" dirty="0">
                <a:solidFill>
                  <a:srgbClr val="9A9AB4"/>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3721608"/>
            <a:ext cx="3749040" cy="777240"/>
          </a:xfrm>
          <a:prstGeom prst="rect">
            <a:avLst/>
          </a:prstGeom>
          <a:noFill/>
          <a:ln/>
        </p:spPr>
        <p:txBody>
          <a:bodyPr wrap="square" lIns="0" tIns="0" rIns="0" bIns="0" rtlCol="0" anchor="ctr"/>
          <a:lstStyle/>
          <a:p>
            <a:pPr indent="0" marL="0">
              <a:buNone/>
            </a:pPr>
            <a:r>
              <a:rPr lang="en-US" sz="1550" b="1" dirty="0">
                <a:solidFill>
                  <a:srgbClr val="E4E1ED"/>
                </a:solidFill>
                <a:latin typeface="Calibri" pitchFamily="34" charset="0"/>
                <a:ea typeface="Calibri" pitchFamily="34" charset="-122"/>
                <a:cs typeface="Calibri" pitchFamily="34" charset="-120"/>
              </a:rPr>
              <a:t>Deepen the item bank</a:t>
            </a:r>
            <a:endParaRPr lang="en-US" sz="1550" dirty="0"/>
          </a:p>
        </p:txBody>
      </p:sp>
      <p:sp>
        <p:nvSpPr>
          <p:cNvPr id="16" name="Text 13"/>
          <p:cNvSpPr txBox="1"/>
          <p:nvPr/>
        </p:nvSpPr>
        <p:spPr>
          <a:xfrm>
            <a:off x="5120640" y="3703320"/>
            <a:ext cx="6583680" cy="82296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Sixteen items a module, more annotation items, and at least three pre-test-eligible items each, so the two assessment forms share nothing at all.</a:t>
            </a:r>
            <a:endParaRPr lang="en-US" sz="1250" dirty="0"/>
          </a:p>
        </p:txBody>
      </p:sp>
      <p:sp>
        <p:nvSpPr>
          <p:cNvPr id="17" name="Shape 14"/>
          <p:cNvSpPr/>
          <p:nvPr/>
        </p:nvSpPr>
        <p:spPr>
          <a:xfrm>
            <a:off x="640080" y="4736592"/>
            <a:ext cx="420624" cy="420624"/>
          </a:xfrm>
          <a:prstGeom prst="ellipse">
            <a:avLst/>
          </a:prstGeom>
          <a:solidFill>
            <a:srgbClr val="1C1C29"/>
          </a:solidFill>
          <a:ln w="12700">
            <a:solidFill>
              <a:srgbClr val="3A3A52"/>
            </a:solidFill>
            <a:prstDash val="solid"/>
          </a:ln>
        </p:spPr>
      </p:sp>
      <p:sp>
        <p:nvSpPr>
          <p:cNvPr id="18" name="Text 15"/>
          <p:cNvSpPr txBox="1"/>
          <p:nvPr/>
        </p:nvSpPr>
        <p:spPr>
          <a:xfrm>
            <a:off x="640080" y="4736592"/>
            <a:ext cx="420624" cy="420624"/>
          </a:xfrm>
          <a:prstGeom prst="rect">
            <a:avLst/>
          </a:prstGeom>
          <a:noFill/>
          <a:ln/>
        </p:spPr>
        <p:txBody>
          <a:bodyPr wrap="square" lIns="0" tIns="0" rIns="0" bIns="0" rtlCol="0" anchor="ctr"/>
          <a:lstStyle/>
          <a:p>
            <a:pPr algn="ctr" indent="0" marL="0">
              <a:buNone/>
            </a:pPr>
            <a:r>
              <a:rPr lang="en-US" sz="1400" b="1" dirty="0">
                <a:solidFill>
                  <a:srgbClr val="9A9AB4"/>
                </a:solidFill>
                <a:latin typeface="Calibri" pitchFamily="34" charset="0"/>
                <a:ea typeface="Calibri" pitchFamily="34" charset="-122"/>
                <a:cs typeface="Calibri" pitchFamily="34" charset="-120"/>
              </a:rPr>
              <a:t>4</a:t>
            </a:r>
            <a:endParaRPr lang="en-US" sz="1400" dirty="0"/>
          </a:p>
        </p:txBody>
      </p:sp>
      <p:sp>
        <p:nvSpPr>
          <p:cNvPr id="19" name="Text 16"/>
          <p:cNvSpPr txBox="1"/>
          <p:nvPr/>
        </p:nvSpPr>
        <p:spPr>
          <a:xfrm>
            <a:off x="1234440" y="4590288"/>
            <a:ext cx="3749040" cy="777240"/>
          </a:xfrm>
          <a:prstGeom prst="rect">
            <a:avLst/>
          </a:prstGeom>
          <a:noFill/>
          <a:ln/>
        </p:spPr>
        <p:txBody>
          <a:bodyPr wrap="square" lIns="0" tIns="0" rIns="0" bIns="0" rtlCol="0" anchor="ctr"/>
          <a:lstStyle/>
          <a:p>
            <a:pPr indent="0" marL="0">
              <a:buNone/>
            </a:pPr>
            <a:r>
              <a:rPr lang="en-US" sz="1550" b="1" dirty="0">
                <a:solidFill>
                  <a:srgbClr val="E4E1ED"/>
                </a:solidFill>
                <a:latin typeface="Calibri" pitchFamily="34" charset="0"/>
                <a:ea typeface="Calibri" pitchFamily="34" charset="-122"/>
                <a:cs typeface="Calibri" pitchFamily="34" charset="-120"/>
              </a:rPr>
              <a:t>Add forgetting and spacing</a:t>
            </a:r>
            <a:endParaRPr lang="en-US" sz="1550" dirty="0"/>
          </a:p>
        </p:txBody>
      </p:sp>
      <p:sp>
        <p:nvSpPr>
          <p:cNvPr id="20" name="Text 17"/>
          <p:cNvSpPr txBox="1"/>
          <p:nvPr/>
        </p:nvSpPr>
        <p:spPr>
          <a:xfrm>
            <a:off x="5120640" y="4572000"/>
            <a:ext cx="6583680" cy="82296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A BKT variant with a forgetting transition would put the review queue on a modelled footing rather than a heuristic one.</a:t>
            </a:r>
            <a:endParaRPr lang="en-US" sz="1250" dirty="0"/>
          </a:p>
        </p:txBody>
      </p:sp>
      <p:sp>
        <p:nvSpPr>
          <p:cNvPr id="21" name="Shape 18"/>
          <p:cNvSpPr/>
          <p:nvPr/>
        </p:nvSpPr>
        <p:spPr>
          <a:xfrm>
            <a:off x="640080" y="5605272"/>
            <a:ext cx="420624" cy="420624"/>
          </a:xfrm>
          <a:prstGeom prst="ellipse">
            <a:avLst/>
          </a:prstGeom>
          <a:solidFill>
            <a:srgbClr val="1C1C29"/>
          </a:solidFill>
          <a:ln w="12700">
            <a:solidFill>
              <a:srgbClr val="3A3A52"/>
            </a:solidFill>
            <a:prstDash val="solid"/>
          </a:ln>
        </p:spPr>
      </p:sp>
      <p:sp>
        <p:nvSpPr>
          <p:cNvPr id="22" name="Text 19"/>
          <p:cNvSpPr txBox="1"/>
          <p:nvPr/>
        </p:nvSpPr>
        <p:spPr>
          <a:xfrm>
            <a:off x="640080" y="5605272"/>
            <a:ext cx="420624" cy="420624"/>
          </a:xfrm>
          <a:prstGeom prst="rect">
            <a:avLst/>
          </a:prstGeom>
          <a:noFill/>
          <a:ln/>
        </p:spPr>
        <p:txBody>
          <a:bodyPr wrap="square" lIns="0" tIns="0" rIns="0" bIns="0" rtlCol="0" anchor="ctr"/>
          <a:lstStyle/>
          <a:p>
            <a:pPr algn="ctr" indent="0" marL="0">
              <a:buNone/>
            </a:pPr>
            <a:r>
              <a:rPr lang="en-US" sz="1400" b="1" dirty="0">
                <a:solidFill>
                  <a:srgbClr val="9A9AB4"/>
                </a:solidFill>
                <a:latin typeface="Calibri" pitchFamily="34" charset="0"/>
                <a:ea typeface="Calibri" pitchFamily="34" charset="-122"/>
                <a:cs typeface="Calibri" pitchFamily="34" charset="-120"/>
              </a:rPr>
              <a:t>5</a:t>
            </a:r>
            <a:endParaRPr lang="en-US" sz="1400" dirty="0"/>
          </a:p>
        </p:txBody>
      </p:sp>
      <p:sp>
        <p:nvSpPr>
          <p:cNvPr id="23" name="Text 20"/>
          <p:cNvSpPr txBox="1"/>
          <p:nvPr/>
        </p:nvSpPr>
        <p:spPr>
          <a:xfrm>
            <a:off x="1234440" y="5458968"/>
            <a:ext cx="3749040" cy="777240"/>
          </a:xfrm>
          <a:prstGeom prst="rect">
            <a:avLst/>
          </a:prstGeom>
          <a:noFill/>
          <a:ln/>
        </p:spPr>
        <p:txBody>
          <a:bodyPr wrap="square" lIns="0" tIns="0" rIns="0" bIns="0" rtlCol="0" anchor="ctr"/>
          <a:lstStyle/>
          <a:p>
            <a:pPr indent="0" marL="0">
              <a:buNone/>
            </a:pPr>
            <a:r>
              <a:rPr lang="en-US" sz="1550" b="1" dirty="0">
                <a:solidFill>
                  <a:srgbClr val="E4E1ED"/>
                </a:solidFill>
                <a:latin typeface="Calibri" pitchFamily="34" charset="0"/>
                <a:ea typeface="Calibri" pitchFamily="34" charset="-122"/>
                <a:cs typeface="Calibri" pitchFamily="34" charset="-120"/>
              </a:rPr>
              <a:t>A constrained generative tutor</a:t>
            </a:r>
            <a:endParaRPr lang="en-US" sz="1550" dirty="0"/>
          </a:p>
        </p:txBody>
      </p:sp>
      <p:sp>
        <p:nvSpPr>
          <p:cNvPr id="24" name="Text 21"/>
          <p:cNvSpPr txBox="1"/>
          <p:nvPr/>
        </p:nvSpPr>
        <p:spPr>
          <a:xfrm>
            <a:off x="5120640" y="5440680"/>
            <a:ext cx="6583680" cy="822960"/>
          </a:xfrm>
          <a:prstGeom prst="rect">
            <a:avLst/>
          </a:prstGeom>
          <a:noFill/>
          <a:ln/>
        </p:spPr>
        <p:txBody>
          <a:bodyPr wrap="square" lIns="0" tIns="0" rIns="0" bIns="0" rtlCol="0" anchor="ctr"/>
          <a:lstStyle/>
          <a:p>
            <a:pPr indent="0" marL="0">
              <a:buNone/>
            </a:pPr>
            <a:r>
              <a:rPr lang="en-US" sz="1250" dirty="0">
                <a:solidFill>
                  <a:srgbClr val="9A9AB4"/>
                </a:solidFill>
                <a:latin typeface="Calibri" pitchFamily="34" charset="0"/>
                <a:ea typeface="Calibri" pitchFamily="34" charset="-122"/>
                <a:cs typeface="Calibri" pitchFamily="34" charset="-120"/>
              </a:rPr>
              <a:t>Scoped to the concept being studied, grounded in that lesson's text, with the BKT model unchanged as the sole authority over progression.</a:t>
            </a:r>
            <a:endParaRPr lang="en-US" sz="1250" dirty="0"/>
          </a:p>
        </p:txBody>
      </p:sp>
      <p:sp>
        <p:nvSpPr>
          <p:cNvPr id="25" name="Text 22"/>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1000" dirty="0">
                <a:solidFill>
                  <a:srgbClr val="50506A"/>
                </a:solidFill>
                <a:latin typeface="Calibri" pitchFamily="34" charset="0"/>
                <a:ea typeface="Calibri" pitchFamily="34" charset="-122"/>
                <a:cs typeface="Calibri" pitchFamily="34" charset="-120"/>
              </a:rPr>
              <a:t>TradeMind Academy  ·  QHO656  ·  Ogechukwu Adama</a:t>
            </a:r>
            <a:endParaRPr lang="en-US" sz="1000" dirty="0"/>
          </a:p>
        </p:txBody>
      </p:sp>
      <p:sp>
        <p:nvSpPr>
          <p:cNvPr id="26" name="Text 23"/>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0506A"/>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3" name="Image 0" descr="img/bg-close.jpg">    </p:cNvPr>
          <p:cNvPicPr>
            <a:picLocks noChangeAspect="1"/>
          </p:cNvPicPr>
          <p:nvPr/>
        </p:nvPicPr>
        <p:blipFill>
          <a:blip r:embed="rId1"/>
          <a:stretch>
            <a:fillRect/>
          </a:stretch>
        </p:blipFill>
        <p:spPr>
          <a:xfrm>
            <a:off x="0" y="-384048"/>
            <a:ext cx="12191695" cy="7619695"/>
          </a:xfrm>
          <a:prstGeom prst="rect">
            <a:avLst/>
          </a:prstGeom>
        </p:spPr>
      </p:pic>
      <p:sp>
        <p:nvSpPr>
          <p:cNvPr id="4" name="Shape 0"/>
          <p:cNvSpPr/>
          <p:nvPr/>
        </p:nvSpPr>
        <p:spPr>
          <a:xfrm>
            <a:off x="822960" y="777240"/>
            <a:ext cx="457200" cy="457200"/>
          </a:xfrm>
          <a:prstGeom prst="ellipse">
            <a:avLst/>
          </a:prstGeom>
          <a:solidFill>
            <a:srgbClr val="050507"/>
          </a:solidFill>
          <a:ln w="25400">
            <a:solidFill>
              <a:srgbClr val="2DD4BF"/>
            </a:solidFill>
            <a:prstDash val="solid"/>
          </a:ln>
        </p:spPr>
      </p:sp>
      <p:sp>
        <p:nvSpPr>
          <p:cNvPr id="5" name="Shape 1"/>
          <p:cNvSpPr/>
          <p:nvPr/>
        </p:nvSpPr>
        <p:spPr>
          <a:xfrm>
            <a:off x="973836" y="928116"/>
            <a:ext cx="155448" cy="155448"/>
          </a:xfrm>
          <a:prstGeom prst="ellipse">
            <a:avLst/>
          </a:prstGeom>
          <a:solidFill>
            <a:srgbClr val="2DD4BF"/>
          </a:solidFill>
          <a:ln/>
        </p:spPr>
      </p:sp>
      <p:sp>
        <p:nvSpPr>
          <p:cNvPr id="6" name="Text 2"/>
          <p:cNvSpPr txBox="1"/>
          <p:nvPr/>
        </p:nvSpPr>
        <p:spPr>
          <a:xfrm>
            <a:off x="822960" y="1463040"/>
            <a:ext cx="8229600" cy="914400"/>
          </a:xfrm>
          <a:prstGeom prst="rect">
            <a:avLst/>
          </a:prstGeom>
          <a:noFill/>
          <a:ln/>
        </p:spPr>
        <p:txBody>
          <a:bodyPr wrap="square" lIns="0" tIns="0" rIns="0" bIns="0" rtlCol="0" anchor="ctr"/>
          <a:lstStyle/>
          <a:p>
            <a:pPr indent="0" marL="0">
              <a:buNone/>
            </a:pPr>
            <a:r>
              <a:rPr lang="en-US" sz="4800" b="1" dirty="0">
                <a:solidFill>
                  <a:srgbClr val="E4E1ED"/>
                </a:solidFill>
                <a:latin typeface="Calibri" pitchFamily="34" charset="0"/>
                <a:ea typeface="Calibri" pitchFamily="34" charset="-122"/>
                <a:cs typeface="Calibri" pitchFamily="34" charset="-120"/>
              </a:rPr>
              <a:t>Thank you</a:t>
            </a:r>
            <a:endParaRPr lang="en-US" sz="4800" dirty="0"/>
          </a:p>
        </p:txBody>
      </p:sp>
      <p:sp>
        <p:nvSpPr>
          <p:cNvPr id="7" name="Text 3"/>
          <p:cNvSpPr txBox="1"/>
          <p:nvPr/>
        </p:nvSpPr>
        <p:spPr>
          <a:xfrm>
            <a:off x="822960" y="2514600"/>
            <a:ext cx="7863840" cy="1554480"/>
          </a:xfrm>
          <a:prstGeom prst="rect">
            <a:avLst/>
          </a:prstGeom>
          <a:noFill/>
          <a:ln/>
        </p:spPr>
        <p:txBody>
          <a:bodyPr wrap="square" lIns="0" tIns="0" rIns="0" bIns="0" rtlCol="0" anchor="ctr"/>
          <a:lstStyle/>
          <a:p>
            <a:pPr indent="0" marL="0">
              <a:lnSpc>
                <a:spcPct val="145000"/>
              </a:lnSpc>
              <a:buNone/>
            </a:pPr>
            <a:r>
              <a:rPr lang="en-US" sz="1500" dirty="0">
                <a:solidFill>
                  <a:srgbClr val="E4E1ED"/>
                </a:solidFill>
                <a:latin typeface="Calibri" pitchFamily="34" charset="0"/>
                <a:ea typeface="Calibri" pitchFamily="34" charset="-122"/>
                <a:cs typeface="Calibri" pitchFamily="34" charset="-120"/>
              </a:rPr>
              <a:t>The loop works end to end, tested at four levels with the engine at full coverage.</a:t>
            </a:r>
            <a:endParaRPr lang="en-US" sz="1500" dirty="0"/>
          </a:p>
          <a:p>
            <a:pPr indent="0" marL="0">
              <a:lnSpc>
                <a:spcPct val="145000"/>
              </a:lnSpc>
              <a:buNone/>
            </a:pPr>
            <a:r>
              <a:rPr lang="en-US" sz="1500" dirty="0">
                <a:solidFill>
                  <a:srgbClr val="E4E1ED"/>
                </a:solidFill>
                <a:latin typeface="Calibri" pitchFamily="34" charset="0"/>
                <a:ea typeface="Calibri" pitchFamily="34" charset="-122"/>
                <a:cs typeface="Calibri" pitchFamily="34" charset="-120"/>
              </a:rPr>
              <a:t>The model is calibrated, and reported honestly, including the result that went against me.</a:t>
            </a:r>
            <a:endParaRPr lang="en-US" sz="1500" dirty="0"/>
          </a:p>
          <a:p>
            <a:pPr indent="0" marL="0">
              <a:lnSpc>
                <a:spcPct val="145000"/>
              </a:lnSpc>
              <a:buNone/>
            </a:pPr>
            <a:r>
              <a:rPr lang="en-US" sz="1500" dirty="0">
                <a:solidFill>
                  <a:srgbClr val="E4E1ED"/>
                </a:solidFill>
                <a:latin typeface="Calibri" pitchFamily="34" charset="0"/>
                <a:ea typeface="Calibri" pitchFamily="34" charset="-122"/>
                <a:cs typeface="Calibri" pitchFamily="34" charset="-120"/>
              </a:rPr>
              <a:t>The adaptation is measurably more efficient than a syllabus, with its cost stated next to its benefit.</a:t>
            </a:r>
            <a:endParaRPr lang="en-US" sz="1500" dirty="0"/>
          </a:p>
          <a:p>
            <a:pPr indent="0" marL="0">
              <a:lnSpc>
                <a:spcPct val="145000"/>
              </a:lnSpc>
              <a:buNone/>
            </a:pPr>
            <a:r>
              <a:rPr lang="en-US" sz="1500" dirty="0">
                <a:solidFill>
                  <a:srgbClr val="E4E1ED"/>
                </a:solidFill>
                <a:latin typeface="Calibri" pitchFamily="34" charset="0"/>
                <a:ea typeface="Calibri" pitchFamily="34" charset="-122"/>
                <a:cs typeface="Calibri" pitchFamily="34" charset="-120"/>
              </a:rPr>
              <a:t>The study instruments exist and they run. And it is live.</a:t>
            </a:r>
            <a:endParaRPr lang="en-US" sz="1500" dirty="0"/>
          </a:p>
        </p:txBody>
      </p:sp>
      <p:sp>
        <p:nvSpPr>
          <p:cNvPr id="8" name="Shape 4"/>
          <p:cNvSpPr/>
          <p:nvPr/>
        </p:nvSpPr>
        <p:spPr>
          <a:xfrm>
            <a:off x="822960" y="4251960"/>
            <a:ext cx="7863840" cy="868680"/>
          </a:xfrm>
          <a:prstGeom prst="roundRect">
            <a:avLst>
              <a:gd name="adj" fmla="val 7368"/>
            </a:avLst>
          </a:prstGeom>
          <a:solidFill>
            <a:srgbClr val="1C1C29"/>
          </a:solidFill>
          <a:ln w="12700">
            <a:solidFill>
              <a:srgbClr val="F0B25C"/>
            </a:solidFill>
            <a:prstDash val="solid"/>
          </a:ln>
        </p:spPr>
      </p:sp>
      <p:sp>
        <p:nvSpPr>
          <p:cNvPr id="9" name="Text 5"/>
          <p:cNvSpPr txBox="1"/>
          <p:nvPr/>
        </p:nvSpPr>
        <p:spPr>
          <a:xfrm>
            <a:off x="1097280" y="4251960"/>
            <a:ext cx="7360920" cy="868680"/>
          </a:xfrm>
          <a:prstGeom prst="rect">
            <a:avLst/>
          </a:prstGeom>
          <a:noFill/>
          <a:ln/>
        </p:spPr>
        <p:txBody>
          <a:bodyPr wrap="square" lIns="0" tIns="0" rIns="0" bIns="0" rtlCol="0" anchor="ctr"/>
          <a:lstStyle/>
          <a:p>
            <a:pPr indent="0" marL="0">
              <a:buNone/>
            </a:pPr>
            <a:r>
              <a:rPr lang="en-US" sz="1400" dirty="0">
                <a:solidFill>
                  <a:srgbClr val="E4E1ED"/>
                </a:solidFill>
                <a:latin typeface="Calibri" pitchFamily="34" charset="0"/>
                <a:ea typeface="Calibri" pitchFamily="34" charset="-122"/>
                <a:cs typeface="Calibri" pitchFamily="34" charset="-120"/>
              </a:rPr>
              <a:t>What I have not shown you is that anybody learns from it, because that needs participants and I have not had any. That is the boundary, and it is the next thing.</a:t>
            </a:r>
            <a:endParaRPr lang="en-US" sz="1400" dirty="0"/>
          </a:p>
        </p:txBody>
      </p:sp>
      <p:sp>
        <p:nvSpPr>
          <p:cNvPr id="10" name="Text 6"/>
          <p:cNvSpPr txBox="1"/>
          <p:nvPr/>
        </p:nvSpPr>
        <p:spPr>
          <a:xfrm>
            <a:off x="822960" y="5440680"/>
            <a:ext cx="7863840" cy="914400"/>
          </a:xfrm>
          <a:prstGeom prst="rect">
            <a:avLst/>
          </a:prstGeom>
          <a:noFill/>
          <a:ln/>
        </p:spPr>
        <p:txBody>
          <a:bodyPr wrap="square" lIns="0" tIns="0" rIns="0" bIns="0" rtlCol="0" anchor="ctr"/>
          <a:lstStyle/>
          <a:p>
            <a:pPr indent="0" marL="0">
              <a:lnSpc>
                <a:spcPct val="130000"/>
              </a:lnSpc>
              <a:buNone/>
            </a:pPr>
            <a:r>
              <a:rPr lang="en-US" sz="1350" dirty="0">
                <a:solidFill>
                  <a:srgbClr val="44E2CD"/>
                </a:solidFill>
                <a:latin typeface="Calibri" pitchFamily="34" charset="0"/>
                <a:ea typeface="Calibri" pitchFamily="34" charset="-122"/>
                <a:cs typeface="Calibri" pitchFamily="34" charset="-120"/>
              </a:rPr>
              <a:t>Live:  tmacademyuk.vercel.app</a:t>
            </a:r>
            <a:endParaRPr lang="en-US" sz="1350" dirty="0"/>
          </a:p>
          <a:p>
            <a:pPr indent="0" marL="0">
              <a:lnSpc>
                <a:spcPct val="130000"/>
              </a:lnSpc>
              <a:buNone/>
            </a:pPr>
            <a:r>
              <a:rPr lang="en-US" sz="1350" dirty="0">
                <a:solidFill>
                  <a:srgbClr val="44E2CD"/>
                </a:solidFill>
                <a:latin typeface="Calibri" pitchFamily="34" charset="0"/>
                <a:ea typeface="Calibri" pitchFamily="34" charset="-122"/>
                <a:cs typeface="Calibri" pitchFamily="34" charset="-120"/>
              </a:rPr>
              <a:t>Source:  github.com/OGSOLENT/TradeMind_Academy</a:t>
            </a:r>
            <a:endParaRPr lang="en-US" sz="1350" dirty="0"/>
          </a:p>
          <a:p>
            <a:pPr indent="0" marL="0">
              <a:lnSpc>
                <a:spcPct val="130000"/>
              </a:lnSpc>
              <a:buNone/>
            </a:pPr>
            <a:r>
              <a:rPr lang="en-US" sz="1350" dirty="0">
                <a:solidFill>
                  <a:srgbClr val="44E2CD"/>
                </a:solidFill>
                <a:latin typeface="Calibri" pitchFamily="34" charset="0"/>
                <a:ea typeface="Calibri" pitchFamily="34" charset="-122"/>
                <a:cs typeface="Calibri" pitchFamily="34" charset="-120"/>
              </a:rPr>
              <a:t>Ogechukwu Adama  ·  10440379</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Southampton Solent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TradeMind Academy</dc:title>
  <dc:subject>QHO656 Dissertation Project, AE2 demonstration</dc:subject>
  <dc:creator>Ogechukwu Adama</dc:creator>
  <cp:lastModifiedBy>Ogechukwu Adama</cp:lastModifiedBy>
  <cp:revision>1</cp:revision>
  <dcterms:created xsi:type="dcterms:W3CDTF">2026-09-22T09:23:43Z</dcterms:created>
  <dcterms:modified xsi:type="dcterms:W3CDTF">2026-09-22T09:23:43Z</dcterms:modified>
</cp:coreProperties>
</file>